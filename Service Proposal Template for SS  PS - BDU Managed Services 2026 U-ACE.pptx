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tags/tag20.xml" ContentType="application/vnd.openxmlformats-officedocument.presentationml.tags+xml"/>
  <Override PartName="/ppt/notesSlides/notesSlide10.xml" ContentType="application/vnd.openxmlformats-officedocument.presentationml.notesSlide+xml"/>
  <Override PartName="/ppt/tags/tag21.xml" ContentType="application/vnd.openxmlformats-officedocument.presentationml.tags+xml"/>
  <Override PartName="/ppt/notesSlides/notesSlide1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2.xml" ContentType="application/vnd.openxmlformats-officedocument.presentationml.notesSlide+xml"/>
  <Override PartName="/ppt/comments/modernComment_29C_45C0D26E.xml" ContentType="application/vnd.ms-powerpoint.comments+xml"/>
  <Override PartName="/ppt/tags/tag24.xml" ContentType="application/vnd.openxmlformats-officedocument.presentationml.tags+xml"/>
  <Override PartName="/ppt/tags/tag25.xml" ContentType="application/vnd.openxmlformats-officedocument.presentationml.tags+xml"/>
  <Override PartName="/ppt/notesSlides/notesSlide1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2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2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ppt/tags/tag46.xml" ContentType="application/vnd.openxmlformats-officedocument.presentationml.tags+xml"/>
  <Override PartName="/ppt/notesSlides/notesSlide24.xml" ContentType="application/vnd.openxmlformats-officedocument.presentationml.notesSlide+xml"/>
  <Override PartName="/ppt/tags/tag47.xml" ContentType="application/vnd.openxmlformats-officedocument.presentationml.tags+xml"/>
  <Override PartName="/ppt/notesSlides/notesSlide25.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26.xml" ContentType="application/vnd.openxmlformats-officedocument.presentationml.notesSlide+xml"/>
  <Override PartName="/ppt/tags/tag50.xml" ContentType="application/vnd.openxmlformats-officedocument.presentationml.tags+xml"/>
  <Override PartName="/ppt/notesSlides/notesSlide27.xml" ContentType="application/vnd.openxmlformats-officedocument.presentationml.notesSlide+xml"/>
  <Override PartName="/ppt/tags/tag51.xml" ContentType="application/vnd.openxmlformats-officedocument.presentationml.tags+xml"/>
  <Override PartName="/ppt/notesSlides/notesSlide28.xml" ContentType="application/vnd.openxmlformats-officedocument.presentationml.notesSlide+xml"/>
  <Override PartName="/ppt/tags/tag52.xml" ContentType="application/vnd.openxmlformats-officedocument.presentationml.tags+xml"/>
  <Override PartName="/ppt/notesSlides/notesSlide29.xml" ContentType="application/vnd.openxmlformats-officedocument.presentationml.notesSlide+xml"/>
  <Override PartName="/ppt/tags/tag5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 id="2147483706" r:id="rId6"/>
  </p:sldMasterIdLst>
  <p:notesMasterIdLst>
    <p:notesMasterId r:id="rId47"/>
  </p:notesMasterIdLst>
  <p:handoutMasterIdLst>
    <p:handoutMasterId r:id="rId48"/>
  </p:handoutMasterIdLst>
  <p:sldIdLst>
    <p:sldId id="283" r:id="rId7"/>
    <p:sldId id="670" r:id="rId8"/>
    <p:sldId id="588" r:id="rId9"/>
    <p:sldId id="662" r:id="rId10"/>
    <p:sldId id="468" r:id="rId11"/>
    <p:sldId id="681" r:id="rId12"/>
    <p:sldId id="596" r:id="rId13"/>
    <p:sldId id="471" r:id="rId14"/>
    <p:sldId id="682" r:id="rId15"/>
    <p:sldId id="691" r:id="rId16"/>
    <p:sldId id="256" r:id="rId17"/>
    <p:sldId id="696" r:id="rId18"/>
    <p:sldId id="697" r:id="rId19"/>
    <p:sldId id="698" r:id="rId20"/>
    <p:sldId id="688" r:id="rId21"/>
    <p:sldId id="694" r:id="rId22"/>
    <p:sldId id="693" r:id="rId23"/>
    <p:sldId id="695" r:id="rId24"/>
    <p:sldId id="692" r:id="rId25"/>
    <p:sldId id="689" r:id="rId26"/>
    <p:sldId id="685" r:id="rId27"/>
    <p:sldId id="684" r:id="rId28"/>
    <p:sldId id="668" r:id="rId29"/>
    <p:sldId id="683" r:id="rId30"/>
    <p:sldId id="449" r:id="rId31"/>
    <p:sldId id="637" r:id="rId32"/>
    <p:sldId id="599" r:id="rId33"/>
    <p:sldId id="675" r:id="rId34"/>
    <p:sldId id="676" r:id="rId35"/>
    <p:sldId id="677" r:id="rId36"/>
    <p:sldId id="678" r:id="rId37"/>
    <p:sldId id="672" r:id="rId38"/>
    <p:sldId id="642" r:id="rId39"/>
    <p:sldId id="663" r:id="rId40"/>
    <p:sldId id="526" r:id="rId41"/>
    <p:sldId id="615" r:id="rId42"/>
    <p:sldId id="679" r:id="rId43"/>
    <p:sldId id="680" r:id="rId44"/>
    <p:sldId id="598" r:id="rId45"/>
    <p:sldId id="285"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AD3703-13C4-517F-9FDD-B2A8FD3B1864}" name="Rabiatul Adawiyah Saad (PD/DIGITAL)" initials="R(" userId="S::rabiatul.saad@petronas.com::e667d417-32b5-4b62-8632-d00864b7f30f" providerId="AD"/>
  <p188:author id="{14661D6E-BECF-0A6A-0DDD-FFEAE03D1E94}" name="Ahmir M Nazri" initials="AMN" userId="S::ahmir.mnazr@petronas.com::3045dfe0-0c07-483f-9238-01ba4051f7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A9"/>
    <a:srgbClr val="3C3835"/>
    <a:srgbClr val="20419A"/>
    <a:srgbClr val="763F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1508"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microsoft.com/office/2018/10/relationships/authors" Target="authors.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s>
</file>

<file path=ppt/comments/modernComment_29C_45C0D26E.xml><?xml version="1.0" encoding="utf-8"?>
<p188:cmLst xmlns:a="http://schemas.openxmlformats.org/drawingml/2006/main" xmlns:r="http://schemas.openxmlformats.org/officeDocument/2006/relationships" xmlns:p188="http://schemas.microsoft.com/office/powerpoint/2018/8/main">
  <p188:cm id="{78856F5F-B0B0-4492-BDEF-C44E43C8CDE6}" authorId="{AFAD3703-13C4-517F-9FDD-B2A8FD3B1864}" created="2025-10-23T04:29:14.630">
    <ac:deMkLst xmlns:ac="http://schemas.microsoft.com/office/drawing/2013/main/command">
      <pc:docMk xmlns:pc="http://schemas.microsoft.com/office/powerpoint/2013/main/command"/>
      <pc:sldMk xmlns:pc="http://schemas.microsoft.com/office/powerpoint/2013/main/command" cId="1170264686" sldId="668"/>
      <ac:graphicFrameMk id="12" creationId="{E534B08D-FD7E-46E7-AD4C-D50B022A1DD8}"/>
    </ac:deMkLst>
    <p188:txBody>
      <a:bodyPr/>
      <a:lstStyle/>
      <a:p>
        <a:r>
          <a:rPr lang="en-US"/>
          <a:t>To discuss with Khir, Twice or once a year.</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0BE112-10A7-4BBE-91B9-1C357E127A24}" type="datetimeFigureOut">
              <a:rPr lang="en-US" smtClean="0"/>
              <a:t>7/21/2026</a:t>
            </a:fld>
            <a:endParaRPr lang="en-US"/>
          </a:p>
        </p:txBody>
      </p:sp>
      <p:sp>
        <p:nvSpPr>
          <p:cNvPr id="4" name="Footer Placeholder 3"/>
          <p:cNvSpPr>
            <a:spLocks noGrp="1"/>
          </p:cNvSpPr>
          <p:nvPr>
            <p:ph type="ftr" sz="quarter" idx="2"/>
            <p:custDataLst>
              <p:tags r:id="rId2"/>
            </p:custDataLst>
          </p:nvPr>
        </p:nvSpPr>
        <p:spPr>
          <a:xfrm>
            <a:off x="0" y="8685213"/>
            <a:ext cx="6858000" cy="458787"/>
          </a:xfrm>
          <a:prstGeom prst="rect">
            <a:avLst/>
          </a:prstGeom>
        </p:spPr>
        <p:txBody>
          <a:bodyPr vert="horz" lIns="91440" tIns="45720" rIns="91440" bIns="45720" rtlCol="0" anchor="b"/>
          <a:lstStyle>
            <a:lvl1pPr algn="l">
              <a:defRPr sz="1200"/>
            </a:lvl1pPr>
          </a:lstStyle>
          <a:p>
            <a:r>
              <a:rPr lang="en-US" sz="600">
                <a:solidFill>
                  <a:srgbClr val="000000"/>
                </a:solidFill>
                <a:latin typeface="Verdana" panose="020B0604030504040204" pitchFamily="34" charset="0"/>
              </a:rPr>
              <a:t>Internal</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A616F0-363E-4723-8BD2-F22318136C74}" type="slidenum">
              <a:rPr lang="en-US" smtClean="0"/>
              <a:t>‹#›</a:t>
            </a:fld>
            <a:endParaRPr lang="en-US"/>
          </a:p>
        </p:txBody>
      </p:sp>
    </p:spTree>
    <p:extLst>
      <p:ext uri="{BB962C8B-B14F-4D97-AF65-F5344CB8AC3E}">
        <p14:creationId xmlns:p14="http://schemas.microsoft.com/office/powerpoint/2010/main" val="387599445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84510-EBD7-4DD0-9EAB-33E0103038A4}" type="datetimeFigureOut">
              <a:rPr lang="en-US" smtClean="0"/>
              <a:t>7/21/2026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685213"/>
            <a:ext cx="6858000" cy="458787"/>
          </a:xfrm>
          <a:prstGeom prst="rect">
            <a:avLst/>
          </a:prstGeom>
        </p:spPr>
        <p:txBody>
          <a:bodyPr vert="horz" lIns="91440" tIns="45720" rIns="91440" bIns="45720" rtlCol="0" anchor="b"/>
          <a:lstStyle>
            <a:lvl1pPr algn="l">
              <a:defRPr lang="en-US" sz="600" b="0" i="0" u="none">
                <a:solidFill>
                  <a:srgbClr val="000000"/>
                </a:solidFill>
                <a:latin typeface="Verdana" panose="020B0604030504040204" pitchFamily="34" charset="0"/>
              </a:defRPr>
            </a:lvl1pPr>
          </a:lstStyle>
          <a:p>
            <a:r>
              <a:rPr lang="en-MY"/>
              <a:t>Internal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11AC2-7164-4381-B2AE-E162FDBE9A19}" type="slidenum">
              <a:rPr lang="en-US" smtClean="0"/>
              <a:t>‹#›</a:t>
            </a:fld>
            <a:endParaRPr lang="en-US"/>
          </a:p>
        </p:txBody>
      </p:sp>
    </p:spTree>
    <p:extLst>
      <p:ext uri="{BB962C8B-B14F-4D97-AF65-F5344CB8AC3E}">
        <p14:creationId xmlns:p14="http://schemas.microsoft.com/office/powerpoint/2010/main" val="4257925848"/>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32.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34.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36.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38.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4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42.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44.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48.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ags" Target="../tags/tag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1</a:t>
            </a:fld>
            <a:endParaRPr lang="en-US"/>
          </a:p>
        </p:txBody>
      </p:sp>
    </p:spTree>
    <p:extLst>
      <p:ext uri="{BB962C8B-B14F-4D97-AF65-F5344CB8AC3E}">
        <p14:creationId xmlns:p14="http://schemas.microsoft.com/office/powerpoint/2010/main" val="2230396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36CA3D-5882-497C-9ED3-6B30E0923951}"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43226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63900" y="509588"/>
            <a:ext cx="3402013" cy="2551112"/>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3</a:t>
            </a:fld>
            <a:endParaRPr lang="en-US"/>
          </a:p>
        </p:txBody>
      </p:sp>
    </p:spTree>
    <p:extLst>
      <p:ext uri="{BB962C8B-B14F-4D97-AF65-F5344CB8AC3E}">
        <p14:creationId xmlns:p14="http://schemas.microsoft.com/office/powerpoint/2010/main" val="501853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63900" y="509588"/>
            <a:ext cx="3402013" cy="2551112"/>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4</a:t>
            </a:fld>
            <a:endParaRPr lang="en-US"/>
          </a:p>
        </p:txBody>
      </p:sp>
    </p:spTree>
    <p:extLst>
      <p:ext uri="{BB962C8B-B14F-4D97-AF65-F5344CB8AC3E}">
        <p14:creationId xmlns:p14="http://schemas.microsoft.com/office/powerpoint/2010/main" val="1754946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5</a:t>
            </a:fld>
            <a:endParaRPr lang="en-US"/>
          </a:p>
        </p:txBody>
      </p:sp>
    </p:spTree>
    <p:extLst>
      <p:ext uri="{BB962C8B-B14F-4D97-AF65-F5344CB8AC3E}">
        <p14:creationId xmlns:p14="http://schemas.microsoft.com/office/powerpoint/2010/main" val="1189204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A4EF-D845-FE74-8BEF-C29936F9E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7F62D-154E-B450-B836-2216D99545E0}"/>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2E9C1DBE-3D52-69C7-41E5-060BB4446C38}"/>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6FB6CAF8-5F6D-0516-9C56-EB9341B308E1}"/>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CB757B36-5C91-F474-41E7-6E28EABCF806}"/>
              </a:ext>
            </a:extLst>
          </p:cNvPr>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a:extLst>
              <a:ext uri="{FF2B5EF4-FFF2-40B4-BE49-F238E27FC236}">
                <a16:creationId xmlns:a16="http://schemas.microsoft.com/office/drawing/2014/main" id="{642AAB38-009B-6954-3A2C-1E305099649D}"/>
              </a:ext>
            </a:extLst>
          </p:cNvPr>
          <p:cNvSpPr>
            <a:spLocks noGrp="1"/>
          </p:cNvSpPr>
          <p:nvPr>
            <p:ph type="sldNum" sz="quarter" idx="12"/>
          </p:nvPr>
        </p:nvSpPr>
        <p:spPr/>
        <p:txBody>
          <a:bodyPr/>
          <a:lstStyle/>
          <a:p>
            <a:fld id="{0236CA3D-5882-497C-9ED3-6B30E0923951}" type="slidenum">
              <a:rPr lang="en-US" smtClean="0"/>
              <a:pPr/>
              <a:t>6</a:t>
            </a:fld>
            <a:endParaRPr lang="en-US"/>
          </a:p>
        </p:txBody>
      </p:sp>
    </p:spTree>
    <p:extLst>
      <p:ext uri="{BB962C8B-B14F-4D97-AF65-F5344CB8AC3E}">
        <p14:creationId xmlns:p14="http://schemas.microsoft.com/office/powerpoint/2010/main" val="1445168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r>
              <a:rPr lang="en-US"/>
              <a:t>Highly</a:t>
            </a:r>
            <a:r>
              <a:rPr lang="en-US" baseline="0"/>
              <a:t> recommend to use with application architecture slide and user group in order the Service meet the requirement as stated in BRS and solving the business challenges and gaps. A more detailed process flow can be capture in System Requirement Specification (SRS). </a:t>
            </a:r>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7</a:t>
            </a:fld>
            <a:endParaRPr lang="en-US"/>
          </a:p>
        </p:txBody>
      </p:sp>
    </p:spTree>
    <p:extLst>
      <p:ext uri="{BB962C8B-B14F-4D97-AF65-F5344CB8AC3E}">
        <p14:creationId xmlns:p14="http://schemas.microsoft.com/office/powerpoint/2010/main" val="1699506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r>
              <a:rPr lang="en-US"/>
              <a:t>Highly</a:t>
            </a:r>
            <a:r>
              <a:rPr lang="en-US" baseline="0"/>
              <a:t> recommend to use with application architecture slide and user group in order the Service meet the requirement as stated in BRS and solving the business challenges and gaps. A more detailed process flow can be capture in System Requirement Specification (SRS). </a:t>
            </a:r>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8</a:t>
            </a:fld>
            <a:endParaRPr lang="en-US"/>
          </a:p>
        </p:txBody>
      </p:sp>
    </p:spTree>
    <p:extLst>
      <p:ext uri="{BB962C8B-B14F-4D97-AF65-F5344CB8AC3E}">
        <p14:creationId xmlns:p14="http://schemas.microsoft.com/office/powerpoint/2010/main" val="1902544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30F79-1177-DCF9-0005-FD7E081BD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EE91B-5EEA-D04C-079D-FE3E72E6A5F9}"/>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AAF5DDE0-1F33-6379-E793-E0F2ED7D969E}"/>
              </a:ext>
            </a:extLst>
          </p:cNvPr>
          <p:cNvSpPr>
            <a:spLocks noGrp="1"/>
          </p:cNvSpPr>
          <p:nvPr>
            <p:ph type="body" idx="1"/>
          </p:nvPr>
        </p:nvSpPr>
        <p:spPr/>
        <p:txBody>
          <a:bodyPr/>
          <a:lstStyle/>
          <a:p>
            <a:r>
              <a:rPr lang="en-US"/>
              <a:t>Highly</a:t>
            </a:r>
            <a:r>
              <a:rPr lang="en-US" baseline="0"/>
              <a:t> recommend to use with application architecture slide and user group in order the Service meet the requirement as stated in BRS and solving the business challenges and gaps. A more detailed process flow can be capture in System Requirement Specification (SRS). </a:t>
            </a:r>
            <a:endParaRPr lang="en-US"/>
          </a:p>
        </p:txBody>
      </p:sp>
      <p:sp>
        <p:nvSpPr>
          <p:cNvPr id="4" name="Header Placeholder 3">
            <a:extLst>
              <a:ext uri="{FF2B5EF4-FFF2-40B4-BE49-F238E27FC236}">
                <a16:creationId xmlns:a16="http://schemas.microsoft.com/office/drawing/2014/main" id="{764B7E2A-173D-21B8-F3FE-845DDE9E2F45}"/>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AF33375B-79AC-A87D-80CD-2F2316903FD5}"/>
              </a:ext>
            </a:extLst>
          </p:cNvPr>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a:extLst>
              <a:ext uri="{FF2B5EF4-FFF2-40B4-BE49-F238E27FC236}">
                <a16:creationId xmlns:a16="http://schemas.microsoft.com/office/drawing/2014/main" id="{50BBB1AB-CF50-DC80-0319-F489C93EEEB3}"/>
              </a:ext>
            </a:extLst>
          </p:cNvPr>
          <p:cNvSpPr>
            <a:spLocks noGrp="1"/>
          </p:cNvSpPr>
          <p:nvPr>
            <p:ph type="sldNum" sz="quarter" idx="12"/>
          </p:nvPr>
        </p:nvSpPr>
        <p:spPr/>
        <p:txBody>
          <a:bodyPr/>
          <a:lstStyle/>
          <a:p>
            <a:fld id="{0236CA3D-5882-497C-9ED3-6B30E0923951}" type="slidenum">
              <a:rPr lang="en-US" smtClean="0"/>
              <a:pPr/>
              <a:t>9</a:t>
            </a:fld>
            <a:endParaRPr lang="en-US"/>
          </a:p>
        </p:txBody>
      </p:sp>
    </p:spTree>
    <p:extLst>
      <p:ext uri="{BB962C8B-B14F-4D97-AF65-F5344CB8AC3E}">
        <p14:creationId xmlns:p14="http://schemas.microsoft.com/office/powerpoint/2010/main" val="540568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AA27AD-D068-4E3A-82E0-823FDFAD6F6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8260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890CA-ECAF-695A-1EC2-389B91B32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9CB7E-BE8F-69CA-0ADF-31AFCCCE00D3}"/>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61FCF3BD-13DC-007F-0822-181F81F56298}"/>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837B122-C279-96FC-6876-872B9BA714B8}"/>
              </a:ext>
            </a:extLst>
          </p:cNvPr>
          <p:cNvSpPr>
            <a:spLocks noGrp="1"/>
          </p:cNvSpPr>
          <p:nvPr>
            <p:ph type="hdr" sz="quarter" idx="10"/>
          </p:nvPr>
        </p:nvSpPr>
        <p:spPr/>
        <p:txBody>
          <a:bodyPr/>
          <a:lstStyle/>
          <a:p>
            <a:endParaRPr lang="en-US">
              <a:solidFill>
                <a:prstClr val="black"/>
              </a:solidFill>
            </a:endParaRPr>
          </a:p>
        </p:txBody>
      </p:sp>
      <p:sp>
        <p:nvSpPr>
          <p:cNvPr id="5" name="Footer Placeholder 4">
            <a:extLst>
              <a:ext uri="{FF2B5EF4-FFF2-40B4-BE49-F238E27FC236}">
                <a16:creationId xmlns:a16="http://schemas.microsoft.com/office/drawing/2014/main" id="{DA52CCEE-850B-1125-8008-27CEF915DB73}"/>
              </a:ext>
            </a:extLst>
          </p:cNvPr>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a:extLst>
              <a:ext uri="{FF2B5EF4-FFF2-40B4-BE49-F238E27FC236}">
                <a16:creationId xmlns:a16="http://schemas.microsoft.com/office/drawing/2014/main" id="{8B29A540-0658-5D59-7768-0A10F61D5248}"/>
              </a:ext>
            </a:extLst>
          </p:cNvPr>
          <p:cNvSpPr>
            <a:spLocks noGrp="1"/>
          </p:cNvSpPr>
          <p:nvPr>
            <p:ph type="sldNum" sz="quarter" idx="12"/>
          </p:nvPr>
        </p:nvSpPr>
        <p:spPr/>
        <p:txBody>
          <a:bodyPr/>
          <a:lstStyle/>
          <a:p>
            <a:fld id="{0236CA3D-5882-497C-9ED3-6B30E0923951}"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987008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r>
              <a:rPr lang="en-US"/>
              <a:t>Describe milestones in outcome-oriented language</a:t>
            </a:r>
          </a:p>
          <a:p>
            <a:r>
              <a:rPr lang="en-US"/>
              <a:t>Example: Release Goals – user will be able to accomplish x by end of Release 1. </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23</a:t>
            </a:fld>
            <a:endParaRPr lang="en-US"/>
          </a:p>
        </p:txBody>
      </p:sp>
    </p:spTree>
    <p:extLst>
      <p:ext uri="{BB962C8B-B14F-4D97-AF65-F5344CB8AC3E}">
        <p14:creationId xmlns:p14="http://schemas.microsoft.com/office/powerpoint/2010/main" val="796426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DAA3C-2A3B-C693-7E36-03A0A6B09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FE4AA-56EF-43D3-F4C6-5A3B0644CBE3}"/>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DE3DEDB3-A3CD-5E00-B857-F256113A4D12}"/>
              </a:ext>
            </a:extLst>
          </p:cNvPr>
          <p:cNvSpPr>
            <a:spLocks noGrp="1"/>
          </p:cNvSpPr>
          <p:nvPr>
            <p:ph type="body" idx="1"/>
          </p:nvPr>
        </p:nvSpPr>
        <p:spPr/>
        <p:txBody>
          <a:bodyPr/>
          <a:lstStyle/>
          <a:p>
            <a:r>
              <a:rPr lang="en-US"/>
              <a:t>Describe milestones in outcome-oriented language</a:t>
            </a:r>
          </a:p>
          <a:p>
            <a:r>
              <a:rPr lang="en-US"/>
              <a:t>Example: Release Goals – user will be able to accomplish x by end of Release 1. </a:t>
            </a:r>
          </a:p>
        </p:txBody>
      </p:sp>
      <p:sp>
        <p:nvSpPr>
          <p:cNvPr id="4" name="Header Placeholder 3">
            <a:extLst>
              <a:ext uri="{FF2B5EF4-FFF2-40B4-BE49-F238E27FC236}">
                <a16:creationId xmlns:a16="http://schemas.microsoft.com/office/drawing/2014/main" id="{35013CEC-058D-96B7-A814-3A9564A87746}"/>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D2B0F3C3-F558-BB4A-A3CC-38CE6868B541}"/>
              </a:ext>
            </a:extLst>
          </p:cNvPr>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a:extLst>
              <a:ext uri="{FF2B5EF4-FFF2-40B4-BE49-F238E27FC236}">
                <a16:creationId xmlns:a16="http://schemas.microsoft.com/office/drawing/2014/main" id="{63CD216D-31D8-234D-1FDF-288424B89F4E}"/>
              </a:ext>
            </a:extLst>
          </p:cNvPr>
          <p:cNvSpPr>
            <a:spLocks noGrp="1"/>
          </p:cNvSpPr>
          <p:nvPr>
            <p:ph type="sldNum" sz="quarter" idx="12"/>
          </p:nvPr>
        </p:nvSpPr>
        <p:spPr/>
        <p:txBody>
          <a:bodyPr/>
          <a:lstStyle/>
          <a:p>
            <a:fld id="{0236CA3D-5882-497C-9ED3-6B30E0923951}" type="slidenum">
              <a:rPr lang="en-US" smtClean="0"/>
              <a:pPr/>
              <a:t>24</a:t>
            </a:fld>
            <a:endParaRPr lang="en-US"/>
          </a:p>
        </p:txBody>
      </p:sp>
    </p:spTree>
    <p:extLst>
      <p:ext uri="{BB962C8B-B14F-4D97-AF65-F5344CB8AC3E}">
        <p14:creationId xmlns:p14="http://schemas.microsoft.com/office/powerpoint/2010/main" val="1213889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25</a:t>
            </a:fld>
            <a:endParaRPr lang="en-US"/>
          </a:p>
        </p:txBody>
      </p:sp>
    </p:spTree>
    <p:extLst>
      <p:ext uri="{BB962C8B-B14F-4D97-AF65-F5344CB8AC3E}">
        <p14:creationId xmlns:p14="http://schemas.microsoft.com/office/powerpoint/2010/main" val="2214709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US"/>
              <a:t>Internal</a:t>
            </a:r>
          </a:p>
        </p:txBody>
      </p:sp>
      <p:sp>
        <p:nvSpPr>
          <p:cNvPr id="6" name="Slide Number Placeholder 5"/>
          <p:cNvSpPr>
            <a:spLocks noGrp="1"/>
          </p:cNvSpPr>
          <p:nvPr>
            <p:ph type="sldNum" sz="quarter" idx="12"/>
          </p:nvPr>
        </p:nvSpPr>
        <p:spPr/>
        <p:txBody>
          <a:bodyPr/>
          <a:lstStyle/>
          <a:p>
            <a:fld id="{0236CA3D-5882-497C-9ED3-6B30E0923951}" type="slidenum">
              <a:rPr lang="en-US" smtClean="0"/>
              <a:pPr/>
              <a:t>26</a:t>
            </a:fld>
            <a:endParaRPr lang="en-US"/>
          </a:p>
        </p:txBody>
      </p:sp>
    </p:spTree>
    <p:extLst>
      <p:ext uri="{BB962C8B-B14F-4D97-AF65-F5344CB8AC3E}">
        <p14:creationId xmlns:p14="http://schemas.microsoft.com/office/powerpoint/2010/main" val="2970536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p:cNvSpPr>
            <a:spLocks noGrp="1"/>
          </p:cNvSpPr>
          <p:nvPr>
            <p:ph type="sldNum" sz="quarter" idx="12"/>
          </p:nvPr>
        </p:nvSpPr>
        <p:spPr/>
        <p:txBody>
          <a:bodyPr/>
          <a:lstStyle/>
          <a:p>
            <a:fld id="{0236CA3D-5882-497C-9ED3-6B30E0923951}"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1629583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p:cNvSpPr>
            <a:spLocks noGrp="1"/>
          </p:cNvSpPr>
          <p:nvPr>
            <p:ph type="sldNum" sz="quarter" idx="12"/>
          </p:nvPr>
        </p:nvSpPr>
        <p:spPr/>
        <p:txBody>
          <a:bodyPr/>
          <a:lstStyle/>
          <a:p>
            <a:fld id="{0236CA3D-5882-497C-9ED3-6B30E0923951}"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3083362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ABA-A8C2-7B8B-43B8-9B0D481DF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AC233-A401-967B-B497-A23050FA6FF9}"/>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641E3FC9-F5B0-668E-1C00-8BBC6C7F31E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3B65F414-8199-0B1F-A5D6-702FCD24F230}"/>
              </a:ext>
            </a:extLst>
          </p:cNvPr>
          <p:cNvSpPr>
            <a:spLocks noGrp="1"/>
          </p:cNvSpPr>
          <p:nvPr>
            <p:ph type="hdr" sz="quarter" idx="10"/>
          </p:nvPr>
        </p:nvSpPr>
        <p:spPr/>
        <p:txBody>
          <a:bodyPr/>
          <a:lstStyle/>
          <a:p>
            <a:endParaRPr lang="en-US">
              <a:solidFill>
                <a:prstClr val="black"/>
              </a:solidFill>
            </a:endParaRPr>
          </a:p>
        </p:txBody>
      </p:sp>
      <p:sp>
        <p:nvSpPr>
          <p:cNvPr id="5" name="Footer Placeholder 4">
            <a:extLst>
              <a:ext uri="{FF2B5EF4-FFF2-40B4-BE49-F238E27FC236}">
                <a16:creationId xmlns:a16="http://schemas.microsoft.com/office/drawing/2014/main" id="{9DE75E9C-1BB9-2196-359F-DFD16DAE13F2}"/>
              </a:ext>
            </a:extLst>
          </p:cNvPr>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a:extLst>
              <a:ext uri="{FF2B5EF4-FFF2-40B4-BE49-F238E27FC236}">
                <a16:creationId xmlns:a16="http://schemas.microsoft.com/office/drawing/2014/main" id="{A7F7C092-FA71-EEC6-FDB4-30FA70770F84}"/>
              </a:ext>
            </a:extLst>
          </p:cNvPr>
          <p:cNvSpPr>
            <a:spLocks noGrp="1"/>
          </p:cNvSpPr>
          <p:nvPr>
            <p:ph type="sldNum" sz="quarter" idx="12"/>
          </p:nvPr>
        </p:nvSpPr>
        <p:spPr/>
        <p:txBody>
          <a:bodyPr/>
          <a:lstStyle/>
          <a:p>
            <a:fld id="{0236CA3D-5882-497C-9ED3-6B30E0923951}"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3830723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p:cNvSpPr>
            <a:spLocks noGrp="1"/>
          </p:cNvSpPr>
          <p:nvPr>
            <p:ph type="sldNum" sz="quarter" idx="12"/>
          </p:nvPr>
        </p:nvSpPr>
        <p:spPr/>
        <p:txBody>
          <a:bodyPr/>
          <a:lstStyle/>
          <a:p>
            <a:fld id="{0236CA3D-5882-497C-9ED3-6B30E0923951}"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3083362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ABA-A8C2-7B8B-43B8-9B0D481DF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AC233-A401-967B-B497-A23050FA6FF9}"/>
              </a:ext>
            </a:extLst>
          </p:cNvPr>
          <p:cNvSpPr>
            <a:spLocks noGrp="1" noRot="1" noChangeAspect="1"/>
          </p:cNvSpPr>
          <p:nvPr>
            <p:ph type="sldImg"/>
          </p:nvPr>
        </p:nvSpPr>
        <p:spPr>
          <a:xfrm>
            <a:off x="3295650" y="500063"/>
            <a:ext cx="3335338" cy="2501900"/>
          </a:xfrm>
        </p:spPr>
      </p:sp>
      <p:sp>
        <p:nvSpPr>
          <p:cNvPr id="3" name="Notes Placeholder 2">
            <a:extLst>
              <a:ext uri="{FF2B5EF4-FFF2-40B4-BE49-F238E27FC236}">
                <a16:creationId xmlns:a16="http://schemas.microsoft.com/office/drawing/2014/main" id="{641E3FC9-F5B0-668E-1C00-8BBC6C7F31E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3B65F414-8199-0B1F-A5D6-702FCD24F230}"/>
              </a:ext>
            </a:extLst>
          </p:cNvPr>
          <p:cNvSpPr>
            <a:spLocks noGrp="1"/>
          </p:cNvSpPr>
          <p:nvPr>
            <p:ph type="hdr" sz="quarter" idx="10"/>
          </p:nvPr>
        </p:nvSpPr>
        <p:spPr/>
        <p:txBody>
          <a:bodyPr/>
          <a:lstStyle/>
          <a:p>
            <a:endParaRPr lang="en-US">
              <a:solidFill>
                <a:prstClr val="black"/>
              </a:solidFill>
            </a:endParaRPr>
          </a:p>
        </p:txBody>
      </p:sp>
      <p:sp>
        <p:nvSpPr>
          <p:cNvPr id="5" name="Footer Placeholder 4">
            <a:extLst>
              <a:ext uri="{FF2B5EF4-FFF2-40B4-BE49-F238E27FC236}">
                <a16:creationId xmlns:a16="http://schemas.microsoft.com/office/drawing/2014/main" id="{9DE75E9C-1BB9-2196-359F-DFD16DAE13F2}"/>
              </a:ext>
            </a:extLst>
          </p:cNvPr>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a:extLst>
              <a:ext uri="{FF2B5EF4-FFF2-40B4-BE49-F238E27FC236}">
                <a16:creationId xmlns:a16="http://schemas.microsoft.com/office/drawing/2014/main" id="{A7F7C092-FA71-EEC6-FDB4-30FA70770F84}"/>
              </a:ext>
            </a:extLst>
          </p:cNvPr>
          <p:cNvSpPr>
            <a:spLocks noGrp="1"/>
          </p:cNvSpPr>
          <p:nvPr>
            <p:ph type="sldNum" sz="quarter" idx="12"/>
          </p:nvPr>
        </p:nvSpPr>
        <p:spPr/>
        <p:txBody>
          <a:bodyPr/>
          <a:lstStyle/>
          <a:p>
            <a:fld id="{0236CA3D-5882-497C-9ED3-6B30E0923951}"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3830723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3AAE-091D-126C-589A-D9534B8DC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FBF72-DB30-BBDB-95AC-254589CBDF67}"/>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D2C81D9E-CDA8-42ED-05B0-73339446CCC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933DDB6A-B984-856B-99C4-1A2BC626458F}"/>
              </a:ext>
            </a:extLst>
          </p:cNvPr>
          <p:cNvSpPr>
            <a:spLocks noGrp="1"/>
          </p:cNvSpPr>
          <p:nvPr>
            <p:ph type="hdr" sz="quarter" idx="10"/>
          </p:nvPr>
        </p:nvSpPr>
        <p:spPr/>
        <p:txBody>
          <a:bodyPr/>
          <a:lstStyle/>
          <a:p>
            <a:endParaRPr lang="en-US">
              <a:solidFill>
                <a:prstClr val="black"/>
              </a:solidFill>
            </a:endParaRPr>
          </a:p>
        </p:txBody>
      </p:sp>
      <p:sp>
        <p:nvSpPr>
          <p:cNvPr id="5" name="Footer Placeholder 4">
            <a:extLst>
              <a:ext uri="{FF2B5EF4-FFF2-40B4-BE49-F238E27FC236}">
                <a16:creationId xmlns:a16="http://schemas.microsoft.com/office/drawing/2014/main" id="{CE3837A3-B584-4016-C769-F39E34A20E8B}"/>
              </a:ext>
            </a:extLst>
          </p:cNvPr>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a:extLst>
              <a:ext uri="{FF2B5EF4-FFF2-40B4-BE49-F238E27FC236}">
                <a16:creationId xmlns:a16="http://schemas.microsoft.com/office/drawing/2014/main" id="{3668286E-28CA-AB8C-7795-67D4572B5975}"/>
              </a:ext>
            </a:extLst>
          </p:cNvPr>
          <p:cNvSpPr>
            <a:spLocks noGrp="1"/>
          </p:cNvSpPr>
          <p:nvPr>
            <p:ph type="sldNum" sz="quarter" idx="12"/>
          </p:nvPr>
        </p:nvSpPr>
        <p:spPr/>
        <p:txBody>
          <a:bodyPr/>
          <a:lstStyle/>
          <a:p>
            <a:fld id="{0236CA3D-5882-497C-9ED3-6B30E0923951}"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917825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p:cNvSpPr>
            <a:spLocks noGrp="1"/>
          </p:cNvSpPr>
          <p:nvPr>
            <p:ph type="sldNum" sz="quarter" idx="12"/>
          </p:nvPr>
        </p:nvSpPr>
        <p:spPr/>
        <p:txBody>
          <a:bodyPr/>
          <a:lstStyle/>
          <a:p>
            <a:fld id="{0236CA3D-5882-497C-9ED3-6B30E0923951}"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1110216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36CA3D-5882-497C-9ED3-6B30E0923951}"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1259644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36CA3D-5882-497C-9ED3-6B30E0923951}" type="slidenum">
              <a:rPr lang="en-US" smtClean="0"/>
              <a:pPr/>
              <a:t>35</a:t>
            </a:fld>
            <a:endParaRPr lang="en-US"/>
          </a:p>
        </p:txBody>
      </p:sp>
    </p:spTree>
    <p:extLst>
      <p:ext uri="{BB962C8B-B14F-4D97-AF65-F5344CB8AC3E}">
        <p14:creationId xmlns:p14="http://schemas.microsoft.com/office/powerpoint/2010/main" val="3324018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custDataLst>
              <p:tags r:id="rId1"/>
            </p:custDataLst>
          </p:nvPr>
        </p:nvSpPr>
        <p:spPr>
          <a:xfrm>
            <a:off x="0" y="6334476"/>
            <a:ext cx="6858000" cy="333454"/>
          </a:xfrm>
        </p:spPr>
        <p:txBody>
          <a:bodyPr/>
          <a:lstStyle/>
          <a:p>
            <a:r>
              <a:rPr lang="en-MY"/>
              <a:t>Internal</a:t>
            </a:r>
            <a:endParaRPr/>
          </a:p>
        </p:txBody>
      </p:sp>
      <p:sp>
        <p:nvSpPr>
          <p:cNvPr id="6" name="Slide Number Placeholder 5"/>
          <p:cNvSpPr>
            <a:spLocks noGrp="1"/>
          </p:cNvSpPr>
          <p:nvPr>
            <p:ph type="sldNum" sz="quarter" idx="12"/>
          </p:nvPr>
        </p:nvSpPr>
        <p:spPr/>
        <p:txBody>
          <a:bodyPr/>
          <a:lstStyle/>
          <a:p>
            <a:fld id="{0236CA3D-5882-497C-9ED3-6B30E0923951}"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3671755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87594-A1F5-67BC-6BB2-2B06D51BF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19FFF-205E-32E1-7184-FDDEE54FF963}"/>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65DDC6E2-D269-7F89-FEBC-63B42F32CCB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C3C5657-9CD3-FE44-A438-6D1021E95BFE}"/>
              </a:ext>
            </a:extLst>
          </p:cNvPr>
          <p:cNvSpPr>
            <a:spLocks noGrp="1"/>
          </p:cNvSpPr>
          <p:nvPr>
            <p:ph type="sldNum" sz="quarter" idx="10"/>
          </p:nvPr>
        </p:nvSpPr>
        <p:spPr/>
        <p:txBody>
          <a:bodyPr/>
          <a:lstStyle/>
          <a:p>
            <a:fld id="{0236CA3D-5882-497C-9ED3-6B30E0923951}"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1261727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7C98-0C3E-F9BB-2184-3920A3308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13620-EBB3-93AD-7DE0-3F8DAA0F15AE}"/>
              </a:ext>
            </a:extLst>
          </p:cNvPr>
          <p:cNvSpPr>
            <a:spLocks noGrp="1" noRot="1" noChangeAspect="1"/>
          </p:cNvSpPr>
          <p:nvPr>
            <p:ph type="sldImg"/>
          </p:nvPr>
        </p:nvSpPr>
        <p:spPr>
          <a:xfrm>
            <a:off x="3295650" y="500063"/>
            <a:ext cx="3335338" cy="2501900"/>
          </a:xfrm>
        </p:spPr>
        <p:txBody>
          <a:bodyPr/>
          <a:lstStyle/>
          <a:p>
            <a:endParaRPr lang="en-GB"/>
          </a:p>
        </p:txBody>
      </p:sp>
      <p:sp>
        <p:nvSpPr>
          <p:cNvPr id="3" name="Notes Placeholder 2">
            <a:extLst>
              <a:ext uri="{FF2B5EF4-FFF2-40B4-BE49-F238E27FC236}">
                <a16:creationId xmlns:a16="http://schemas.microsoft.com/office/drawing/2014/main" id="{FC6458E4-4C8E-1E7C-E415-81C0647A926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28AC0B5-9D51-0D52-FE3A-2F70B8E2580E}"/>
              </a:ext>
            </a:extLst>
          </p:cNvPr>
          <p:cNvSpPr>
            <a:spLocks noGrp="1"/>
          </p:cNvSpPr>
          <p:nvPr>
            <p:ph type="sldNum" sz="quarter" idx="10"/>
          </p:nvPr>
        </p:nvSpPr>
        <p:spPr/>
        <p:txBody>
          <a:bodyPr/>
          <a:lstStyle/>
          <a:p>
            <a:fld id="{0236CA3D-5882-497C-9ED3-6B30E0923951}" type="slidenum">
              <a:rPr lang="en-US" smtClean="0">
                <a:solidFill>
                  <a:prstClr val="black"/>
                </a:solidFill>
              </a:rPr>
              <a:pPr/>
              <a:t>38</a:t>
            </a:fld>
            <a:endParaRPr lang="en-US">
              <a:solidFill>
                <a:prstClr val="black"/>
              </a:solidFill>
            </a:endParaRPr>
          </a:p>
        </p:txBody>
      </p:sp>
    </p:spTree>
    <p:extLst>
      <p:ext uri="{BB962C8B-B14F-4D97-AF65-F5344CB8AC3E}">
        <p14:creationId xmlns:p14="http://schemas.microsoft.com/office/powerpoint/2010/main" val="21149503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5650" y="500063"/>
            <a:ext cx="3335338" cy="2501900"/>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36CA3D-5882-497C-9ED3-6B30E0923951}" type="slidenum">
              <a:rPr lang="en-US" smtClean="0">
                <a:solidFill>
                  <a:prstClr val="black"/>
                </a:solidFill>
              </a:rPr>
              <a:pPr/>
              <a:t>39</a:t>
            </a:fld>
            <a:endParaRPr lang="en-US">
              <a:solidFill>
                <a:prstClr val="black"/>
              </a:solidFill>
            </a:endParaRPr>
          </a:p>
        </p:txBody>
      </p:sp>
    </p:spTree>
    <p:extLst>
      <p:ext uri="{BB962C8B-B14F-4D97-AF65-F5344CB8AC3E}">
        <p14:creationId xmlns:p14="http://schemas.microsoft.com/office/powerpoint/2010/main" val="720684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a:xfrm>
            <a:off x="0" y="8685213"/>
            <a:ext cx="6858000" cy="458787"/>
          </a:xfrm>
        </p:spPr>
        <p:txBody>
          <a:bodyPr/>
          <a:lstStyle/>
          <a:p>
            <a:r>
              <a:rPr lang="en-US"/>
              <a:t>Internal</a:t>
            </a:r>
          </a:p>
        </p:txBody>
      </p:sp>
      <p:sp>
        <p:nvSpPr>
          <p:cNvPr id="6" name="Slide Number Placeholder 5"/>
          <p:cNvSpPr>
            <a:spLocks noGrp="1"/>
          </p:cNvSpPr>
          <p:nvPr>
            <p:ph type="sldNum" sz="quarter" idx="12"/>
          </p:nvPr>
        </p:nvSpPr>
        <p:spPr/>
        <p:txBody>
          <a:bodyPr/>
          <a:lstStyle/>
          <a:p>
            <a:fld id="{68411AC2-7164-4381-B2AE-E162FDBE9A19}" type="slidenum">
              <a:rPr lang="en-US" smtClean="0"/>
              <a:t>40</a:t>
            </a:fld>
            <a:endParaRPr lang="en-US"/>
          </a:p>
        </p:txBody>
      </p:sp>
    </p:spTree>
    <p:extLst>
      <p:ext uri="{BB962C8B-B14F-4D97-AF65-F5344CB8AC3E}">
        <p14:creationId xmlns:p14="http://schemas.microsoft.com/office/powerpoint/2010/main" val="31474137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9C21B92-1E2B-CE49-B96B-14BDF32AEBF9}"/>
              </a:ext>
            </a:extLst>
          </p:cNvPr>
          <p:cNvSpPr>
            <a:spLocks noGrp="1"/>
          </p:cNvSpPr>
          <p:nvPr>
            <p:ph type="ctrTitle" hasCustomPrompt="1"/>
          </p:nvPr>
        </p:nvSpPr>
        <p:spPr>
          <a:xfrm>
            <a:off x="446489" y="1685333"/>
            <a:ext cx="8265712" cy="1743666"/>
          </a:xfrm>
        </p:spPr>
        <p:txBody>
          <a:bodyPr anchor="b">
            <a:noAutofit/>
          </a:bodyPr>
          <a:lstStyle>
            <a:lvl1pPr algn="l">
              <a:defRPr sz="2800" b="1" i="0">
                <a:solidFill>
                  <a:schemeClr val="bg1"/>
                </a:solidFill>
                <a:latin typeface="Arial" panose="020B0604020202020204" pitchFamily="34" charset="0"/>
                <a:cs typeface="Arial" panose="020B0604020202020204" pitchFamily="34" charset="0"/>
              </a:defRPr>
            </a:lvl1pPr>
          </a:lstStyle>
          <a:p>
            <a:r>
              <a:rPr lang="en-US"/>
              <a:t>Insert title here</a:t>
            </a:r>
          </a:p>
        </p:txBody>
      </p:sp>
      <p:sp>
        <p:nvSpPr>
          <p:cNvPr id="9" name="Subtitle 2">
            <a:extLst>
              <a:ext uri="{FF2B5EF4-FFF2-40B4-BE49-F238E27FC236}">
                <a16:creationId xmlns:a16="http://schemas.microsoft.com/office/drawing/2014/main" id="{9AD28AFC-4846-DD4C-AC3A-E46D60EF9D36}"/>
              </a:ext>
            </a:extLst>
          </p:cNvPr>
          <p:cNvSpPr>
            <a:spLocks noGrp="1"/>
          </p:cNvSpPr>
          <p:nvPr>
            <p:ph type="subTitle" idx="1" hasCustomPrompt="1"/>
          </p:nvPr>
        </p:nvSpPr>
        <p:spPr>
          <a:xfrm>
            <a:off x="447057" y="3434400"/>
            <a:ext cx="5322807" cy="1026042"/>
          </a:xfrm>
        </p:spPr>
        <p:txBody>
          <a:bodyPr>
            <a:no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subtitles here</a:t>
            </a:r>
          </a:p>
        </p:txBody>
      </p:sp>
      <p:sp>
        <p:nvSpPr>
          <p:cNvPr id="10" name="TextBox 9">
            <a:extLst>
              <a:ext uri="{FF2B5EF4-FFF2-40B4-BE49-F238E27FC236}">
                <a16:creationId xmlns:a16="http://schemas.microsoft.com/office/drawing/2014/main" id="{0B7F4DD8-DD0E-424C-9238-BD6B2322A50B}"/>
              </a:ext>
            </a:extLst>
          </p:cNvPr>
          <p:cNvSpPr txBox="1"/>
          <p:nvPr userDrawn="1"/>
        </p:nvSpPr>
        <p:spPr>
          <a:xfrm>
            <a:off x="446488" y="6028035"/>
            <a:ext cx="6841595" cy="461665"/>
          </a:xfrm>
          <a:prstGeom prst="rect">
            <a:avLst/>
          </a:prstGeom>
          <a:noFill/>
        </p:spPr>
        <p:txBody>
          <a:bodyPr wrap="square" rtlCol="0" anchor="b" anchorCtr="0">
            <a:spAutoFit/>
          </a:bodyPr>
          <a:lstStyle/>
          <a:p>
            <a:r>
              <a:rPr lang="en-SG" sz="800" b="1" i="0">
                <a:solidFill>
                  <a:schemeClr val="bg1"/>
                </a:solidFill>
                <a:latin typeface="Arial" panose="020B0604020202020204" pitchFamily="34" charset="0"/>
                <a:cs typeface="Arial" panose="020B0604020202020204" pitchFamily="34" charset="0"/>
              </a:rPr>
              <a:t>© 2024 Petroliam Nasional </a:t>
            </a:r>
            <a:r>
              <a:rPr lang="en-SG" sz="800" b="1" i="0" err="1">
                <a:solidFill>
                  <a:schemeClr val="bg1"/>
                </a:solidFill>
                <a:latin typeface="Arial" panose="020B0604020202020204" pitchFamily="34" charset="0"/>
                <a:cs typeface="Arial" panose="020B0604020202020204" pitchFamily="34" charset="0"/>
              </a:rPr>
              <a:t>Berhad</a:t>
            </a:r>
            <a:r>
              <a:rPr lang="en-SG" sz="800" b="1" i="0">
                <a:solidFill>
                  <a:schemeClr val="bg1"/>
                </a:solidFill>
                <a:latin typeface="Arial" panose="020B0604020202020204" pitchFamily="34" charset="0"/>
                <a:cs typeface="Arial" panose="020B0604020202020204" pitchFamily="34" charset="0"/>
              </a:rPr>
              <a:t> (PETRONAS)</a:t>
            </a:r>
          </a:p>
          <a:p>
            <a:r>
              <a:rPr lang="en-SG" sz="800" b="0" i="0">
                <a:solidFill>
                  <a:schemeClr val="bg1"/>
                </a:solidFill>
                <a:latin typeface="Arial" panose="020B0604020202020204" pitchFamily="34" charset="0"/>
                <a:cs typeface="Arial" panose="020B0604020202020204" pitchFamily="34" charset="0"/>
              </a:rPr>
              <a:t>All rights reserved. No part of this document may be reproduced in any form possible, stored in a retrieval system, transmitted and/or disseminated in any form or by any means (digital, mechanical, hard copy, recording or otherwise) without the permission of the copyright owner.</a:t>
            </a:r>
          </a:p>
        </p:txBody>
      </p:sp>
      <p:sp>
        <p:nvSpPr>
          <p:cNvPr id="11" name="Text Placeholder 14">
            <a:extLst>
              <a:ext uri="{FF2B5EF4-FFF2-40B4-BE49-F238E27FC236}">
                <a16:creationId xmlns:a16="http://schemas.microsoft.com/office/drawing/2014/main" id="{43F93652-951A-1F46-B179-8A71E309687E}"/>
              </a:ext>
            </a:extLst>
          </p:cNvPr>
          <p:cNvSpPr>
            <a:spLocks noGrp="1"/>
          </p:cNvSpPr>
          <p:nvPr>
            <p:ph type="body" sz="quarter" idx="10" hasCustomPrompt="1"/>
          </p:nvPr>
        </p:nvSpPr>
        <p:spPr>
          <a:xfrm>
            <a:off x="446488" y="4795239"/>
            <a:ext cx="4125512" cy="284762"/>
          </a:xfrm>
        </p:spPr>
        <p:txBody>
          <a:bodyPr>
            <a:noAutofit/>
          </a:bodyPr>
          <a:lstStyle>
            <a:lvl1pPr marL="0" indent="0">
              <a:lnSpc>
                <a:spcPct val="100000"/>
              </a:lnSpc>
              <a:spcBef>
                <a:spcPts val="0"/>
              </a:spcBef>
              <a:buNone/>
              <a:defRPr sz="1600">
                <a:solidFill>
                  <a:schemeClr val="bg1"/>
                </a:solidFill>
              </a:defRPr>
            </a:lvl1pPr>
          </a:lstStyle>
          <a:p>
            <a:pPr lvl="0"/>
            <a:r>
              <a:rPr lang="en-US"/>
              <a:t>Presentation to xxx</a:t>
            </a:r>
          </a:p>
        </p:txBody>
      </p:sp>
      <p:sp>
        <p:nvSpPr>
          <p:cNvPr id="12" name="Text Placeholder 16">
            <a:extLst>
              <a:ext uri="{FF2B5EF4-FFF2-40B4-BE49-F238E27FC236}">
                <a16:creationId xmlns:a16="http://schemas.microsoft.com/office/drawing/2014/main" id="{9E05A1FD-FDF4-F946-9942-0EA914A195D6}"/>
              </a:ext>
            </a:extLst>
          </p:cNvPr>
          <p:cNvSpPr>
            <a:spLocks noGrp="1"/>
          </p:cNvSpPr>
          <p:nvPr>
            <p:ph type="body" sz="quarter" idx="11" hasCustomPrompt="1"/>
          </p:nvPr>
        </p:nvSpPr>
        <p:spPr>
          <a:xfrm>
            <a:off x="446488" y="5106663"/>
            <a:ext cx="1292542" cy="284762"/>
          </a:xfr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bg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DD.MM.YY</a:t>
            </a:r>
          </a:p>
        </p:txBody>
      </p:sp>
      <p:pic>
        <p:nvPicPr>
          <p:cNvPr id="14" name="Picture 13">
            <a:extLst>
              <a:ext uri="{FF2B5EF4-FFF2-40B4-BE49-F238E27FC236}">
                <a16:creationId xmlns:a16="http://schemas.microsoft.com/office/drawing/2014/main" id="{5A41726F-A7B1-BD44-A16A-D405E7CF85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2313" y="578758"/>
            <a:ext cx="869007" cy="874800"/>
          </a:xfrm>
          <a:prstGeom prst="rect">
            <a:avLst/>
          </a:prstGeom>
        </p:spPr>
      </p:pic>
    </p:spTree>
    <p:extLst>
      <p:ext uri="{BB962C8B-B14F-4D97-AF65-F5344CB8AC3E}">
        <p14:creationId xmlns:p14="http://schemas.microsoft.com/office/powerpoint/2010/main" val="391053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Content</a:t>
            </a:r>
            <a:endParaRPr lang="en-US"/>
          </a:p>
        </p:txBody>
      </p:sp>
      <p:sp>
        <p:nvSpPr>
          <p:cNvPr id="7" name="Content Placeholder 2">
            <a:extLst>
              <a:ext uri="{FF2B5EF4-FFF2-40B4-BE49-F238E27FC236}">
                <a16:creationId xmlns:a16="http://schemas.microsoft.com/office/drawing/2014/main" id="{90E2BA46-4FE3-0047-9509-7517639C3BCA}"/>
              </a:ext>
            </a:extLst>
          </p:cNvPr>
          <p:cNvSpPr>
            <a:spLocks noGrp="1"/>
          </p:cNvSpPr>
          <p:nvPr>
            <p:ph idx="1" hasCustomPrompt="1"/>
          </p:nvPr>
        </p:nvSpPr>
        <p:spPr>
          <a:xfrm>
            <a:off x="878840" y="1261555"/>
            <a:ext cx="7228840" cy="4838400"/>
          </a:xfrm>
        </p:spPr>
        <p:txBody>
          <a:bodyPr wrap="square" numCol="1" spcCol="0">
            <a:noAutofit/>
          </a:bodyPr>
          <a:lstStyle>
            <a:lvl1pPr marL="0" indent="0">
              <a:buFont typeface="+mj-lt"/>
              <a:buNone/>
              <a:defRPr sz="1600" b="1" i="0">
                <a:solidFill>
                  <a:srgbClr val="00B1A9"/>
                </a:solidFill>
                <a:latin typeface="Arial" panose="020B0604020202020204" pitchFamily="34" charset="0"/>
                <a:cs typeface="Arial" panose="020B0604020202020204" pitchFamily="34" charset="0"/>
              </a:defRPr>
            </a:lvl1pPr>
            <a:lvl2pPr marL="0" indent="0">
              <a:buFontTx/>
              <a:buNone/>
              <a:defRPr sz="1600">
                <a:solidFill>
                  <a:srgbClr val="3C3835"/>
                </a:solidFill>
              </a:defRPr>
            </a:lvl2pPr>
          </a:lstStyle>
          <a:p>
            <a:pPr lvl="0"/>
            <a:r>
              <a:rPr lang="en-US"/>
              <a:t>Insert section title lorem ipsum</a:t>
            </a:r>
          </a:p>
          <a:p>
            <a:pPr lvl="1"/>
            <a:r>
              <a:rPr lang="en-US"/>
              <a:t>Insert section sub-title</a:t>
            </a:r>
          </a:p>
        </p:txBody>
      </p:sp>
      <p:sp>
        <p:nvSpPr>
          <p:cNvPr id="8" name="Text Placeholder 9">
            <a:extLst>
              <a:ext uri="{FF2B5EF4-FFF2-40B4-BE49-F238E27FC236}">
                <a16:creationId xmlns:a16="http://schemas.microsoft.com/office/drawing/2014/main" id="{26BAAF8A-815F-4A40-B0CA-E8B05C7E02AF}"/>
              </a:ext>
            </a:extLst>
          </p:cNvPr>
          <p:cNvSpPr>
            <a:spLocks noGrp="1"/>
          </p:cNvSpPr>
          <p:nvPr>
            <p:ph type="body" sz="quarter" idx="13" hasCustomPrompt="1"/>
          </p:nvPr>
        </p:nvSpPr>
        <p:spPr>
          <a:xfrm>
            <a:off x="431800" y="1261174"/>
            <a:ext cx="426719" cy="4838400"/>
          </a:xfrm>
        </p:spPr>
        <p:txBody>
          <a:bodyPr rIns="0">
            <a:noAutofit/>
          </a:bodyPr>
          <a:lstStyle>
            <a:lvl1pPr marL="0" indent="0" algn="l">
              <a:buNone/>
              <a:defRPr b="1" i="0">
                <a:solidFill>
                  <a:srgbClr val="00B1A9"/>
                </a:solidFill>
                <a:latin typeface="Arial" panose="020B0604020202020204" pitchFamily="34" charset="0"/>
                <a:cs typeface="Arial" panose="020B0604020202020204" pitchFamily="34" charset="0"/>
              </a:defRPr>
            </a:lvl1pPr>
          </a:lstStyle>
          <a:p>
            <a:pPr lvl="0"/>
            <a:r>
              <a:rPr lang="en-US"/>
              <a:t>01.</a:t>
            </a:r>
          </a:p>
        </p:txBody>
      </p:sp>
      <p:sp>
        <p:nvSpPr>
          <p:cNvPr id="9" name="Text Placeholder 9">
            <a:extLst>
              <a:ext uri="{FF2B5EF4-FFF2-40B4-BE49-F238E27FC236}">
                <a16:creationId xmlns:a16="http://schemas.microsoft.com/office/drawing/2014/main" id="{A88BF6A1-F5F6-4146-8EA5-0C81C0382498}"/>
              </a:ext>
            </a:extLst>
          </p:cNvPr>
          <p:cNvSpPr>
            <a:spLocks noGrp="1"/>
          </p:cNvSpPr>
          <p:nvPr>
            <p:ph type="body" sz="quarter" idx="14" hasCustomPrompt="1"/>
          </p:nvPr>
        </p:nvSpPr>
        <p:spPr>
          <a:xfrm>
            <a:off x="8288596" y="1261174"/>
            <a:ext cx="426720" cy="4838400"/>
          </a:xfrm>
        </p:spPr>
        <p:txBody>
          <a:bodyPr>
            <a:noAutofit/>
          </a:bodyPr>
          <a:lstStyle>
            <a:lvl1pPr marL="0" indent="0" algn="r">
              <a:buNone/>
              <a:defRPr b="0" i="0">
                <a:solidFill>
                  <a:srgbClr val="00B1A9"/>
                </a:solidFill>
                <a:latin typeface="Arial" panose="020B0604020202020204" pitchFamily="34" charset="0"/>
                <a:cs typeface="Arial" panose="020B0604020202020204" pitchFamily="34" charset="0"/>
              </a:defRPr>
            </a:lvl1pPr>
          </a:lstStyle>
          <a:p>
            <a:pPr lvl="0"/>
            <a:r>
              <a:rPr lang="en-US"/>
              <a:t>02</a:t>
            </a:r>
          </a:p>
        </p:txBody>
      </p:sp>
      <p:sp>
        <p:nvSpPr>
          <p:cNvPr id="10" name="TextBox 9">
            <a:extLst>
              <a:ext uri="{FF2B5EF4-FFF2-40B4-BE49-F238E27FC236}">
                <a16:creationId xmlns:a16="http://schemas.microsoft.com/office/drawing/2014/main" id="{CEE87B92-2B66-BF46-9DB3-DB52029508FF}"/>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11" name="Slide Number Placeholder 5">
            <a:extLst>
              <a:ext uri="{FF2B5EF4-FFF2-40B4-BE49-F238E27FC236}">
                <a16:creationId xmlns:a16="http://schemas.microsoft.com/office/drawing/2014/main" id="{F149AE20-A93A-3647-A93A-973C37F5EB2C}"/>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pic>
        <p:nvPicPr>
          <p:cNvPr id="14" name="Picture 13">
            <a:extLst>
              <a:ext uri="{FF2B5EF4-FFF2-40B4-BE49-F238E27FC236}">
                <a16:creationId xmlns:a16="http://schemas.microsoft.com/office/drawing/2014/main" id="{2F30F01C-D4E0-684A-9E16-7BC69447612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175728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BEA4F08-3EE7-2B41-B91A-2D8DB8E18D81}"/>
              </a:ext>
            </a:extLst>
          </p:cNvPr>
          <p:cNvSpPr>
            <a:spLocks noGrp="1"/>
          </p:cNvSpPr>
          <p:nvPr>
            <p:ph type="ctrTitle" hasCustomPrompt="1"/>
          </p:nvPr>
        </p:nvSpPr>
        <p:spPr>
          <a:xfrm>
            <a:off x="446489" y="1685333"/>
            <a:ext cx="5322807" cy="1743666"/>
          </a:xfrm>
        </p:spPr>
        <p:txBody>
          <a:bodyPr anchor="b">
            <a:noAutofit/>
          </a:bodyPr>
          <a:lstStyle>
            <a:lvl1pPr algn="l">
              <a:defRPr sz="2800" b="1" i="0">
                <a:solidFill>
                  <a:srgbClr val="00B1A9"/>
                </a:solidFill>
                <a:latin typeface="Arial" panose="020B0604020202020204" pitchFamily="34" charset="0"/>
                <a:cs typeface="Arial" panose="020B0604020202020204" pitchFamily="34" charset="0"/>
              </a:defRPr>
            </a:lvl1pPr>
          </a:lstStyle>
          <a:p>
            <a:r>
              <a:rPr lang="en-US"/>
              <a:t>Insert title here</a:t>
            </a:r>
          </a:p>
        </p:txBody>
      </p:sp>
      <p:sp>
        <p:nvSpPr>
          <p:cNvPr id="8" name="Subtitle 2">
            <a:extLst>
              <a:ext uri="{FF2B5EF4-FFF2-40B4-BE49-F238E27FC236}">
                <a16:creationId xmlns:a16="http://schemas.microsoft.com/office/drawing/2014/main" id="{209CC427-036A-DF41-B3F4-26E0589F9AB5}"/>
              </a:ext>
            </a:extLst>
          </p:cNvPr>
          <p:cNvSpPr>
            <a:spLocks noGrp="1"/>
          </p:cNvSpPr>
          <p:nvPr>
            <p:ph type="subTitle" idx="1" hasCustomPrompt="1"/>
          </p:nvPr>
        </p:nvSpPr>
        <p:spPr>
          <a:xfrm>
            <a:off x="447057" y="3434400"/>
            <a:ext cx="5322807" cy="1026042"/>
          </a:xfrm>
        </p:spPr>
        <p:txBody>
          <a:bodyPr>
            <a:noAutofit/>
          </a:bodyPr>
          <a:lstStyle>
            <a:lvl1pPr marL="0" indent="0" algn="l">
              <a:buNone/>
              <a:defRPr sz="1800" b="0" i="0">
                <a:solidFill>
                  <a:srgbClr val="3C383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subtitles here</a:t>
            </a:r>
          </a:p>
        </p:txBody>
      </p:sp>
      <p:pic>
        <p:nvPicPr>
          <p:cNvPr id="10" name="Picture 9">
            <a:extLst>
              <a:ext uri="{FF2B5EF4-FFF2-40B4-BE49-F238E27FC236}">
                <a16:creationId xmlns:a16="http://schemas.microsoft.com/office/drawing/2014/main" id="{39EF6038-5824-0642-A122-B43A8A1E551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0266" y="6351691"/>
            <a:ext cx="832659" cy="297469"/>
          </a:xfrm>
          <a:prstGeom prst="rect">
            <a:avLst/>
          </a:prstGeom>
        </p:spPr>
      </p:pic>
      <p:sp>
        <p:nvSpPr>
          <p:cNvPr id="12" name="Text Placeholder 14">
            <a:extLst>
              <a:ext uri="{FF2B5EF4-FFF2-40B4-BE49-F238E27FC236}">
                <a16:creationId xmlns:a16="http://schemas.microsoft.com/office/drawing/2014/main" id="{2844DB65-4804-FD49-BA71-3CEF7318713F}"/>
              </a:ext>
            </a:extLst>
          </p:cNvPr>
          <p:cNvSpPr>
            <a:spLocks noGrp="1"/>
          </p:cNvSpPr>
          <p:nvPr>
            <p:ph type="body" sz="quarter" idx="10" hasCustomPrompt="1"/>
          </p:nvPr>
        </p:nvSpPr>
        <p:spPr>
          <a:xfrm>
            <a:off x="446488" y="4795238"/>
            <a:ext cx="5322806" cy="596893"/>
          </a:xfrm>
        </p:spPr>
        <p:txBody>
          <a:bodyPr>
            <a:noAutofit/>
          </a:bodyPr>
          <a:lstStyle>
            <a:lvl1pPr marL="0" indent="0">
              <a:lnSpc>
                <a:spcPct val="100000"/>
              </a:lnSpc>
              <a:spcBef>
                <a:spcPts val="0"/>
              </a:spcBef>
              <a:buNone/>
              <a:defRPr sz="1600">
                <a:solidFill>
                  <a:srgbClr val="3C3835"/>
                </a:solidFill>
              </a:defRPr>
            </a:lvl1pPr>
          </a:lstStyle>
          <a:p>
            <a:pPr lvl="0"/>
            <a:r>
              <a:rPr lang="en-US"/>
              <a:t>Description (optional).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11" name="Picture 10">
            <a:extLst>
              <a:ext uri="{FF2B5EF4-FFF2-40B4-BE49-F238E27FC236}">
                <a16:creationId xmlns:a16="http://schemas.microsoft.com/office/drawing/2014/main" id="{EC3414D3-2441-A840-A2D7-D8A423B5EB0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346840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8286032"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endParaRPr lang="en-US"/>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7" name="Picture 6">
            <a:extLst>
              <a:ext uri="{FF2B5EF4-FFF2-40B4-BE49-F238E27FC236}">
                <a16:creationId xmlns:a16="http://schemas.microsoft.com/office/drawing/2014/main" id="{54934649-81EA-C040-8624-BAA45A60EF2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112761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a:t>Insert header keeping to a maximum of two lines</a:t>
            </a:r>
            <a:endParaRPr lang="en-US"/>
          </a:p>
        </p:txBody>
      </p:sp>
      <p:sp>
        <p:nvSpPr>
          <p:cNvPr id="4" name="Content Placeholder 3"/>
          <p:cNvSpPr>
            <a:spLocks noGrp="1"/>
          </p:cNvSpPr>
          <p:nvPr>
            <p:ph sz="half" idx="2"/>
          </p:nvPr>
        </p:nvSpPr>
        <p:spPr>
          <a:xfrm>
            <a:off x="4718962" y="1306799"/>
            <a:ext cx="3978000" cy="48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3987695"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endParaRPr lang="en-US"/>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12" name="Picture 11">
            <a:extLst>
              <a:ext uri="{FF2B5EF4-FFF2-40B4-BE49-F238E27FC236}">
                <a16:creationId xmlns:a16="http://schemas.microsoft.com/office/drawing/2014/main" id="{367A2514-6E82-B148-ABE2-89EB820D20D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389917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6040122" y="1306800"/>
            <a:ext cx="2666446"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0" name="Content Placeholder 3">
            <a:extLst>
              <a:ext uri="{FF2B5EF4-FFF2-40B4-BE49-F238E27FC236}">
                <a16:creationId xmlns:a16="http://schemas.microsoft.com/office/drawing/2014/main" id="{B22114B2-EC77-C74B-9459-C66CF7E83624}"/>
              </a:ext>
            </a:extLst>
          </p:cNvPr>
          <p:cNvSpPr>
            <a:spLocks noGrp="1"/>
          </p:cNvSpPr>
          <p:nvPr>
            <p:ph sz="half" idx="11"/>
          </p:nvPr>
        </p:nvSpPr>
        <p:spPr>
          <a:xfrm>
            <a:off x="431800" y="1306799"/>
            <a:ext cx="5325968" cy="48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90F4185F-75D6-314D-89B0-BF87B6479CA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4164719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31800" y="1306800"/>
            <a:ext cx="2666446"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0" name="Content Placeholder 3">
            <a:extLst>
              <a:ext uri="{FF2B5EF4-FFF2-40B4-BE49-F238E27FC236}">
                <a16:creationId xmlns:a16="http://schemas.microsoft.com/office/drawing/2014/main" id="{B22114B2-EC77-C74B-9459-C66CF7E83624}"/>
              </a:ext>
            </a:extLst>
          </p:cNvPr>
          <p:cNvSpPr>
            <a:spLocks noGrp="1"/>
          </p:cNvSpPr>
          <p:nvPr>
            <p:ph sz="half" idx="11"/>
          </p:nvPr>
        </p:nvSpPr>
        <p:spPr>
          <a:xfrm>
            <a:off x="3382772" y="1306799"/>
            <a:ext cx="5325968" cy="48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7D937ACC-68A5-C241-8D13-BE5E3AAF0D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2918797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3982063" cy="744146"/>
          </a:xfrm>
        </p:spPr>
        <p:txBody>
          <a:bodyPr/>
          <a:lstStyle>
            <a:lvl1pPr>
              <a:defRPr/>
            </a:lvl1p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2019 </a:t>
            </a:r>
            <a:r>
              <a:rPr lang="pt" sz="800" err="1">
                <a:solidFill>
                  <a:srgbClr val="00B1A9"/>
                </a:solidFill>
                <a:latin typeface="Arial" panose="020B0604020202020204" pitchFamily="34" charset="0"/>
                <a:cs typeface="Arial" panose="020B0604020202020204" pitchFamily="34" charset="0"/>
              </a:rPr>
              <a:t>Petroliam</a:t>
            </a:r>
            <a:r>
              <a:rPr lang="pt" sz="800">
                <a:solidFill>
                  <a:srgbClr val="00B1A9"/>
                </a:solidFill>
                <a:latin typeface="Arial" panose="020B0604020202020204" pitchFamily="34" charset="0"/>
                <a:cs typeface="Arial" panose="020B0604020202020204" pitchFamily="34" charset="0"/>
              </a:rPr>
              <a:t> </a:t>
            </a:r>
            <a:r>
              <a:rPr lang="pt" sz="800" err="1">
                <a:solidFill>
                  <a:srgbClr val="00B1A9"/>
                </a:solidFill>
                <a:latin typeface="Arial" panose="020B0604020202020204" pitchFamily="34" charset="0"/>
                <a:cs typeface="Arial" panose="020B0604020202020204" pitchFamily="34" charset="0"/>
              </a:rPr>
              <a:t>Nasional</a:t>
            </a:r>
            <a:r>
              <a:rPr lang="pt" sz="800">
                <a:solidFill>
                  <a:srgbClr val="00B1A9"/>
                </a:solidFill>
                <a:latin typeface="Arial" panose="020B0604020202020204" pitchFamily="34" charset="0"/>
                <a:cs typeface="Arial" panose="020B0604020202020204" pitchFamily="34" charset="0"/>
              </a:rPr>
              <a:t> </a:t>
            </a:r>
            <a:r>
              <a:rPr lang="pt" sz="800" err="1">
                <a:solidFill>
                  <a:srgbClr val="00B1A9"/>
                </a:solidFill>
                <a:latin typeface="Arial" panose="020B0604020202020204" pitchFamily="34" charset="0"/>
                <a:cs typeface="Arial" panose="020B0604020202020204" pitchFamily="34" charset="0"/>
              </a:rPr>
              <a:t>Berhad</a:t>
            </a:r>
            <a:r>
              <a:rPr lang="pt" sz="800">
                <a:solidFill>
                  <a:srgbClr val="00B1A9"/>
                </a:solidFill>
                <a:latin typeface="Arial" panose="020B0604020202020204" pitchFamily="34" charset="0"/>
                <a:cs typeface="Arial" panose="020B0604020202020204" pitchFamily="34" charset="0"/>
              </a:rPr>
              <a:t>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3987695"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endParaRPr lang="en-US"/>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0" name="Picture Placeholder 4">
            <a:extLst>
              <a:ext uri="{FF2B5EF4-FFF2-40B4-BE49-F238E27FC236}">
                <a16:creationId xmlns:a16="http://schemas.microsoft.com/office/drawing/2014/main" id="{23DA2F86-CD1B-514F-B078-071E73B69447}"/>
              </a:ext>
            </a:extLst>
          </p:cNvPr>
          <p:cNvSpPr>
            <a:spLocks noGrp="1"/>
          </p:cNvSpPr>
          <p:nvPr>
            <p:ph type="pic" sz="quarter" idx="11" hasCustomPrompt="1"/>
          </p:nvPr>
        </p:nvSpPr>
        <p:spPr>
          <a:xfrm>
            <a:off x="4719639" y="0"/>
            <a:ext cx="4424362" cy="6858000"/>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a:t>Click to insert image</a:t>
            </a:r>
          </a:p>
        </p:txBody>
      </p:sp>
      <p:pic>
        <p:nvPicPr>
          <p:cNvPr id="12" name="Picture 11">
            <a:extLst>
              <a:ext uri="{FF2B5EF4-FFF2-40B4-BE49-F238E27FC236}">
                <a16:creationId xmlns:a16="http://schemas.microsoft.com/office/drawing/2014/main" id="{5F8988C3-8A48-4245-9FD0-9E2303A181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2448361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5325968" cy="744146"/>
          </a:xfrm>
        </p:spPr>
        <p:txBody>
          <a:bodyPr/>
          <a:lstStyle>
            <a:lvl1pPr>
              <a:defRPr/>
            </a:lvl1p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2019 </a:t>
            </a:r>
            <a:r>
              <a:rPr lang="pt" sz="800" err="1">
                <a:solidFill>
                  <a:srgbClr val="00B1A9"/>
                </a:solidFill>
                <a:latin typeface="Arial" panose="020B0604020202020204" pitchFamily="34" charset="0"/>
                <a:cs typeface="Arial" panose="020B0604020202020204" pitchFamily="34" charset="0"/>
              </a:rPr>
              <a:t>Petroliam</a:t>
            </a:r>
            <a:r>
              <a:rPr lang="pt" sz="800">
                <a:solidFill>
                  <a:srgbClr val="00B1A9"/>
                </a:solidFill>
                <a:latin typeface="Arial" panose="020B0604020202020204" pitchFamily="34" charset="0"/>
                <a:cs typeface="Arial" panose="020B0604020202020204" pitchFamily="34" charset="0"/>
              </a:rPr>
              <a:t> </a:t>
            </a:r>
            <a:r>
              <a:rPr lang="pt" sz="800" err="1">
                <a:solidFill>
                  <a:srgbClr val="00B1A9"/>
                </a:solidFill>
                <a:latin typeface="Arial" panose="020B0604020202020204" pitchFamily="34" charset="0"/>
                <a:cs typeface="Arial" panose="020B0604020202020204" pitchFamily="34" charset="0"/>
              </a:rPr>
              <a:t>Nasional</a:t>
            </a:r>
            <a:r>
              <a:rPr lang="pt" sz="800">
                <a:solidFill>
                  <a:srgbClr val="00B1A9"/>
                </a:solidFill>
                <a:latin typeface="Arial" panose="020B0604020202020204" pitchFamily="34" charset="0"/>
                <a:cs typeface="Arial" panose="020B0604020202020204" pitchFamily="34" charset="0"/>
              </a:rPr>
              <a:t> </a:t>
            </a:r>
            <a:r>
              <a:rPr lang="pt" sz="800" err="1">
                <a:solidFill>
                  <a:srgbClr val="00B1A9"/>
                </a:solidFill>
                <a:latin typeface="Arial" panose="020B0604020202020204" pitchFamily="34" charset="0"/>
                <a:cs typeface="Arial" panose="020B0604020202020204" pitchFamily="34" charset="0"/>
              </a:rPr>
              <a:t>Berhad</a:t>
            </a:r>
            <a:r>
              <a:rPr lang="pt" sz="800">
                <a:solidFill>
                  <a:srgbClr val="00B1A9"/>
                </a:solidFill>
                <a:latin typeface="Arial" panose="020B0604020202020204" pitchFamily="34" charset="0"/>
                <a:cs typeface="Arial" panose="020B0604020202020204" pitchFamily="34" charset="0"/>
              </a:rPr>
              <a:t>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7" name="Picture Placeholder 4">
            <a:extLst>
              <a:ext uri="{FF2B5EF4-FFF2-40B4-BE49-F238E27FC236}">
                <a16:creationId xmlns:a16="http://schemas.microsoft.com/office/drawing/2014/main" id="{313FE915-D00F-1945-A8B6-CD92D0DF0E5C}"/>
              </a:ext>
            </a:extLst>
          </p:cNvPr>
          <p:cNvSpPr>
            <a:spLocks noGrp="1"/>
          </p:cNvSpPr>
          <p:nvPr>
            <p:ph type="pic" sz="quarter" idx="11" hasCustomPrompt="1"/>
          </p:nvPr>
        </p:nvSpPr>
        <p:spPr>
          <a:xfrm>
            <a:off x="6045753" y="0"/>
            <a:ext cx="3098247" cy="6858000"/>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a:t>Click to insert image</a:t>
            </a:r>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31800" y="1306800"/>
            <a:ext cx="5325968"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pic>
        <p:nvPicPr>
          <p:cNvPr id="12" name="Picture 11">
            <a:extLst>
              <a:ext uri="{FF2B5EF4-FFF2-40B4-BE49-F238E27FC236}">
                <a16:creationId xmlns:a16="http://schemas.microsoft.com/office/drawing/2014/main" id="{D5B7B3DA-5732-3440-99BA-E3C630F986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854932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86232" y="376702"/>
            <a:ext cx="5325968" cy="744146"/>
          </a:xfrm>
        </p:spPr>
        <p:txBody>
          <a:bodyPr/>
          <a:lstStyle>
            <a:lvl1pPr>
              <a:defRPr/>
            </a:lvl1p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7" name="Picture Placeholder 4">
            <a:extLst>
              <a:ext uri="{FF2B5EF4-FFF2-40B4-BE49-F238E27FC236}">
                <a16:creationId xmlns:a16="http://schemas.microsoft.com/office/drawing/2014/main" id="{313FE915-D00F-1945-A8B6-CD92D0DF0E5C}"/>
              </a:ext>
            </a:extLst>
          </p:cNvPr>
          <p:cNvSpPr>
            <a:spLocks noGrp="1"/>
          </p:cNvSpPr>
          <p:nvPr>
            <p:ph type="pic" sz="quarter" idx="11" hasCustomPrompt="1"/>
          </p:nvPr>
        </p:nvSpPr>
        <p:spPr>
          <a:xfrm>
            <a:off x="0" y="0"/>
            <a:ext cx="3098247" cy="6858000"/>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a:t>Click to insert image</a:t>
            </a:r>
          </a:p>
        </p:txBody>
      </p:sp>
      <p:sp>
        <p:nvSpPr>
          <p:cNvPr id="12" name="Text Placeholder 14">
            <a:extLst>
              <a:ext uri="{FF2B5EF4-FFF2-40B4-BE49-F238E27FC236}">
                <a16:creationId xmlns:a16="http://schemas.microsoft.com/office/drawing/2014/main" id="{2E2ED0D0-2C22-BB4C-8B0E-07933DF6A0ED}"/>
              </a:ext>
            </a:extLst>
          </p:cNvPr>
          <p:cNvSpPr>
            <a:spLocks noGrp="1"/>
          </p:cNvSpPr>
          <p:nvPr>
            <p:ph type="body" sz="quarter" idx="10" hasCustomPrompt="1"/>
          </p:nvPr>
        </p:nvSpPr>
        <p:spPr>
          <a:xfrm>
            <a:off x="3386232" y="1306800"/>
            <a:ext cx="5325968"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376109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lvl1pPr>
              <a:defRPr/>
            </a:lvl1p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11" name="Text Placeholder 14">
            <a:extLst>
              <a:ext uri="{FF2B5EF4-FFF2-40B4-BE49-F238E27FC236}">
                <a16:creationId xmlns:a16="http://schemas.microsoft.com/office/drawing/2014/main" id="{6917BEC2-45FB-5A4F-B8E7-668ABD1CB750}"/>
              </a:ext>
            </a:extLst>
          </p:cNvPr>
          <p:cNvSpPr>
            <a:spLocks noGrp="1"/>
          </p:cNvSpPr>
          <p:nvPr>
            <p:ph type="body" sz="quarter" idx="10" hasCustomPrompt="1"/>
          </p:nvPr>
        </p:nvSpPr>
        <p:spPr>
          <a:xfrm>
            <a:off x="426168" y="1306800"/>
            <a:ext cx="3987695" cy="4838400"/>
          </a:xfrm>
        </p:spPr>
        <p:txBody>
          <a:bodyPr>
            <a:noAutofit/>
          </a:bodyPr>
          <a:lstStyle>
            <a:lvl1pPr marL="0" indent="0">
              <a:lnSpc>
                <a:spcPct val="100000"/>
              </a:lnSpc>
              <a:spcBef>
                <a:spcPts val="0"/>
              </a:spcBef>
              <a:buNone/>
              <a:defRPr sz="3800" b="1" i="0">
                <a:solidFill>
                  <a:srgbClr val="00B1A9"/>
                </a:solidFill>
                <a:latin typeface="Arial Black" panose="020B0604020202020204" pitchFamily="34" charset="0"/>
                <a:cs typeface="Arial Black" panose="020B0604020202020204" pitchFamily="34" charset="0"/>
              </a:defRPr>
            </a:lvl1pPr>
          </a:lstStyle>
          <a:p>
            <a:pPr marL="0" indent="0">
              <a:lnSpc>
                <a:spcPct val="100000"/>
              </a:lnSpc>
              <a:buNone/>
            </a:pPr>
            <a:r>
              <a:rPr lang="en-US"/>
              <a:t>“Insert a quote here investing in visionary thinkers and technologies”</a:t>
            </a:r>
          </a:p>
        </p:txBody>
      </p:sp>
      <p:sp>
        <p:nvSpPr>
          <p:cNvPr id="10" name="Text Placeholder 14">
            <a:extLst>
              <a:ext uri="{FF2B5EF4-FFF2-40B4-BE49-F238E27FC236}">
                <a16:creationId xmlns:a16="http://schemas.microsoft.com/office/drawing/2014/main" id="{8A3E5904-DF31-1E44-90BD-C581B58E32EF}"/>
              </a:ext>
            </a:extLst>
          </p:cNvPr>
          <p:cNvSpPr>
            <a:spLocks noGrp="1"/>
          </p:cNvSpPr>
          <p:nvPr>
            <p:ph type="body" sz="quarter" idx="11" hasCustomPrompt="1"/>
          </p:nvPr>
        </p:nvSpPr>
        <p:spPr>
          <a:xfrm>
            <a:off x="4718873" y="1306800"/>
            <a:ext cx="3987695" cy="4838400"/>
          </a:xfrm>
        </p:spPr>
        <p:txBody>
          <a:bodyPr>
            <a:noAutofit/>
          </a:bodyPr>
          <a:lstStyle>
            <a:lvl1pPr marL="0" indent="0">
              <a:lnSpc>
                <a:spcPct val="100000"/>
              </a:lnSpc>
              <a:spcBef>
                <a:spcPts val="0"/>
              </a:spcBef>
              <a:buNone/>
              <a:defRPr sz="1600">
                <a:solidFill>
                  <a:schemeClr val="tx1"/>
                </a:solidFill>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endParaRPr lang="en-US"/>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12" name="Picture 11">
            <a:extLst>
              <a:ext uri="{FF2B5EF4-FFF2-40B4-BE49-F238E27FC236}">
                <a16:creationId xmlns:a16="http://schemas.microsoft.com/office/drawing/2014/main" id="{10D31D17-7B06-514D-8550-14E9B760A39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3042509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con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1800" y="376702"/>
            <a:ext cx="8280400" cy="744146"/>
          </a:xfrm>
        </p:spPr>
        <p:txBody>
          <a:bodyPr/>
          <a:lstStyle/>
          <a:p>
            <a:r>
              <a:rPr lang="en-GB"/>
              <a:t>Insert header keeping to a maximum of two lines</a:t>
            </a:r>
            <a:endParaRPr lang="en-US"/>
          </a:p>
        </p:txBody>
      </p:sp>
      <p:sp>
        <p:nvSpPr>
          <p:cNvPr id="8" name="TextBox 7">
            <a:extLst>
              <a:ext uri="{FF2B5EF4-FFF2-40B4-BE49-F238E27FC236}">
                <a16:creationId xmlns:a16="http://schemas.microsoft.com/office/drawing/2014/main" id="{45DD160B-CBC5-B34B-BE0E-799A8F8DFB60}"/>
              </a:ext>
            </a:extLst>
          </p:cNvPr>
          <p:cNvSpPr txBox="1"/>
          <p:nvPr userDrawn="1"/>
        </p:nvSpPr>
        <p:spPr>
          <a:xfrm>
            <a:off x="5956388"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latin typeface="Arial" panose="020B0604020202020204" pitchFamily="34" charset="0"/>
                <a:cs typeface="Arial" panose="020B0604020202020204" pitchFamily="34" charset="0"/>
              </a:rPr>
              <a:t>© 2024 Petroliam Nasional Berhad (PETRONAS)     |</a:t>
            </a:r>
            <a:endParaRPr lang="en-US" sz="800">
              <a:solidFill>
                <a:srgbClr val="00B1A9"/>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DB778110-4AE8-2C45-B79C-9F68FCEA23CA}"/>
              </a:ext>
            </a:extLst>
          </p:cNvPr>
          <p:cNvSpPr>
            <a:spLocks noGrp="1"/>
          </p:cNvSpPr>
          <p:nvPr>
            <p:ph type="sldNum" sz="quarter" idx="4"/>
          </p:nvPr>
        </p:nvSpPr>
        <p:spPr>
          <a:xfrm>
            <a:off x="8474473" y="6345063"/>
            <a:ext cx="237725" cy="215444"/>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21" name="Text Placeholder 15">
            <a:extLst>
              <a:ext uri="{FF2B5EF4-FFF2-40B4-BE49-F238E27FC236}">
                <a16:creationId xmlns:a16="http://schemas.microsoft.com/office/drawing/2014/main" id="{93E86E4E-05EA-9F44-BA85-F2B1EE480B4F}"/>
              </a:ext>
            </a:extLst>
          </p:cNvPr>
          <p:cNvSpPr>
            <a:spLocks noGrp="1"/>
          </p:cNvSpPr>
          <p:nvPr>
            <p:ph type="body" sz="quarter" idx="17" hasCustomPrompt="1"/>
          </p:nvPr>
        </p:nvSpPr>
        <p:spPr>
          <a:xfrm>
            <a:off x="431800"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22" name="Text Placeholder 15">
            <a:extLst>
              <a:ext uri="{FF2B5EF4-FFF2-40B4-BE49-F238E27FC236}">
                <a16:creationId xmlns:a16="http://schemas.microsoft.com/office/drawing/2014/main" id="{89496E08-6F62-3F48-A55D-062F08267993}"/>
              </a:ext>
            </a:extLst>
          </p:cNvPr>
          <p:cNvSpPr>
            <a:spLocks noGrp="1"/>
          </p:cNvSpPr>
          <p:nvPr>
            <p:ph type="body" sz="quarter" idx="18" hasCustomPrompt="1"/>
          </p:nvPr>
        </p:nvSpPr>
        <p:spPr>
          <a:xfrm>
            <a:off x="431800"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3" name="Text Placeholder 15">
            <a:extLst>
              <a:ext uri="{FF2B5EF4-FFF2-40B4-BE49-F238E27FC236}">
                <a16:creationId xmlns:a16="http://schemas.microsoft.com/office/drawing/2014/main" id="{564AC605-A8C9-5347-BFD8-357CFE9121EC}"/>
              </a:ext>
            </a:extLst>
          </p:cNvPr>
          <p:cNvSpPr>
            <a:spLocks noGrp="1"/>
          </p:cNvSpPr>
          <p:nvPr>
            <p:ph type="body" sz="quarter" idx="19" hasCustomPrompt="1"/>
          </p:nvPr>
        </p:nvSpPr>
        <p:spPr>
          <a:xfrm>
            <a:off x="3525125"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24" name="Text Placeholder 15">
            <a:extLst>
              <a:ext uri="{FF2B5EF4-FFF2-40B4-BE49-F238E27FC236}">
                <a16:creationId xmlns:a16="http://schemas.microsoft.com/office/drawing/2014/main" id="{EEF7C4AD-214F-6145-B2C3-DAD206C7FC16}"/>
              </a:ext>
            </a:extLst>
          </p:cNvPr>
          <p:cNvSpPr>
            <a:spLocks noGrp="1"/>
          </p:cNvSpPr>
          <p:nvPr>
            <p:ph type="body" sz="quarter" idx="20" hasCustomPrompt="1"/>
          </p:nvPr>
        </p:nvSpPr>
        <p:spPr>
          <a:xfrm>
            <a:off x="3525125"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5" name="Text Placeholder 15">
            <a:extLst>
              <a:ext uri="{FF2B5EF4-FFF2-40B4-BE49-F238E27FC236}">
                <a16:creationId xmlns:a16="http://schemas.microsoft.com/office/drawing/2014/main" id="{8A05E654-2C17-F442-A60A-E6D82D651266}"/>
              </a:ext>
            </a:extLst>
          </p:cNvPr>
          <p:cNvSpPr>
            <a:spLocks noGrp="1"/>
          </p:cNvSpPr>
          <p:nvPr>
            <p:ph type="body" sz="quarter" idx="21" hasCustomPrompt="1"/>
          </p:nvPr>
        </p:nvSpPr>
        <p:spPr>
          <a:xfrm>
            <a:off x="6630381" y="3748183"/>
            <a:ext cx="2090191"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26" name="Text Placeholder 15">
            <a:extLst>
              <a:ext uri="{FF2B5EF4-FFF2-40B4-BE49-F238E27FC236}">
                <a16:creationId xmlns:a16="http://schemas.microsoft.com/office/drawing/2014/main" id="{B21C1733-6E92-EF4A-95D2-CB540BDF899A}"/>
              </a:ext>
            </a:extLst>
          </p:cNvPr>
          <p:cNvSpPr>
            <a:spLocks noGrp="1"/>
          </p:cNvSpPr>
          <p:nvPr>
            <p:ph type="body" sz="quarter" idx="22" hasCustomPrompt="1"/>
          </p:nvPr>
        </p:nvSpPr>
        <p:spPr>
          <a:xfrm>
            <a:off x="6621586"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9" name="Picture Placeholder 8">
            <a:extLst>
              <a:ext uri="{FF2B5EF4-FFF2-40B4-BE49-F238E27FC236}">
                <a16:creationId xmlns:a16="http://schemas.microsoft.com/office/drawing/2014/main" id="{9AA14840-8BCD-8848-8088-BF992AE25EFC}"/>
              </a:ext>
            </a:extLst>
          </p:cNvPr>
          <p:cNvSpPr>
            <a:spLocks noGrp="1" noChangeAspect="1"/>
          </p:cNvSpPr>
          <p:nvPr>
            <p:ph type="pic" sz="quarter" idx="13" hasCustomPrompt="1"/>
          </p:nvPr>
        </p:nvSpPr>
        <p:spPr>
          <a:xfrm>
            <a:off x="732493" y="1989312"/>
            <a:ext cx="1497600" cy="1317600"/>
          </a:xfrm>
          <a:blipFill>
            <a:blip r:embed="rId2"/>
            <a:stretch>
              <a:fillRect/>
            </a:stretch>
          </a:blipFill>
        </p:spPr>
        <p:txBody>
          <a:bodyPr anchor="ctr" anchorCtr="0">
            <a:normAutofit/>
          </a:bodyPr>
          <a:lstStyle>
            <a:lvl1pPr marL="0" indent="0" algn="ctr">
              <a:buNone/>
              <a:defRPr sz="800">
                <a:solidFill>
                  <a:srgbClr val="3C3835"/>
                </a:solidFill>
              </a:defRPr>
            </a:lvl1pPr>
          </a:lstStyle>
          <a:p>
            <a:r>
              <a:rPr lang="en-US"/>
              <a:t>Click to replace</a:t>
            </a:r>
          </a:p>
        </p:txBody>
      </p:sp>
      <p:sp>
        <p:nvSpPr>
          <p:cNvPr id="30" name="Picture Placeholder 8">
            <a:extLst>
              <a:ext uri="{FF2B5EF4-FFF2-40B4-BE49-F238E27FC236}">
                <a16:creationId xmlns:a16="http://schemas.microsoft.com/office/drawing/2014/main" id="{DCD6480D-FBF1-224A-8E18-4EE6A75E5F34}"/>
              </a:ext>
            </a:extLst>
          </p:cNvPr>
          <p:cNvSpPr>
            <a:spLocks noGrp="1"/>
          </p:cNvSpPr>
          <p:nvPr>
            <p:ph type="pic" sz="quarter" idx="14" hasCustomPrompt="1"/>
          </p:nvPr>
        </p:nvSpPr>
        <p:spPr>
          <a:xfrm>
            <a:off x="3716019" y="2088312"/>
            <a:ext cx="1717199" cy="1170000"/>
          </a:xfrm>
          <a:blipFill>
            <a:blip r:embed="rId3"/>
            <a:stretch>
              <a:fillRect/>
            </a:stretch>
          </a:blipFill>
        </p:spPr>
        <p:txBody>
          <a:bodyPr anchor="ctr" anchorCtr="0">
            <a:normAutofit/>
          </a:bodyPr>
          <a:lstStyle>
            <a:lvl1pPr marL="0" indent="0" algn="ctr">
              <a:buNone/>
              <a:defRPr sz="800">
                <a:solidFill>
                  <a:srgbClr val="3C3835"/>
                </a:solidFill>
              </a:defRPr>
            </a:lvl1pPr>
          </a:lstStyle>
          <a:p>
            <a:r>
              <a:rPr lang="en-US"/>
              <a:t>Click to replace</a:t>
            </a:r>
          </a:p>
        </p:txBody>
      </p:sp>
      <p:sp>
        <p:nvSpPr>
          <p:cNvPr id="31" name="Picture Placeholder 8">
            <a:extLst>
              <a:ext uri="{FF2B5EF4-FFF2-40B4-BE49-F238E27FC236}">
                <a16:creationId xmlns:a16="http://schemas.microsoft.com/office/drawing/2014/main" id="{DA157309-5AB4-2744-9F3E-4FBE257646CE}"/>
              </a:ext>
            </a:extLst>
          </p:cNvPr>
          <p:cNvSpPr>
            <a:spLocks noGrp="1"/>
          </p:cNvSpPr>
          <p:nvPr>
            <p:ph type="pic" sz="quarter" idx="15" hasCustomPrompt="1"/>
          </p:nvPr>
        </p:nvSpPr>
        <p:spPr>
          <a:xfrm>
            <a:off x="7222879" y="2037912"/>
            <a:ext cx="896400" cy="1220400"/>
          </a:xfrm>
          <a:blipFill>
            <a:blip r:embed="rId4"/>
            <a:stretch>
              <a:fillRect/>
            </a:stretch>
          </a:blipFill>
        </p:spPr>
        <p:txBody>
          <a:bodyPr anchor="ctr" anchorCtr="0">
            <a:normAutofit/>
          </a:bodyPr>
          <a:lstStyle>
            <a:lvl1pPr marL="0" indent="0" algn="ctr">
              <a:buNone/>
              <a:defRPr sz="800">
                <a:solidFill>
                  <a:srgbClr val="3C3835"/>
                </a:solidFill>
              </a:defRPr>
            </a:lvl1pPr>
          </a:lstStyle>
          <a:p>
            <a:r>
              <a:rPr lang="en-US"/>
              <a:t>Click to replace</a:t>
            </a:r>
          </a:p>
        </p:txBody>
      </p:sp>
      <p:pic>
        <p:nvPicPr>
          <p:cNvPr id="16" name="Picture 15">
            <a:extLst>
              <a:ext uri="{FF2B5EF4-FFF2-40B4-BE49-F238E27FC236}">
                <a16:creationId xmlns:a16="http://schemas.microsoft.com/office/drawing/2014/main" id="{42B0126C-8CFE-EE46-B3E9-1255A6DEDB2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49957" y="6349459"/>
            <a:ext cx="835200" cy="300672"/>
          </a:xfrm>
          <a:prstGeom prst="rect">
            <a:avLst/>
          </a:prstGeom>
        </p:spPr>
      </p:pic>
    </p:spTree>
    <p:extLst>
      <p:ext uri="{BB962C8B-B14F-4D97-AF65-F5344CB8AC3E}">
        <p14:creationId xmlns:p14="http://schemas.microsoft.com/office/powerpoint/2010/main" val="4293341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medi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4A912FB-8A4A-2347-9713-20B37768DEDC}"/>
              </a:ext>
            </a:extLst>
          </p:cNvPr>
          <p:cNvSpPr>
            <a:spLocks noGrp="1"/>
          </p:cNvSpPr>
          <p:nvPr>
            <p:ph type="pic" sz="quarter" idx="10" hasCustomPrompt="1"/>
          </p:nvPr>
        </p:nvSpPr>
        <p:spPr>
          <a:xfrm>
            <a:off x="0" y="0"/>
            <a:ext cx="9144000" cy="6860187"/>
          </a:xfrm>
          <a:solidFill>
            <a:schemeClr val="bg1">
              <a:lumMod val="95000"/>
            </a:schemeClr>
          </a:solidFill>
        </p:spPr>
        <p:txBody>
          <a:bodyPr anchor="ctr" anchorCtr="0">
            <a:normAutofit/>
          </a:bodyPr>
          <a:lstStyle>
            <a:lvl1pPr marL="0" indent="0" algn="ctr">
              <a:buNone/>
              <a:defRPr sz="1200">
                <a:solidFill>
                  <a:schemeClr val="tx1"/>
                </a:solidFill>
              </a:defRPr>
            </a:lvl1pPr>
          </a:lstStyle>
          <a:p>
            <a:r>
              <a:rPr lang="en-US"/>
              <a:t>Click to insert image</a:t>
            </a:r>
          </a:p>
        </p:txBody>
      </p:sp>
      <p:sp>
        <p:nvSpPr>
          <p:cNvPr id="6" name="Text Placeholder 5">
            <a:extLst>
              <a:ext uri="{FF2B5EF4-FFF2-40B4-BE49-F238E27FC236}">
                <a16:creationId xmlns:a16="http://schemas.microsoft.com/office/drawing/2014/main" id="{873AFE18-50B1-A84C-9986-C859606BB510}"/>
              </a:ext>
            </a:extLst>
          </p:cNvPr>
          <p:cNvSpPr>
            <a:spLocks noGrp="1"/>
          </p:cNvSpPr>
          <p:nvPr>
            <p:ph type="body" sz="quarter" idx="11" hasCustomPrompt="1"/>
          </p:nvPr>
        </p:nvSpPr>
        <p:spPr>
          <a:xfrm>
            <a:off x="4572000" y="368300"/>
            <a:ext cx="4140199" cy="1471612"/>
          </a:xfrm>
        </p:spPr>
        <p:txBody>
          <a:bodyPr>
            <a:noAutofit/>
          </a:bodyPr>
          <a:lstStyle>
            <a:lvl1pPr marL="0" indent="0">
              <a:buNone/>
              <a:defRPr sz="4800" b="1" i="0">
                <a:solidFill>
                  <a:srgbClr val="00B1A9"/>
                </a:solidFill>
                <a:latin typeface="Arial Black" panose="020B0604020202020204" pitchFamily="34" charset="0"/>
                <a:cs typeface="Arial Black" panose="020B0604020202020204" pitchFamily="34" charset="0"/>
              </a:defRPr>
            </a:lvl1pPr>
          </a:lstStyle>
          <a:p>
            <a:pPr lvl="0"/>
            <a:r>
              <a:rPr lang="en-GB"/>
              <a:t>“Insert a quote here”</a:t>
            </a:r>
            <a:endParaRPr lang="en-US"/>
          </a:p>
        </p:txBody>
      </p:sp>
      <p:pic>
        <p:nvPicPr>
          <p:cNvPr id="7" name="Picture 6">
            <a:extLst>
              <a:ext uri="{FF2B5EF4-FFF2-40B4-BE49-F238E27FC236}">
                <a16:creationId xmlns:a16="http://schemas.microsoft.com/office/drawing/2014/main" id="{1DDCEF33-99DE-5242-AB52-7CBF69C1B3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8675" y="6336000"/>
            <a:ext cx="842400" cy="324324"/>
          </a:xfrm>
          <a:prstGeom prst="rect">
            <a:avLst/>
          </a:prstGeom>
        </p:spPr>
      </p:pic>
    </p:spTree>
    <p:extLst>
      <p:ext uri="{BB962C8B-B14F-4D97-AF65-F5344CB8AC3E}">
        <p14:creationId xmlns:p14="http://schemas.microsoft.com/office/powerpoint/2010/main" val="280166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F2205C8-902D-4A44-9657-01148E44C4AB}"/>
              </a:ext>
            </a:extLst>
          </p:cNvPr>
          <p:cNvSpPr>
            <a:spLocks noGrp="1"/>
          </p:cNvSpPr>
          <p:nvPr>
            <p:ph type="ctrTitle" hasCustomPrompt="1"/>
          </p:nvPr>
        </p:nvSpPr>
        <p:spPr>
          <a:xfrm>
            <a:off x="431801" y="3017481"/>
            <a:ext cx="8280400" cy="613017"/>
          </a:xfrm>
        </p:spPr>
        <p:txBody>
          <a:bodyPr anchor="ctr" anchorCtr="0">
            <a:noAutofit/>
          </a:bodyPr>
          <a:lstStyle>
            <a:lvl1pPr algn="ctr">
              <a:defRPr sz="2800">
                <a:solidFill>
                  <a:schemeClr val="bg1"/>
                </a:solidFill>
              </a:defRPr>
            </a:lvl1pPr>
          </a:lstStyle>
          <a:p>
            <a:r>
              <a:rPr lang="en-US"/>
              <a:t>Thank you for your passion!</a:t>
            </a:r>
          </a:p>
        </p:txBody>
      </p:sp>
      <p:pic>
        <p:nvPicPr>
          <p:cNvPr id="5" name="Picture 4">
            <a:extLst>
              <a:ext uri="{FF2B5EF4-FFF2-40B4-BE49-F238E27FC236}">
                <a16:creationId xmlns:a16="http://schemas.microsoft.com/office/drawing/2014/main" id="{1A55F5DD-CF2F-A943-9AF0-7CE41011965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44649" y="4722887"/>
            <a:ext cx="854702" cy="860400"/>
          </a:xfrm>
          <a:prstGeom prst="rect">
            <a:avLst/>
          </a:prstGeom>
        </p:spPr>
      </p:pic>
    </p:spTree>
    <p:extLst>
      <p:ext uri="{BB962C8B-B14F-4D97-AF65-F5344CB8AC3E}">
        <p14:creationId xmlns:p14="http://schemas.microsoft.com/office/powerpoint/2010/main" val="2929790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2011893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49757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34169511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1451984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1909068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1659232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12258002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96461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29031028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5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39388288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6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23426060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7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3959784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8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8526436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9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10224902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1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27209514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38659054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2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4009988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B51F7-23E1-D6FE-8F7B-932E36C75D8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D40DA1E0-119C-9415-005D-4FC3B694A68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8BE686E-5AC9-EBF2-4B96-776366DF0F14}"/>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5" name="Footer Placeholder 4">
            <a:extLst>
              <a:ext uri="{FF2B5EF4-FFF2-40B4-BE49-F238E27FC236}">
                <a16:creationId xmlns:a16="http://schemas.microsoft.com/office/drawing/2014/main" id="{009FE808-0B59-7F2D-D1B6-E08CEEDDBD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9EB667-AF14-EEF6-49D2-88C4B6AA4C40}"/>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21067574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3D2EF-4CD5-CD79-0316-BA32FE8965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AB3894-129F-C6D8-BA08-5E56945704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16F34A-DF44-858B-7BAB-8AB7F0BE3FA6}"/>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5" name="Footer Placeholder 4">
            <a:extLst>
              <a:ext uri="{FF2B5EF4-FFF2-40B4-BE49-F238E27FC236}">
                <a16:creationId xmlns:a16="http://schemas.microsoft.com/office/drawing/2014/main" id="{B62C6A25-30BB-C37A-E993-A5C38C587B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5A91A5-DE9C-64F9-74EE-2CC9DA6B59C8}"/>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28223465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2BCE4-0EF1-392A-BF8E-52ECDBB2B66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74B4616-640D-79B5-0024-212560F7AEC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36EAB6-F2C7-A39D-A522-5AC8843D0013}"/>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5" name="Footer Placeholder 4">
            <a:extLst>
              <a:ext uri="{FF2B5EF4-FFF2-40B4-BE49-F238E27FC236}">
                <a16:creationId xmlns:a16="http://schemas.microsoft.com/office/drawing/2014/main" id="{16FC9E17-89F9-98B0-C8FE-E9463CFE51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21829C-EAF3-44AB-B26E-6AE195CEF364}"/>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35563698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B3D0E-876D-9BC1-FEBD-790E337507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2340B3D-3416-234A-E3C1-7A0B584788D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0758D08-E76C-8F49-4FEC-6FBFA29AB91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BD6D66A-A953-C08A-7D5A-AD9FE4AF8F02}"/>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6" name="Footer Placeholder 5">
            <a:extLst>
              <a:ext uri="{FF2B5EF4-FFF2-40B4-BE49-F238E27FC236}">
                <a16:creationId xmlns:a16="http://schemas.microsoft.com/office/drawing/2014/main" id="{B26F4CBA-2D9D-0A1E-06D1-215AD8ED10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AD2AC-77AD-B2B5-DFDF-5390C485E219}"/>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31578014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02441-A34D-6726-02EB-54A33444B9FF}"/>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2F1E8B6-918C-4CA3-31EF-D5AAA116B37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4F128-D643-0892-8D39-50260580EC1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618E8AD-58DF-095F-912B-839C834E27D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BA3598C-AEE8-6D02-55FD-4A6A837D516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42E12A-003E-0EF5-C503-23485640C100}"/>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8" name="Footer Placeholder 7">
            <a:extLst>
              <a:ext uri="{FF2B5EF4-FFF2-40B4-BE49-F238E27FC236}">
                <a16:creationId xmlns:a16="http://schemas.microsoft.com/office/drawing/2014/main" id="{EF08E716-786D-0D30-B97E-2DE86A6A6AF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BE0FDD3-CD3B-12E6-35AA-661C93088E28}"/>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20116400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A5084-A546-86F9-90A3-B083CC473C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B4DF725-DA53-A3B3-C0B0-6D22CE9B1EBC}"/>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4" name="Footer Placeholder 3">
            <a:extLst>
              <a:ext uri="{FF2B5EF4-FFF2-40B4-BE49-F238E27FC236}">
                <a16:creationId xmlns:a16="http://schemas.microsoft.com/office/drawing/2014/main" id="{69844A9D-4E18-ECBD-342E-72A578102EE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59179CA-DD0D-91E4-6679-650AE0A08A00}"/>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17366659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D9C74-1FF3-3D11-D18A-A4DF252E9B1E}"/>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3" name="Footer Placeholder 2">
            <a:extLst>
              <a:ext uri="{FF2B5EF4-FFF2-40B4-BE49-F238E27FC236}">
                <a16:creationId xmlns:a16="http://schemas.microsoft.com/office/drawing/2014/main" id="{FCF3819A-6AF6-7E28-5D9A-F32BE098DF0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8866779-A088-E588-589E-2B2E87C5CC89}"/>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37602921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91B0-95E0-79FF-8A2B-59E849EC304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6D6CE34-FD31-CE81-4E82-B2B1CBD8B09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216E6E6-D08D-BB7C-9740-B53ADE031BD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D3CAABB-7EDE-4023-EFB1-B5B4956DB932}"/>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6" name="Footer Placeholder 5">
            <a:extLst>
              <a:ext uri="{FF2B5EF4-FFF2-40B4-BE49-F238E27FC236}">
                <a16:creationId xmlns:a16="http://schemas.microsoft.com/office/drawing/2014/main" id="{9355D5C1-EC26-D9D5-902C-884413D0A85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AA3A20-62B2-C667-D767-C506CED3C185}"/>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18381982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67027-40C8-62AB-02C5-5F8D940D8AD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AB3201E-6093-36E6-E5B9-96A2F6F7528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a:extLst>
              <a:ext uri="{FF2B5EF4-FFF2-40B4-BE49-F238E27FC236}">
                <a16:creationId xmlns:a16="http://schemas.microsoft.com/office/drawing/2014/main" id="{5269EBAA-101A-1EB2-D7EC-09D1782AD4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2E34258-BFDD-9EDD-CB0E-CE50A04735CB}"/>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6" name="Footer Placeholder 5">
            <a:extLst>
              <a:ext uri="{FF2B5EF4-FFF2-40B4-BE49-F238E27FC236}">
                <a16:creationId xmlns:a16="http://schemas.microsoft.com/office/drawing/2014/main" id="{77732BDE-A864-CE5C-68CA-573BCCEA0DC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764BDFC-EF3F-14BF-9C5E-CD60BF984CEA}"/>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14490336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D0E46-8C2E-7648-91C5-F2CA6ECF531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C6D6D9-9B97-3978-40A2-69D038B936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D596AA-99FF-475F-696B-2326F0A8AD32}"/>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5" name="Footer Placeholder 4">
            <a:extLst>
              <a:ext uri="{FF2B5EF4-FFF2-40B4-BE49-F238E27FC236}">
                <a16:creationId xmlns:a16="http://schemas.microsoft.com/office/drawing/2014/main" id="{877A4E96-8027-4093-F039-99B11BE7CD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3AB101-DC69-439F-97D4-EBE725DD9AF9}"/>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26690358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AD4441-1AE4-710F-BC50-66E83768AB15}"/>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787B58-FF8D-88FC-25E7-E4C27535578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21C5945-5315-7AF4-5441-6C9D782AFF3B}"/>
              </a:ext>
            </a:extLst>
          </p:cNvPr>
          <p:cNvSpPr>
            <a:spLocks noGrp="1"/>
          </p:cNvSpPr>
          <p:nvPr>
            <p:ph type="dt" sz="half" idx="10"/>
          </p:nvPr>
        </p:nvSpPr>
        <p:spPr/>
        <p:txBody>
          <a:bodyPr/>
          <a:lstStyle/>
          <a:p>
            <a:fld id="{2EAA4B37-D9B7-4EDD-A523-F9976506B395}" type="datetimeFigureOut">
              <a:rPr lang="en-GB" smtClean="0"/>
              <a:t>21/07/2026</a:t>
            </a:fld>
            <a:endParaRPr lang="en-GB"/>
          </a:p>
        </p:txBody>
      </p:sp>
      <p:sp>
        <p:nvSpPr>
          <p:cNvPr id="5" name="Footer Placeholder 4">
            <a:extLst>
              <a:ext uri="{FF2B5EF4-FFF2-40B4-BE49-F238E27FC236}">
                <a16:creationId xmlns:a16="http://schemas.microsoft.com/office/drawing/2014/main" id="{CE0202CF-A6DC-CA9E-225E-9ADD066134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67E4A0-6350-F56C-0C54-5D95B34DBD14}"/>
              </a:ext>
            </a:extLst>
          </p:cNvPr>
          <p:cNvSpPr>
            <a:spLocks noGrp="1"/>
          </p:cNvSpPr>
          <p:nvPr>
            <p:ph type="sldNum" sz="quarter" idx="12"/>
          </p:nvPr>
        </p:nvSpPr>
        <p:spPr/>
        <p:txBody>
          <a:bodyPr/>
          <a:lstStyle/>
          <a:p>
            <a:fld id="{8C69A830-3878-43D4-B8C0-F38E8B48DE87}" type="slidenum">
              <a:rPr lang="en-GB" smtClean="0"/>
              <a:t>‹#›</a:t>
            </a:fld>
            <a:endParaRPr lang="en-GB"/>
          </a:p>
        </p:txBody>
      </p:sp>
    </p:spTree>
    <p:extLst>
      <p:ext uri="{BB962C8B-B14F-4D97-AF65-F5344CB8AC3E}">
        <p14:creationId xmlns:p14="http://schemas.microsoft.com/office/powerpoint/2010/main" val="31357053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9_Section Header">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57200" y="838200"/>
            <a:ext cx="8229600" cy="167640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457200" y="381000"/>
            <a:ext cx="8229600" cy="533400"/>
          </a:xfrm>
        </p:spPr>
        <p:txBody>
          <a:bodyPr>
            <a:noAutofit/>
          </a:bodyPr>
          <a:lstStyle>
            <a:lvl1pPr>
              <a:defRPr sz="2400"/>
            </a:lvl1pPr>
          </a:lstStyle>
          <a:p>
            <a:r>
              <a:rPr lang="en-US"/>
              <a:t>Click to edit Master title style</a:t>
            </a:r>
          </a:p>
        </p:txBody>
      </p:sp>
    </p:spTree>
    <p:extLst>
      <p:ext uri="{BB962C8B-B14F-4D97-AF65-F5344CB8AC3E}">
        <p14:creationId xmlns:p14="http://schemas.microsoft.com/office/powerpoint/2010/main" val="2256124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heme" Target="../theme/theme2.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1800" y="365127"/>
            <a:ext cx="8280400" cy="744146"/>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431799" y="1306800"/>
            <a:ext cx="8280399" cy="48706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C1F02E52-6825-6A46-BE64-733D0090607A}"/>
              </a:ext>
            </a:extLst>
          </p:cNvPr>
          <p:cNvSpPr>
            <a:spLocks noGrp="1"/>
          </p:cNvSpPr>
          <p:nvPr>
            <p:ph type="sldNum" sz="quarter" idx="4"/>
          </p:nvPr>
        </p:nvSpPr>
        <p:spPr>
          <a:xfrm>
            <a:off x="8474473" y="6414550"/>
            <a:ext cx="237725" cy="75150"/>
          </a:xfrm>
          <a:prstGeom prst="rect">
            <a:avLst/>
          </a:prstGeom>
        </p:spPr>
        <p:txBody>
          <a:bodyPr vert="horz" lIns="0" tIns="0" rIns="0" bIns="0" rtlCol="0" anchor="ctr"/>
          <a:lstStyle>
            <a:lvl1pPr algn="r">
              <a:defRPr sz="800">
                <a:solidFill>
                  <a:srgbClr val="00B1A9"/>
                </a:solidFill>
                <a:latin typeface="Arial" panose="020B0604020202020204" pitchFamily="34" charset="0"/>
                <a:cs typeface="Arial" panose="020B0604020202020204" pitchFamily="34" charset="0"/>
              </a:defRPr>
            </a:lvl1pPr>
          </a:lstStyle>
          <a:p>
            <a:fld id="{F595E21E-DEBA-8F42-9C16-77733D726770}" type="slidenum">
              <a:rPr lang="en-US" smtClean="0"/>
              <a:pPr/>
              <a:t>‹#›</a:t>
            </a:fld>
            <a:endParaRPr lang="en-US"/>
          </a:p>
        </p:txBody>
      </p:sp>
      <p:sp>
        <p:nvSpPr>
          <p:cNvPr id="5" name="TextBox 4">
            <a:extLst>
              <a:ext uri="{FF2B5EF4-FFF2-40B4-BE49-F238E27FC236}">
                <a16:creationId xmlns:a16="http://schemas.microsoft.com/office/drawing/2014/main" id="{ABFF2D2D-BCFE-45BA-84BD-E9077B08B420}"/>
              </a:ext>
            </a:extLst>
          </p:cNvPr>
          <p:cNvSpPr txBox="1"/>
          <p:nvPr userDrawn="1"/>
        </p:nvSpPr>
        <p:spPr>
          <a:xfrm>
            <a:off x="7056581" y="6865763"/>
            <a:ext cx="3556000" cy="200055"/>
          </a:xfrm>
          <a:prstGeom prst="rect">
            <a:avLst/>
          </a:prstGeom>
          <a:noFill/>
        </p:spPr>
        <p:txBody>
          <a:bodyPr wrap="square" rtlCol="0">
            <a:spAutoFit/>
          </a:bodyPr>
          <a:lstStyle/>
          <a:p>
            <a:pPr algn="ctr"/>
            <a:r>
              <a:rPr lang="en-US" sz="700">
                <a:solidFill>
                  <a:srgbClr val="333333"/>
                </a:solidFill>
                <a:cs typeface="Helvetica" pitchFamily="34" charset="0"/>
              </a:rPr>
              <a:t>Template v3.45</a:t>
            </a:r>
          </a:p>
        </p:txBody>
      </p:sp>
      <p:sp>
        <p:nvSpPr>
          <p:cNvPr id="6" name="TextBox 5">
            <a:extLst>
              <a:ext uri="{FF2B5EF4-FFF2-40B4-BE49-F238E27FC236}">
                <a16:creationId xmlns:a16="http://schemas.microsoft.com/office/drawing/2014/main" id="{DBCE5676-2CBF-F539-6F5B-017B197F02F7}"/>
              </a:ext>
            </a:extLst>
          </p:cNvPr>
          <p:cNvSpPr txBox="1"/>
          <p:nvPr>
            <p:extLst>
              <p:ext uri="{1162E1C5-73C7-4A58-AE30-91384D911F3F}">
                <p184:classification xmlns:p184="http://schemas.microsoft.com/office/powerpoint/2018/4/main" val="hdr"/>
              </p:ext>
            </p:extLst>
          </p:nvPr>
        </p:nvSpPr>
        <p:spPr>
          <a:xfrm>
            <a:off x="4383088" y="63500"/>
            <a:ext cx="403225" cy="152400"/>
          </a:xfrm>
          <a:prstGeom prst="rect">
            <a:avLst/>
          </a:prstGeom>
        </p:spPr>
        <p:txBody>
          <a:bodyPr horzOverflow="overflow" lIns="0" tIns="0" rIns="0" bIns="0">
            <a:spAutoFit/>
          </a:bodyPr>
          <a:lstStyle/>
          <a:p>
            <a:pPr algn="l"/>
            <a:r>
              <a:rPr lang="en-GB" sz="1000">
                <a:solidFill>
                  <a:srgbClr val="0078D7">
                    <a:alpha val="50000"/>
                  </a:srgbClr>
                </a:solidFill>
                <a:latin typeface="Aptos" panose="020B0004020202020204" pitchFamily="34" charset="0"/>
              </a:rPr>
              <a:t>[Open]</a:t>
            </a:r>
          </a:p>
        </p:txBody>
      </p:sp>
    </p:spTree>
    <p:extLst>
      <p:ext uri="{BB962C8B-B14F-4D97-AF65-F5344CB8AC3E}">
        <p14:creationId xmlns:p14="http://schemas.microsoft.com/office/powerpoint/2010/main" val="4033953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4"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5" r:id="rId16"/>
    <p:sldLayoutId id="2147483686" r:id="rId17"/>
    <p:sldLayoutId id="2147483687" r:id="rId18"/>
    <p:sldLayoutId id="2147483688" r:id="rId19"/>
    <p:sldLayoutId id="2147483690" r:id="rId20"/>
    <p:sldLayoutId id="2147483691" r:id="rId21"/>
    <p:sldLayoutId id="2147483693" r:id="rId22"/>
    <p:sldLayoutId id="2147483695" r:id="rId23"/>
    <p:sldLayoutId id="2147483697" r:id="rId24"/>
    <p:sldLayoutId id="2147483698" r:id="rId25"/>
    <p:sldLayoutId id="2147483699" r:id="rId26"/>
    <p:sldLayoutId id="2147483700" r:id="rId27"/>
    <p:sldLayoutId id="2147483701" r:id="rId28"/>
    <p:sldLayoutId id="2147483703" r:id="rId29"/>
    <p:sldLayoutId id="2147483704" r:id="rId30"/>
    <p:sldLayoutId id="2147483705" r:id="rId31"/>
  </p:sldLayoutIdLst>
  <p:hf sldNum="0" hdr="0" dt="0"/>
  <p:txStyles>
    <p:title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232" userDrawn="1">
          <p15:clr>
            <a:srgbClr val="F26B43"/>
          </p15:clr>
        </p15:guide>
        <p15:guide id="3" pos="272" userDrawn="1">
          <p15:clr>
            <a:srgbClr val="F26B43"/>
          </p15:clr>
        </p15:guide>
        <p15:guide id="4" orient="horz" pos="4088" userDrawn="1">
          <p15:clr>
            <a:srgbClr val="F26B43"/>
          </p15:clr>
        </p15:guide>
        <p15:guide id="5" orient="horz" pos="2160" userDrawn="1">
          <p15:clr>
            <a:srgbClr val="F26B43"/>
          </p15:clr>
        </p15:guide>
        <p15:guide id="6" pos="54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E0A5C-2475-1A5F-5B08-772EC9D08A8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06F31E4-7C09-26B8-93C2-021BD037D80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0245C7-FD40-9150-5F79-6472BB63792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2EAA4B37-D9B7-4EDD-A523-F9976506B395}" type="datetimeFigureOut">
              <a:rPr lang="en-GB" smtClean="0"/>
              <a:t>21/07/2026</a:t>
            </a:fld>
            <a:endParaRPr lang="en-GB"/>
          </a:p>
        </p:txBody>
      </p:sp>
      <p:sp>
        <p:nvSpPr>
          <p:cNvPr id="5" name="Footer Placeholder 4">
            <a:extLst>
              <a:ext uri="{FF2B5EF4-FFF2-40B4-BE49-F238E27FC236}">
                <a16:creationId xmlns:a16="http://schemas.microsoft.com/office/drawing/2014/main" id="{8859D7AC-8527-6F83-B3AD-17AB3BE0EA5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8923FFD-D193-F36B-0C03-AF2EE8B2F2E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8C69A830-3878-43D4-B8C0-F38E8B48DE87}" type="slidenum">
              <a:rPr lang="en-GB" smtClean="0"/>
              <a:t>‹#›</a:t>
            </a:fld>
            <a:endParaRPr lang="en-GB"/>
          </a:p>
        </p:txBody>
      </p:sp>
      <p:sp>
        <p:nvSpPr>
          <p:cNvPr id="8" name="TextBox 7">
            <a:extLst>
              <a:ext uri="{FF2B5EF4-FFF2-40B4-BE49-F238E27FC236}">
                <a16:creationId xmlns:a16="http://schemas.microsoft.com/office/drawing/2014/main" id="{4ED8C875-27B5-7BF5-8C9B-95F0295498B6}"/>
              </a:ext>
            </a:extLst>
          </p:cNvPr>
          <p:cNvSpPr txBox="1"/>
          <p:nvPr>
            <p:extLst>
              <p:ext uri="{1162E1C5-73C7-4A58-AE30-91384D911F3F}">
                <p184:classification xmlns:p184="http://schemas.microsoft.com/office/powerpoint/2018/4/main" val="hdr"/>
              </p:ext>
            </p:extLst>
          </p:nvPr>
        </p:nvSpPr>
        <p:spPr>
          <a:xfrm>
            <a:off x="4383088" y="63500"/>
            <a:ext cx="403225" cy="152400"/>
          </a:xfrm>
          <a:prstGeom prst="rect">
            <a:avLst/>
          </a:prstGeom>
        </p:spPr>
        <p:txBody>
          <a:bodyPr horzOverflow="overflow" lIns="0" tIns="0" rIns="0" bIns="0">
            <a:spAutoFit/>
          </a:bodyPr>
          <a:lstStyle/>
          <a:p>
            <a:pPr algn="l"/>
            <a:r>
              <a:rPr lang="en-GB" sz="1000">
                <a:solidFill>
                  <a:srgbClr val="0078D7">
                    <a:alpha val="50000"/>
                  </a:srgbClr>
                </a:solidFill>
                <a:latin typeface="Aptos" panose="020B0004020202020204" pitchFamily="34" charset="0"/>
              </a:rPr>
              <a:t>[Open]</a:t>
            </a:r>
          </a:p>
        </p:txBody>
      </p:sp>
    </p:spTree>
    <p:extLst>
      <p:ext uri="{BB962C8B-B14F-4D97-AF65-F5344CB8AC3E}">
        <p14:creationId xmlns:p14="http://schemas.microsoft.com/office/powerpoint/2010/main" val="190813190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6.xml"/><Relationship Id="rId1" Type="http://schemas.openxmlformats.org/officeDocument/2006/relationships/tags" Target="../tags/tag6.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tags" Target="../tags/tag7.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9.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1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tags" Target="../tags/tag13.xml"/><Relationship Id="rId5" Type="http://schemas.openxmlformats.org/officeDocument/2006/relationships/image" Target="../media/image15.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15.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1.xml"/><Relationship Id="rId1" Type="http://schemas.openxmlformats.org/officeDocument/2006/relationships/tags" Target="../tags/tag1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1.xml"/><Relationship Id="rId1" Type="http://schemas.openxmlformats.org/officeDocument/2006/relationships/tags" Target="../tags/tag1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0.xml"/><Relationship Id="rId1" Type="http://schemas.openxmlformats.org/officeDocument/2006/relationships/slideLayout" Target="../slideLayouts/slideLayout32.xml"/><Relationship Id="rId6" Type="http://schemas.openxmlformats.org/officeDocument/2006/relationships/image" Target="../media/image18.png"/><Relationship Id="rId5" Type="http://schemas.openxmlformats.org/officeDocument/2006/relationships/slide" Target="slide1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3.xml"/><Relationship Id="rId1" Type="http://schemas.openxmlformats.org/officeDocument/2006/relationships/tags" Target="../tags/tag2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2.xml"/><Relationship Id="rId1" Type="http://schemas.openxmlformats.org/officeDocument/2006/relationships/tags" Target="../tags/tag23.xml"/><Relationship Id="rId5" Type="http://schemas.openxmlformats.org/officeDocument/2006/relationships/image" Target="../media/image16.png"/><Relationship Id="rId4" Type="http://schemas.microsoft.com/office/2018/10/relationships/comments" Target="../comments/modernComment_29C_45C0D26E.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2.xml"/><Relationship Id="rId1" Type="http://schemas.openxmlformats.org/officeDocument/2006/relationships/tags" Target="../tags/tag25.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3.xml"/><Relationship Id="rId1" Type="http://schemas.openxmlformats.org/officeDocument/2006/relationships/tags" Target="../tags/tag27.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29.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4.xml"/><Relationship Id="rId1" Type="http://schemas.openxmlformats.org/officeDocument/2006/relationships/tags" Target="../tags/tag31.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5.xml"/><Relationship Id="rId1" Type="http://schemas.openxmlformats.org/officeDocument/2006/relationships/tags" Target="../tags/tag33.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5.xml"/><Relationship Id="rId1" Type="http://schemas.openxmlformats.org/officeDocument/2006/relationships/tags" Target="../tags/tag35.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5.xml"/><Relationship Id="rId1" Type="http://schemas.openxmlformats.org/officeDocument/2006/relationships/tags" Target="../tags/tag37.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5.xml"/><Relationship Id="rId1" Type="http://schemas.openxmlformats.org/officeDocument/2006/relationships/tags" Target="../tags/tag39.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5.xml"/><Relationship Id="rId1" Type="http://schemas.openxmlformats.org/officeDocument/2006/relationships/tags" Target="../tags/tag41.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6.xml"/><Relationship Id="rId1" Type="http://schemas.openxmlformats.org/officeDocument/2006/relationships/tags" Target="../tags/tag43.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8.xml"/><Relationship Id="rId1" Type="http://schemas.openxmlformats.org/officeDocument/2006/relationships/tags" Target="../tags/tag45.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9.xml"/><Relationship Id="rId1" Type="http://schemas.openxmlformats.org/officeDocument/2006/relationships/tags" Target="../tags/tag46.xml"/><Relationship Id="rId5" Type="http://schemas.openxmlformats.org/officeDocument/2006/relationships/image" Target="../media/image24.jpe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0.xml"/><Relationship Id="rId1" Type="http://schemas.openxmlformats.org/officeDocument/2006/relationships/tags" Target="../tags/tag47.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8.xml"/><Relationship Id="rId1" Type="http://schemas.openxmlformats.org/officeDocument/2006/relationships/tags" Target="../tags/tag4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8.xml"/><Relationship Id="rId1" Type="http://schemas.openxmlformats.org/officeDocument/2006/relationships/tags" Target="../tags/tag50.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1.xml"/><Relationship Id="rId1" Type="http://schemas.openxmlformats.org/officeDocument/2006/relationships/tags" Target="../tags/tag51.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4.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28DE8-371A-0F4D-AC2D-16A082E0DC32}"/>
              </a:ext>
            </a:extLst>
          </p:cNvPr>
          <p:cNvSpPr>
            <a:spLocks noGrp="1"/>
          </p:cNvSpPr>
          <p:nvPr>
            <p:ph type="ctrTitle"/>
          </p:nvPr>
        </p:nvSpPr>
        <p:spPr>
          <a:xfrm>
            <a:off x="547073" y="2297981"/>
            <a:ext cx="8265712" cy="728682"/>
          </a:xfrm>
        </p:spPr>
        <p:txBody>
          <a:bodyPr/>
          <a:lstStyle/>
          <a:p>
            <a:r>
              <a:rPr lang="en-US">
                <a:latin typeface="Museo Sans 900" panose="02000000000000000000" pitchFamily="50" charset="0"/>
                <a:ea typeface="Verdana" panose="020B0604030504040204" pitchFamily="34" charset="0"/>
              </a:rPr>
              <a:t>Service Proposal for SS &amp; PS only</a:t>
            </a:r>
          </a:p>
        </p:txBody>
      </p:sp>
      <p:sp>
        <p:nvSpPr>
          <p:cNvPr id="3" name="Subtitle 2">
            <a:extLst>
              <a:ext uri="{FF2B5EF4-FFF2-40B4-BE49-F238E27FC236}">
                <a16:creationId xmlns:a16="http://schemas.microsoft.com/office/drawing/2014/main" id="{37C299EE-8D4B-1F44-9598-F6F8B31D2C30}"/>
              </a:ext>
            </a:extLst>
          </p:cNvPr>
          <p:cNvSpPr>
            <a:spLocks noGrp="1"/>
          </p:cNvSpPr>
          <p:nvPr>
            <p:ph type="subTitle" idx="1"/>
          </p:nvPr>
        </p:nvSpPr>
        <p:spPr>
          <a:xfrm>
            <a:off x="986606" y="3315582"/>
            <a:ext cx="5322807" cy="1208922"/>
          </a:xfrm>
        </p:spPr>
        <p:txBody>
          <a:bodyPr vert="horz" lIns="91440" tIns="45720" rIns="91440" bIns="45720" rtlCol="0" anchor="t">
            <a:noAutofit/>
          </a:bodyPr>
          <a:lstStyle/>
          <a:p>
            <a:r>
              <a:rPr lang="en-US">
                <a:latin typeface="Museo Sans 700"/>
                <a:ea typeface="Verdana"/>
                <a:cs typeface="Arial"/>
              </a:rPr>
              <a:t>SP Number: </a:t>
            </a:r>
          </a:p>
          <a:p>
            <a:r>
              <a:rPr lang="en-US">
                <a:latin typeface="Museo Sans 700"/>
                <a:ea typeface="Verdana"/>
                <a:cs typeface="Arial"/>
              </a:rPr>
              <a:t>SP Title: Business Delivery - Upstream (BDU) Managed Services for U-ACE. </a:t>
            </a:r>
            <a:endParaRPr lang="en-US">
              <a:latin typeface="Museo Sans 700" panose="02000000000000000000" pitchFamily="50" charset="0"/>
              <a:ea typeface="Verdana" panose="020B0604030504040204" pitchFamily="34" charset="0"/>
            </a:endParaRPr>
          </a:p>
        </p:txBody>
      </p:sp>
      <p:sp>
        <p:nvSpPr>
          <p:cNvPr id="7" name="Separator 2">
            <a:extLst>
              <a:ext uri="{FF2B5EF4-FFF2-40B4-BE49-F238E27FC236}">
                <a16:creationId xmlns:a16="http://schemas.microsoft.com/office/drawing/2014/main" id="{6C979824-EEBA-4852-9838-944A208926B7}"/>
              </a:ext>
            </a:extLst>
          </p:cNvPr>
          <p:cNvSpPr>
            <a:spLocks noChangeArrowheads="1"/>
          </p:cNvSpPr>
          <p:nvPr>
            <p:custDataLst>
              <p:tags r:id="rId1"/>
            </p:custDataLst>
          </p:nvPr>
        </p:nvSpPr>
        <p:spPr bwMode="gray">
          <a:xfrm>
            <a:off x="550169" y="3602095"/>
            <a:ext cx="304800" cy="617220"/>
          </a:xfrm>
          <a:prstGeom prst="rightArrow">
            <a:avLst>
              <a:gd name="adj1" fmla="val 50000"/>
              <a:gd name="adj2" fmla="val 100000"/>
            </a:avLst>
          </a:prstGeom>
          <a:solidFill>
            <a:srgbClr val="3C3835"/>
          </a:solidFill>
          <a:ln w="12700" algn="ctr">
            <a:noFill/>
            <a:miter lim="800000"/>
            <a:headEnd/>
            <a:tailEnd/>
          </a:ln>
        </p:spPr>
        <p:txBody>
          <a:bodyPr lIns="0" tIns="0" rIns="0" bIns="0" anchor="ctr"/>
          <a:lstStyle/>
          <a:p>
            <a:endParaRPr lang="en-GB" sz="1800">
              <a:solidFill>
                <a:srgbClr val="333333"/>
              </a:solidFill>
              <a:latin typeface="Verdana" panose="020B0604030504040204" pitchFamily="34" charset="0"/>
              <a:ea typeface="Verdana" panose="020B0604030504040204" pitchFamily="34" charset="0"/>
              <a:cs typeface="Verdana" panose="020B0604030504040204" pitchFamily="34" charset="0"/>
            </a:endParaRPr>
          </a:p>
        </p:txBody>
      </p:sp>
      <p:sp>
        <p:nvSpPr>
          <p:cNvPr id="9" name="Rectangle 8">
            <a:extLst>
              <a:ext uri="{FF2B5EF4-FFF2-40B4-BE49-F238E27FC236}">
                <a16:creationId xmlns:a16="http://schemas.microsoft.com/office/drawing/2014/main" id="{46B886C6-B6B2-4A13-A978-6B5FA58D11C4}"/>
              </a:ext>
            </a:extLst>
          </p:cNvPr>
          <p:cNvSpPr/>
          <p:nvPr/>
        </p:nvSpPr>
        <p:spPr>
          <a:xfrm>
            <a:off x="446489" y="4628066"/>
            <a:ext cx="5861304" cy="632653"/>
          </a:xfrm>
          <a:prstGeom prst="rect">
            <a:avLst/>
          </a:prstGeom>
          <a:noFill/>
        </p:spPr>
        <p:txBody>
          <a:bodyPr wrap="square" lIns="182880" tIns="9144" rIns="0" bIns="9144" anchor="ctr">
            <a:noAutofit/>
          </a:bodyPr>
          <a:lstStyle/>
          <a:p>
            <a:r>
              <a:rPr lang="en-US" sz="1000">
                <a:solidFill>
                  <a:schemeClr val="bg1"/>
                </a:solidFill>
                <a:latin typeface="Museo Sans 300" panose="02000000000000000000" pitchFamily="50" charset="0"/>
                <a:ea typeface="Verdana" panose="020B0604030504040204" pitchFamily="34" charset="0"/>
                <a:cs typeface="Verdana" panose="020B0604030504040204" pitchFamily="34" charset="0"/>
              </a:rPr>
              <a:t>This Service Proposal is only valid for thirty (30) days from &lt;DD-MMM-YY&gt;. PETRONAS Digital </a:t>
            </a:r>
            <a:r>
              <a:rPr lang="en-US" sz="1000" err="1">
                <a:solidFill>
                  <a:schemeClr val="bg1"/>
                </a:solidFill>
                <a:latin typeface="Museo Sans 300" panose="02000000000000000000" pitchFamily="50" charset="0"/>
                <a:ea typeface="Verdana" panose="020B0604030504040204" pitchFamily="34" charset="0"/>
                <a:cs typeface="Verdana" panose="020B0604030504040204" pitchFamily="34" charset="0"/>
              </a:rPr>
              <a:t>Sdn</a:t>
            </a:r>
            <a:r>
              <a:rPr lang="en-US" sz="1000">
                <a:solidFill>
                  <a:schemeClr val="bg1"/>
                </a:solidFill>
                <a:latin typeface="Museo Sans 300" panose="02000000000000000000" pitchFamily="50" charset="0"/>
                <a:ea typeface="Verdana" panose="020B0604030504040204" pitchFamily="34" charset="0"/>
                <a:cs typeface="Verdana" panose="020B0604030504040204" pitchFamily="34" charset="0"/>
              </a:rPr>
              <a:t> </a:t>
            </a:r>
            <a:r>
              <a:rPr lang="en-US" sz="1000" err="1">
                <a:solidFill>
                  <a:schemeClr val="bg1"/>
                </a:solidFill>
                <a:latin typeface="Museo Sans 300" panose="02000000000000000000" pitchFamily="50" charset="0"/>
                <a:ea typeface="Verdana" panose="020B0604030504040204" pitchFamily="34" charset="0"/>
                <a:cs typeface="Verdana" panose="020B0604030504040204" pitchFamily="34" charset="0"/>
              </a:rPr>
              <a:t>Bhd</a:t>
            </a:r>
            <a:r>
              <a:rPr lang="en-US" sz="1000">
                <a:solidFill>
                  <a:schemeClr val="bg1"/>
                </a:solidFill>
                <a:latin typeface="Museo Sans 300" panose="02000000000000000000" pitchFamily="50" charset="0"/>
                <a:ea typeface="Verdana" panose="020B0604030504040204" pitchFamily="34" charset="0"/>
                <a:cs typeface="Verdana" panose="020B0604030504040204" pitchFamily="34" charset="0"/>
              </a:rPr>
              <a:t> reserves the rights to change the Service Proposal after the said thirty (30) days. </a:t>
            </a:r>
          </a:p>
        </p:txBody>
      </p:sp>
      <p:sp>
        <p:nvSpPr>
          <p:cNvPr id="5" name="BJPseudoFooter">
            <a:extLst>
              <a:ext uri="{FF2B5EF4-FFF2-40B4-BE49-F238E27FC236}">
                <a16:creationId xmlns:a16="http://schemas.microsoft.com/office/drawing/2014/main" id="{66867088-21A4-429C-9606-CD204EA8ABC6}"/>
              </a:ext>
            </a:extLst>
          </p:cNvPr>
          <p:cNvSpPr txBox="1"/>
          <p:nvPr>
            <p:custDataLst>
              <p:tags r:id="rId2"/>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664822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itle 15"/>
          <p:cNvSpPr txBox="1">
            <a:spLocks/>
          </p:cNvSpPr>
          <p:nvPr/>
        </p:nvSpPr>
        <p:spPr>
          <a:xfrm>
            <a:off x="228600" y="621273"/>
            <a:ext cx="4281353" cy="579002"/>
          </a:xfrm>
          <a:prstGeom prst="rect">
            <a:avLst/>
          </a:prstGeom>
        </p:spPr>
        <p:txBody>
          <a:bodyPr vert="horz" lIns="68580" tIns="34290" rIns="68580" bIns="34290" rtlCol="0" anchor="ctr">
            <a:noAutofit/>
          </a:bodyPr>
          <a:lstStyle>
            <a:lvl1pPr algn="l" defTabSz="914400" rtl="0" eaLnBrk="1" latinLnBrk="0" hangingPunct="1">
              <a:spcBef>
                <a:spcPct val="0"/>
              </a:spcBef>
              <a:buNone/>
              <a:defRPr sz="3600" kern="1200">
                <a:solidFill>
                  <a:srgbClr val="00B1A9"/>
                </a:solidFill>
                <a:latin typeface="+mj-lt"/>
                <a:ea typeface="+mj-ea"/>
                <a:cs typeface="+mj-cs"/>
              </a:defRPr>
            </a:lvl1pPr>
          </a:lstStyle>
          <a:p>
            <a:r>
              <a:rPr lang="en-US" sz="2400" b="1" spc="-113">
                <a:solidFill>
                  <a:srgbClr val="00AB9B"/>
                </a:solidFill>
                <a:latin typeface="Museo Sans 900" panose="02000000000000000000" pitchFamily="50" charset="0"/>
                <a:ea typeface="Verdana" panose="020B0604030504040204" pitchFamily="34" charset="0"/>
                <a:cs typeface="Verdana" panose="020B0604030504040204" pitchFamily="34" charset="0"/>
              </a:rPr>
              <a:t>This Document Covers</a:t>
            </a:r>
          </a:p>
        </p:txBody>
      </p:sp>
      <p:grpSp>
        <p:nvGrpSpPr>
          <p:cNvPr id="94" name="Group 28"/>
          <p:cNvGrpSpPr>
            <a:grpSpLocks/>
          </p:cNvGrpSpPr>
          <p:nvPr/>
        </p:nvGrpSpPr>
        <p:grpSpPr bwMode="auto">
          <a:xfrm>
            <a:off x="228600" y="1609990"/>
            <a:ext cx="2217421" cy="3223260"/>
            <a:chOff x="4540461" y="2166413"/>
            <a:chExt cx="3535420" cy="5733384"/>
          </a:xfrm>
          <a:effectLst>
            <a:outerShdw blurRad="50800" dist="63500" dir="8100000" algn="tr" rotWithShape="0">
              <a:prstClr val="black">
                <a:alpha val="40000"/>
              </a:prstClr>
            </a:outerShdw>
          </a:effectLst>
        </p:grpSpPr>
        <p:sp>
          <p:nvSpPr>
            <p:cNvPr id="95" name="Rectangle 94"/>
            <p:cNvSpPr/>
            <p:nvPr/>
          </p:nvSpPr>
          <p:spPr>
            <a:xfrm>
              <a:off x="4540461" y="2166413"/>
              <a:ext cx="3535420" cy="5733384"/>
            </a:xfrm>
            <a:prstGeom prst="rect">
              <a:avLst/>
            </a:prstGeom>
            <a:solidFill>
              <a:srgbClr val="00B1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alpha val="70000"/>
                  </a:srgbClr>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96" name="Rectangle 95"/>
            <p:cNvSpPr/>
            <p:nvPr/>
          </p:nvSpPr>
          <p:spPr>
            <a:xfrm>
              <a:off x="5092035" y="2560341"/>
              <a:ext cx="971716" cy="995805"/>
            </a:xfrm>
            <a:prstGeom prst="rect">
              <a:avLst/>
            </a:prstGeom>
          </p:spPr>
          <p:txBody>
            <a:bodyPr wrap="none">
              <a:spAutoFit/>
            </a:bodyPr>
            <a:lstStyle/>
            <a:p>
              <a:pPr>
                <a:defRPr/>
              </a:pPr>
              <a:r>
                <a:rPr lang="en-US" sz="3038">
                  <a:solidFill>
                    <a:srgbClr val="FFFFFF"/>
                  </a:solidFill>
                  <a:latin typeface="Museo Sans 300" panose="02000000000000000000" pitchFamily="50" charset="0"/>
                  <a:ea typeface="Verdana" panose="020B0604030504040204" pitchFamily="34" charset="0"/>
                  <a:cs typeface="Verdana" panose="020B0604030504040204" pitchFamily="34" charset="0"/>
                </a:rPr>
                <a:t>01</a:t>
              </a:r>
            </a:p>
          </p:txBody>
        </p:sp>
        <p:sp>
          <p:nvSpPr>
            <p:cNvPr id="97" name="Rectangle 1"/>
            <p:cNvSpPr>
              <a:spLocks noChangeArrowheads="1"/>
            </p:cNvSpPr>
            <p:nvPr/>
          </p:nvSpPr>
          <p:spPr bwMode="auto">
            <a:xfrm>
              <a:off x="4840683" y="3798158"/>
              <a:ext cx="2995023" cy="1149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1.1 Glossary </a:t>
              </a:r>
            </a:p>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1.2 Background and </a:t>
              </a:r>
            </a:p>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      Objectives </a:t>
              </a:r>
            </a:p>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1.3 Out of Scope </a:t>
              </a:r>
            </a:p>
          </p:txBody>
        </p:sp>
        <p:sp>
          <p:nvSpPr>
            <p:cNvPr id="99" name="Rectangle 98"/>
            <p:cNvSpPr/>
            <p:nvPr/>
          </p:nvSpPr>
          <p:spPr>
            <a:xfrm>
              <a:off x="4922714" y="2528574"/>
              <a:ext cx="107943" cy="944551"/>
            </a:xfrm>
            <a:prstGeom prst="rect">
              <a:avLst/>
            </a:prstGeom>
            <a:solidFill>
              <a:schemeClr val="tx1">
                <a:lumMod val="75000"/>
                <a:lumOff val="25000"/>
              </a:schemeClr>
            </a:solidFill>
            <a:ln>
              <a:noFill/>
            </a:ln>
            <a:effectLst>
              <a:outerShdw blurRad="50800" dist="635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grpSp>
          <p:nvGrpSpPr>
            <p:cNvPr id="100" name="그룹 69"/>
            <p:cNvGrpSpPr>
              <a:grpSpLocks noChangeAspect="1"/>
            </p:cNvGrpSpPr>
            <p:nvPr/>
          </p:nvGrpSpPr>
          <p:grpSpPr bwMode="auto">
            <a:xfrm>
              <a:off x="6138412" y="2579191"/>
              <a:ext cx="853376" cy="853908"/>
              <a:chOff x="7904487" y="513063"/>
              <a:chExt cx="3359753" cy="3361840"/>
            </a:xfrm>
          </p:grpSpPr>
          <p:sp>
            <p:nvSpPr>
              <p:cNvPr id="102" name="타원 70"/>
              <p:cNvSpPr/>
              <p:nvPr/>
            </p:nvSpPr>
            <p:spPr>
              <a:xfrm>
                <a:off x="7904487" y="513063"/>
                <a:ext cx="3359753" cy="3361840"/>
              </a:xfrm>
              <a:prstGeom prst="ellipse">
                <a:avLst/>
              </a:prstGeom>
              <a:solidFill>
                <a:srgbClr val="595959"/>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grpSp>
            <p:nvGrpSpPr>
              <p:cNvPr id="104" name="그룹 72"/>
              <p:cNvGrpSpPr>
                <a:grpSpLocks/>
              </p:cNvGrpSpPr>
              <p:nvPr/>
            </p:nvGrpSpPr>
            <p:grpSpPr bwMode="auto">
              <a:xfrm>
                <a:off x="8484544" y="1072528"/>
                <a:ext cx="2199838" cy="2192876"/>
                <a:chOff x="8484544" y="1072528"/>
                <a:chExt cx="2199838" cy="2192876"/>
              </a:xfrm>
            </p:grpSpPr>
            <p:sp>
              <p:nvSpPr>
                <p:cNvPr id="105" name="자유형 73"/>
                <p:cNvSpPr/>
                <p:nvPr/>
              </p:nvSpPr>
              <p:spPr>
                <a:xfrm>
                  <a:off x="8484544" y="1072533"/>
                  <a:ext cx="2199833" cy="2192871"/>
                </a:xfrm>
                <a:custGeom>
                  <a:avLst/>
                  <a:gdLst>
                    <a:gd name="connsiteX0" fmla="*/ 1095828 w 2191658"/>
                    <a:gd name="connsiteY0" fmla="*/ 645828 h 2191658"/>
                    <a:gd name="connsiteX1" fmla="*/ 722681 w 2191658"/>
                    <a:gd name="connsiteY1" fmla="*/ 844229 h 2191658"/>
                    <a:gd name="connsiteX2" fmla="*/ 721959 w 2191658"/>
                    <a:gd name="connsiteY2" fmla="*/ 845559 h 2191658"/>
                    <a:gd name="connsiteX3" fmla="*/ 587382 w 2191658"/>
                    <a:gd name="connsiteY3" fmla="*/ 845559 h 2191658"/>
                    <a:gd name="connsiteX4" fmla="*/ 587382 w 2191658"/>
                    <a:gd name="connsiteY4" fmla="*/ 1337205 h 2191658"/>
                    <a:gd name="connsiteX5" fmla="*/ 717133 w 2191658"/>
                    <a:gd name="connsiteY5" fmla="*/ 1337205 h 2191658"/>
                    <a:gd name="connsiteX6" fmla="*/ 722681 w 2191658"/>
                    <a:gd name="connsiteY6" fmla="*/ 1347427 h 2191658"/>
                    <a:gd name="connsiteX7" fmla="*/ 793258 w 2191658"/>
                    <a:gd name="connsiteY7" fmla="*/ 1428926 h 2191658"/>
                    <a:gd name="connsiteX8" fmla="*/ 843878 w 2191658"/>
                    <a:gd name="connsiteY8" fmla="*/ 1464899 h 2191658"/>
                    <a:gd name="connsiteX9" fmla="*/ 843878 w 2191658"/>
                    <a:gd name="connsiteY9" fmla="*/ 1604631 h 2191658"/>
                    <a:gd name="connsiteX10" fmla="*/ 1340346 w 2191658"/>
                    <a:gd name="connsiteY10" fmla="*/ 1604631 h 2191658"/>
                    <a:gd name="connsiteX11" fmla="*/ 1340346 w 2191658"/>
                    <a:gd name="connsiteY11" fmla="*/ 1470181 h 2191658"/>
                    <a:gd name="connsiteX12" fmla="*/ 1398398 w 2191658"/>
                    <a:gd name="connsiteY12" fmla="*/ 1428926 h 2191658"/>
                    <a:gd name="connsiteX13" fmla="*/ 1468975 w 2191658"/>
                    <a:gd name="connsiteY13" fmla="*/ 1347427 h 2191658"/>
                    <a:gd name="connsiteX14" fmla="*/ 1470807 w 2191658"/>
                    <a:gd name="connsiteY14" fmla="*/ 1344053 h 2191658"/>
                    <a:gd name="connsiteX15" fmla="*/ 1851169 w 2191658"/>
                    <a:gd name="connsiteY15" fmla="*/ 1344053 h 2191658"/>
                    <a:gd name="connsiteX16" fmla="*/ 1851169 w 2191658"/>
                    <a:gd name="connsiteY16" fmla="*/ 854453 h 2191658"/>
                    <a:gd name="connsiteX17" fmla="*/ 1474525 w 2191658"/>
                    <a:gd name="connsiteY17" fmla="*/ 854453 h 2191658"/>
                    <a:gd name="connsiteX18" fmla="*/ 1468975 w 2191658"/>
                    <a:gd name="connsiteY18" fmla="*/ 844229 h 2191658"/>
                    <a:gd name="connsiteX19" fmla="*/ 1095828 w 2191658"/>
                    <a:gd name="connsiteY19" fmla="*/ 645828 h 2191658"/>
                    <a:gd name="connsiteX20" fmla="*/ 1095829 w 2191658"/>
                    <a:gd name="connsiteY20" fmla="*/ 0 h 2191658"/>
                    <a:gd name="connsiteX21" fmla="*/ 2191658 w 2191658"/>
                    <a:gd name="connsiteY21" fmla="*/ 1095829 h 2191658"/>
                    <a:gd name="connsiteX22" fmla="*/ 1095829 w 2191658"/>
                    <a:gd name="connsiteY22" fmla="*/ 2191658 h 2191658"/>
                    <a:gd name="connsiteX23" fmla="*/ 0 w 2191658"/>
                    <a:gd name="connsiteY23" fmla="*/ 1095829 h 2191658"/>
                    <a:gd name="connsiteX24" fmla="*/ 1095829 w 2191658"/>
                    <a:gd name="connsiteY24" fmla="*/ 0 h 219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1658" h="2191658">
                      <a:moveTo>
                        <a:pt x="1095828" y="645828"/>
                      </a:moveTo>
                      <a:cubicBezTo>
                        <a:pt x="940498" y="645828"/>
                        <a:pt x="803549" y="724528"/>
                        <a:pt x="722681" y="844229"/>
                      </a:cubicBezTo>
                      <a:lnTo>
                        <a:pt x="721959" y="845559"/>
                      </a:lnTo>
                      <a:lnTo>
                        <a:pt x="587382" y="845559"/>
                      </a:lnTo>
                      <a:lnTo>
                        <a:pt x="587382" y="1337205"/>
                      </a:lnTo>
                      <a:lnTo>
                        <a:pt x="717133" y="1337205"/>
                      </a:lnTo>
                      <a:lnTo>
                        <a:pt x="722681" y="1347427"/>
                      </a:lnTo>
                      <a:cubicBezTo>
                        <a:pt x="742898" y="1377352"/>
                        <a:pt x="766620" y="1404715"/>
                        <a:pt x="793258" y="1428926"/>
                      </a:cubicBezTo>
                      <a:lnTo>
                        <a:pt x="843878" y="1464899"/>
                      </a:lnTo>
                      <a:lnTo>
                        <a:pt x="843878" y="1604631"/>
                      </a:lnTo>
                      <a:lnTo>
                        <a:pt x="1340346" y="1604631"/>
                      </a:lnTo>
                      <a:lnTo>
                        <a:pt x="1340346" y="1470181"/>
                      </a:lnTo>
                      <a:lnTo>
                        <a:pt x="1398398" y="1428926"/>
                      </a:lnTo>
                      <a:cubicBezTo>
                        <a:pt x="1425036" y="1404715"/>
                        <a:pt x="1448758" y="1377352"/>
                        <a:pt x="1468975" y="1347427"/>
                      </a:cubicBezTo>
                      <a:lnTo>
                        <a:pt x="1470807" y="1344053"/>
                      </a:lnTo>
                      <a:lnTo>
                        <a:pt x="1851169" y="1344053"/>
                      </a:lnTo>
                      <a:lnTo>
                        <a:pt x="1851169" y="854453"/>
                      </a:lnTo>
                      <a:lnTo>
                        <a:pt x="1474525" y="854453"/>
                      </a:lnTo>
                      <a:lnTo>
                        <a:pt x="1468975" y="844229"/>
                      </a:lnTo>
                      <a:cubicBezTo>
                        <a:pt x="1388107" y="724528"/>
                        <a:pt x="1251158" y="645828"/>
                        <a:pt x="1095828" y="645828"/>
                      </a:cubicBezTo>
                      <a:close/>
                      <a:moveTo>
                        <a:pt x="1095829" y="0"/>
                      </a:moveTo>
                      <a:cubicBezTo>
                        <a:pt x="1701039" y="0"/>
                        <a:pt x="2191658" y="490619"/>
                        <a:pt x="2191658" y="1095829"/>
                      </a:cubicBezTo>
                      <a:cubicBezTo>
                        <a:pt x="2191658" y="1701039"/>
                        <a:pt x="1701039" y="2191658"/>
                        <a:pt x="1095829" y="2191658"/>
                      </a:cubicBezTo>
                      <a:cubicBezTo>
                        <a:pt x="490619" y="2191658"/>
                        <a:pt x="0" y="1701039"/>
                        <a:pt x="0" y="1095829"/>
                      </a:cubicBezTo>
                      <a:cubicBezTo>
                        <a:pt x="0" y="490619"/>
                        <a:pt x="490619" y="0"/>
                        <a:pt x="109582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06" name="자유형 74"/>
                <p:cNvSpPr/>
                <p:nvPr/>
              </p:nvSpPr>
              <p:spPr>
                <a:xfrm>
                  <a:off x="9209494" y="1072528"/>
                  <a:ext cx="749946" cy="725400"/>
                </a:xfrm>
                <a:custGeom>
                  <a:avLst/>
                  <a:gdLst>
                    <a:gd name="connsiteX0" fmla="*/ 374822 w 745429"/>
                    <a:gd name="connsiteY0" fmla="*/ 0 h 721150"/>
                    <a:gd name="connsiteX1" fmla="*/ 700688 w 745429"/>
                    <a:gd name="connsiteY1" fmla="*/ 49266 h 721150"/>
                    <a:gd name="connsiteX2" fmla="*/ 745429 w 745429"/>
                    <a:gd name="connsiteY2" fmla="*/ 65642 h 721150"/>
                    <a:gd name="connsiteX3" fmla="*/ 619515 w 745429"/>
                    <a:gd name="connsiteY3" fmla="*/ 718933 h 721150"/>
                    <a:gd name="connsiteX4" fmla="*/ 549981 w 745429"/>
                    <a:gd name="connsiteY4" fmla="*/ 681191 h 721150"/>
                    <a:gd name="connsiteX5" fmla="*/ 374821 w 745429"/>
                    <a:gd name="connsiteY5" fmla="*/ 645828 h 721150"/>
                    <a:gd name="connsiteX6" fmla="*/ 199661 w 745429"/>
                    <a:gd name="connsiteY6" fmla="*/ 681191 h 721150"/>
                    <a:gd name="connsiteX7" fmla="*/ 126043 w 745429"/>
                    <a:gd name="connsiteY7" fmla="*/ 721150 h 721150"/>
                    <a:gd name="connsiteX8" fmla="*/ 0 w 745429"/>
                    <a:gd name="connsiteY8" fmla="*/ 67185 h 721150"/>
                    <a:gd name="connsiteX9" fmla="*/ 48956 w 745429"/>
                    <a:gd name="connsiteY9" fmla="*/ 49266 h 721150"/>
                    <a:gd name="connsiteX10" fmla="*/ 374822 w 745429"/>
                    <a:gd name="connsiteY10" fmla="*/ 0 h 72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5429" h="721150">
                      <a:moveTo>
                        <a:pt x="374822" y="0"/>
                      </a:moveTo>
                      <a:cubicBezTo>
                        <a:pt x="488299" y="0"/>
                        <a:pt x="597747" y="17248"/>
                        <a:pt x="700688" y="49266"/>
                      </a:cubicBezTo>
                      <a:lnTo>
                        <a:pt x="745429" y="65642"/>
                      </a:lnTo>
                      <a:lnTo>
                        <a:pt x="619515" y="718933"/>
                      </a:lnTo>
                      <a:lnTo>
                        <a:pt x="549981" y="681191"/>
                      </a:lnTo>
                      <a:cubicBezTo>
                        <a:pt x="496144" y="658420"/>
                        <a:pt x="436953" y="645828"/>
                        <a:pt x="374821" y="645828"/>
                      </a:cubicBezTo>
                      <a:cubicBezTo>
                        <a:pt x="312689" y="645828"/>
                        <a:pt x="253498" y="658420"/>
                        <a:pt x="199661" y="681191"/>
                      </a:cubicBezTo>
                      <a:lnTo>
                        <a:pt x="126043" y="721150"/>
                      </a:lnTo>
                      <a:lnTo>
                        <a:pt x="0" y="67185"/>
                      </a:lnTo>
                      <a:lnTo>
                        <a:pt x="48956" y="49266"/>
                      </a:lnTo>
                      <a:cubicBezTo>
                        <a:pt x="151897" y="17248"/>
                        <a:pt x="261345" y="0"/>
                        <a:pt x="374822"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07" name="자유형 75"/>
                <p:cNvSpPr/>
                <p:nvPr/>
              </p:nvSpPr>
              <p:spPr>
                <a:xfrm flipV="1">
                  <a:off x="9209493" y="2539999"/>
                  <a:ext cx="749945" cy="725400"/>
                </a:xfrm>
                <a:custGeom>
                  <a:avLst/>
                  <a:gdLst>
                    <a:gd name="connsiteX0" fmla="*/ 374822 w 745429"/>
                    <a:gd name="connsiteY0" fmla="*/ 0 h 721150"/>
                    <a:gd name="connsiteX1" fmla="*/ 700688 w 745429"/>
                    <a:gd name="connsiteY1" fmla="*/ 49266 h 721150"/>
                    <a:gd name="connsiteX2" fmla="*/ 745429 w 745429"/>
                    <a:gd name="connsiteY2" fmla="*/ 65642 h 721150"/>
                    <a:gd name="connsiteX3" fmla="*/ 619515 w 745429"/>
                    <a:gd name="connsiteY3" fmla="*/ 718933 h 721150"/>
                    <a:gd name="connsiteX4" fmla="*/ 549981 w 745429"/>
                    <a:gd name="connsiteY4" fmla="*/ 681191 h 721150"/>
                    <a:gd name="connsiteX5" fmla="*/ 374821 w 745429"/>
                    <a:gd name="connsiteY5" fmla="*/ 645828 h 721150"/>
                    <a:gd name="connsiteX6" fmla="*/ 199661 w 745429"/>
                    <a:gd name="connsiteY6" fmla="*/ 681191 h 721150"/>
                    <a:gd name="connsiteX7" fmla="*/ 126043 w 745429"/>
                    <a:gd name="connsiteY7" fmla="*/ 721150 h 721150"/>
                    <a:gd name="connsiteX8" fmla="*/ 0 w 745429"/>
                    <a:gd name="connsiteY8" fmla="*/ 67185 h 721150"/>
                    <a:gd name="connsiteX9" fmla="*/ 48956 w 745429"/>
                    <a:gd name="connsiteY9" fmla="*/ 49266 h 721150"/>
                    <a:gd name="connsiteX10" fmla="*/ 374822 w 745429"/>
                    <a:gd name="connsiteY10" fmla="*/ 0 h 72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5429" h="721150">
                      <a:moveTo>
                        <a:pt x="374822" y="0"/>
                      </a:moveTo>
                      <a:cubicBezTo>
                        <a:pt x="488299" y="0"/>
                        <a:pt x="597747" y="17248"/>
                        <a:pt x="700688" y="49266"/>
                      </a:cubicBezTo>
                      <a:lnTo>
                        <a:pt x="745429" y="65642"/>
                      </a:lnTo>
                      <a:lnTo>
                        <a:pt x="619515" y="718933"/>
                      </a:lnTo>
                      <a:lnTo>
                        <a:pt x="549981" y="681191"/>
                      </a:lnTo>
                      <a:cubicBezTo>
                        <a:pt x="496144" y="658420"/>
                        <a:pt x="436953" y="645828"/>
                        <a:pt x="374821" y="645828"/>
                      </a:cubicBezTo>
                      <a:cubicBezTo>
                        <a:pt x="312689" y="645828"/>
                        <a:pt x="253498" y="658420"/>
                        <a:pt x="199661" y="681191"/>
                      </a:cubicBezTo>
                      <a:lnTo>
                        <a:pt x="126043" y="721150"/>
                      </a:lnTo>
                      <a:lnTo>
                        <a:pt x="0" y="67185"/>
                      </a:lnTo>
                      <a:lnTo>
                        <a:pt x="48956" y="49266"/>
                      </a:lnTo>
                      <a:cubicBezTo>
                        <a:pt x="151897" y="17248"/>
                        <a:pt x="261345" y="0"/>
                        <a:pt x="374822"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08" name="자유형 76"/>
                <p:cNvSpPr/>
                <p:nvPr/>
              </p:nvSpPr>
              <p:spPr>
                <a:xfrm rot="5400000">
                  <a:off x="9950874" y="1806494"/>
                  <a:ext cx="742071" cy="724945"/>
                </a:xfrm>
                <a:custGeom>
                  <a:avLst/>
                  <a:gdLst>
                    <a:gd name="connsiteX0" fmla="*/ 374822 w 745429"/>
                    <a:gd name="connsiteY0" fmla="*/ 0 h 721150"/>
                    <a:gd name="connsiteX1" fmla="*/ 700688 w 745429"/>
                    <a:gd name="connsiteY1" fmla="*/ 49266 h 721150"/>
                    <a:gd name="connsiteX2" fmla="*/ 745429 w 745429"/>
                    <a:gd name="connsiteY2" fmla="*/ 65642 h 721150"/>
                    <a:gd name="connsiteX3" fmla="*/ 619515 w 745429"/>
                    <a:gd name="connsiteY3" fmla="*/ 718933 h 721150"/>
                    <a:gd name="connsiteX4" fmla="*/ 549981 w 745429"/>
                    <a:gd name="connsiteY4" fmla="*/ 681191 h 721150"/>
                    <a:gd name="connsiteX5" fmla="*/ 374821 w 745429"/>
                    <a:gd name="connsiteY5" fmla="*/ 645828 h 721150"/>
                    <a:gd name="connsiteX6" fmla="*/ 199661 w 745429"/>
                    <a:gd name="connsiteY6" fmla="*/ 681191 h 721150"/>
                    <a:gd name="connsiteX7" fmla="*/ 126043 w 745429"/>
                    <a:gd name="connsiteY7" fmla="*/ 721150 h 721150"/>
                    <a:gd name="connsiteX8" fmla="*/ 0 w 745429"/>
                    <a:gd name="connsiteY8" fmla="*/ 67185 h 721150"/>
                    <a:gd name="connsiteX9" fmla="*/ 48956 w 745429"/>
                    <a:gd name="connsiteY9" fmla="*/ 49266 h 721150"/>
                    <a:gd name="connsiteX10" fmla="*/ 374822 w 745429"/>
                    <a:gd name="connsiteY10" fmla="*/ 0 h 72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5429" h="721150">
                      <a:moveTo>
                        <a:pt x="374822" y="0"/>
                      </a:moveTo>
                      <a:cubicBezTo>
                        <a:pt x="488299" y="0"/>
                        <a:pt x="597747" y="17248"/>
                        <a:pt x="700688" y="49266"/>
                      </a:cubicBezTo>
                      <a:lnTo>
                        <a:pt x="745429" y="65642"/>
                      </a:lnTo>
                      <a:lnTo>
                        <a:pt x="619515" y="718933"/>
                      </a:lnTo>
                      <a:lnTo>
                        <a:pt x="549981" y="681191"/>
                      </a:lnTo>
                      <a:cubicBezTo>
                        <a:pt x="496144" y="658420"/>
                        <a:pt x="436953" y="645828"/>
                        <a:pt x="374821" y="645828"/>
                      </a:cubicBezTo>
                      <a:cubicBezTo>
                        <a:pt x="312689" y="645828"/>
                        <a:pt x="253498" y="658420"/>
                        <a:pt x="199661" y="681191"/>
                      </a:cubicBezTo>
                      <a:lnTo>
                        <a:pt x="126043" y="721150"/>
                      </a:lnTo>
                      <a:lnTo>
                        <a:pt x="0" y="67185"/>
                      </a:lnTo>
                      <a:lnTo>
                        <a:pt x="48956" y="49266"/>
                      </a:lnTo>
                      <a:cubicBezTo>
                        <a:pt x="151897" y="17248"/>
                        <a:pt x="261345" y="0"/>
                        <a:pt x="374822"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09" name="자유형 77"/>
                <p:cNvSpPr/>
                <p:nvPr/>
              </p:nvSpPr>
              <p:spPr>
                <a:xfrm rot="16200000" flipH="1">
                  <a:off x="8475983" y="1806489"/>
                  <a:ext cx="742071" cy="724949"/>
                </a:xfrm>
                <a:custGeom>
                  <a:avLst/>
                  <a:gdLst>
                    <a:gd name="connsiteX0" fmla="*/ 374822 w 745429"/>
                    <a:gd name="connsiteY0" fmla="*/ 0 h 721150"/>
                    <a:gd name="connsiteX1" fmla="*/ 700688 w 745429"/>
                    <a:gd name="connsiteY1" fmla="*/ 49266 h 721150"/>
                    <a:gd name="connsiteX2" fmla="*/ 745429 w 745429"/>
                    <a:gd name="connsiteY2" fmla="*/ 65642 h 721150"/>
                    <a:gd name="connsiteX3" fmla="*/ 619515 w 745429"/>
                    <a:gd name="connsiteY3" fmla="*/ 718933 h 721150"/>
                    <a:gd name="connsiteX4" fmla="*/ 549981 w 745429"/>
                    <a:gd name="connsiteY4" fmla="*/ 681191 h 721150"/>
                    <a:gd name="connsiteX5" fmla="*/ 374821 w 745429"/>
                    <a:gd name="connsiteY5" fmla="*/ 645828 h 721150"/>
                    <a:gd name="connsiteX6" fmla="*/ 199661 w 745429"/>
                    <a:gd name="connsiteY6" fmla="*/ 681191 h 721150"/>
                    <a:gd name="connsiteX7" fmla="*/ 126043 w 745429"/>
                    <a:gd name="connsiteY7" fmla="*/ 721150 h 721150"/>
                    <a:gd name="connsiteX8" fmla="*/ 0 w 745429"/>
                    <a:gd name="connsiteY8" fmla="*/ 67185 h 721150"/>
                    <a:gd name="connsiteX9" fmla="*/ 48956 w 745429"/>
                    <a:gd name="connsiteY9" fmla="*/ 49266 h 721150"/>
                    <a:gd name="connsiteX10" fmla="*/ 374822 w 745429"/>
                    <a:gd name="connsiteY10" fmla="*/ 0 h 72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5429" h="721150">
                      <a:moveTo>
                        <a:pt x="374822" y="0"/>
                      </a:moveTo>
                      <a:cubicBezTo>
                        <a:pt x="488299" y="0"/>
                        <a:pt x="597747" y="17248"/>
                        <a:pt x="700688" y="49266"/>
                      </a:cubicBezTo>
                      <a:lnTo>
                        <a:pt x="745429" y="65642"/>
                      </a:lnTo>
                      <a:lnTo>
                        <a:pt x="619515" y="718933"/>
                      </a:lnTo>
                      <a:lnTo>
                        <a:pt x="549981" y="681191"/>
                      </a:lnTo>
                      <a:cubicBezTo>
                        <a:pt x="496144" y="658420"/>
                        <a:pt x="436953" y="645828"/>
                        <a:pt x="374821" y="645828"/>
                      </a:cubicBezTo>
                      <a:cubicBezTo>
                        <a:pt x="312689" y="645828"/>
                        <a:pt x="253498" y="658420"/>
                        <a:pt x="199661" y="681191"/>
                      </a:cubicBezTo>
                      <a:lnTo>
                        <a:pt x="126043" y="721150"/>
                      </a:lnTo>
                      <a:lnTo>
                        <a:pt x="0" y="67185"/>
                      </a:lnTo>
                      <a:lnTo>
                        <a:pt x="48956" y="49266"/>
                      </a:lnTo>
                      <a:cubicBezTo>
                        <a:pt x="151897" y="17248"/>
                        <a:pt x="261345" y="0"/>
                        <a:pt x="374822"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10" name="자유형 78"/>
                <p:cNvSpPr/>
                <p:nvPr/>
              </p:nvSpPr>
              <p:spPr>
                <a:xfrm>
                  <a:off x="8809523" y="1397709"/>
                  <a:ext cx="1549884" cy="1542509"/>
                </a:xfrm>
                <a:custGeom>
                  <a:avLst/>
                  <a:gdLst>
                    <a:gd name="connsiteX0" fmla="*/ 774000 w 1548000"/>
                    <a:gd name="connsiteY0" fmla="*/ 324000 h 1548000"/>
                    <a:gd name="connsiteX1" fmla="*/ 324000 w 1548000"/>
                    <a:gd name="connsiteY1" fmla="*/ 774000 h 1548000"/>
                    <a:gd name="connsiteX2" fmla="*/ 774000 w 1548000"/>
                    <a:gd name="connsiteY2" fmla="*/ 1224000 h 1548000"/>
                    <a:gd name="connsiteX3" fmla="*/ 1224000 w 1548000"/>
                    <a:gd name="connsiteY3" fmla="*/ 774000 h 1548000"/>
                    <a:gd name="connsiteX4" fmla="*/ 774000 w 1548000"/>
                    <a:gd name="connsiteY4" fmla="*/ 324000 h 1548000"/>
                    <a:gd name="connsiteX5" fmla="*/ 774000 w 1548000"/>
                    <a:gd name="connsiteY5" fmla="*/ 0 h 1548000"/>
                    <a:gd name="connsiteX6" fmla="*/ 1548000 w 1548000"/>
                    <a:gd name="connsiteY6" fmla="*/ 774000 h 1548000"/>
                    <a:gd name="connsiteX7" fmla="*/ 774000 w 1548000"/>
                    <a:gd name="connsiteY7" fmla="*/ 1548000 h 1548000"/>
                    <a:gd name="connsiteX8" fmla="*/ 0 w 1548000"/>
                    <a:gd name="connsiteY8" fmla="*/ 774000 h 1548000"/>
                    <a:gd name="connsiteX9" fmla="*/ 774000 w 1548000"/>
                    <a:gd name="connsiteY9" fmla="*/ 0 h 15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8000" h="1548000">
                      <a:moveTo>
                        <a:pt x="774000" y="324000"/>
                      </a:moveTo>
                      <a:cubicBezTo>
                        <a:pt x="525472" y="324000"/>
                        <a:pt x="324000" y="525472"/>
                        <a:pt x="324000" y="774000"/>
                      </a:cubicBezTo>
                      <a:cubicBezTo>
                        <a:pt x="324000" y="1022528"/>
                        <a:pt x="525472" y="1224000"/>
                        <a:pt x="774000" y="1224000"/>
                      </a:cubicBezTo>
                      <a:cubicBezTo>
                        <a:pt x="1022528" y="1224000"/>
                        <a:pt x="1224000" y="1022528"/>
                        <a:pt x="1224000" y="774000"/>
                      </a:cubicBezTo>
                      <a:cubicBezTo>
                        <a:pt x="1224000" y="525472"/>
                        <a:pt x="1022528" y="324000"/>
                        <a:pt x="774000" y="324000"/>
                      </a:cubicBezTo>
                      <a:close/>
                      <a:moveTo>
                        <a:pt x="774000" y="0"/>
                      </a:moveTo>
                      <a:cubicBezTo>
                        <a:pt x="1201468" y="0"/>
                        <a:pt x="1548000" y="346532"/>
                        <a:pt x="1548000" y="774000"/>
                      </a:cubicBezTo>
                      <a:cubicBezTo>
                        <a:pt x="1548000" y="1201468"/>
                        <a:pt x="1201468" y="1548000"/>
                        <a:pt x="774000" y="1548000"/>
                      </a:cubicBezTo>
                      <a:cubicBezTo>
                        <a:pt x="346532" y="1548000"/>
                        <a:pt x="0" y="1201468"/>
                        <a:pt x="0" y="774000"/>
                      </a:cubicBezTo>
                      <a:cubicBezTo>
                        <a:pt x="0" y="346532"/>
                        <a:pt x="346532" y="0"/>
                        <a:pt x="774000" y="0"/>
                      </a:cubicBezTo>
                      <a:close/>
                    </a:path>
                  </a:pathLst>
                </a:cu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grpSp>
        </p:grpSp>
        <p:sp>
          <p:nvSpPr>
            <p:cNvPr id="101" name="Rectangle 100"/>
            <p:cNvSpPr/>
            <p:nvPr/>
          </p:nvSpPr>
          <p:spPr>
            <a:xfrm>
              <a:off x="4840172" y="3452370"/>
              <a:ext cx="2019595" cy="451654"/>
            </a:xfrm>
            <a:prstGeom prst="rect">
              <a:avLst/>
            </a:prstGeom>
          </p:spPr>
          <p:txBody>
            <a:bodyPr wrap="none">
              <a:spAutoFit/>
            </a:bodyPr>
            <a:lstStyle/>
            <a:p>
              <a:pPr>
                <a:defRPr/>
              </a:pPr>
              <a:r>
                <a:rPr lang="en-US" sz="1050">
                  <a:solidFill>
                    <a:srgbClr val="FFFFFF"/>
                  </a:solidFill>
                  <a:latin typeface="Museo Sans 300" panose="02000000000000000000" pitchFamily="50" charset="0"/>
                  <a:ea typeface="Verdana" panose="020B0604030504040204" pitchFamily="34" charset="0"/>
                  <a:cs typeface="Verdana" panose="020B0604030504040204" pitchFamily="34" charset="0"/>
                </a:rPr>
                <a:t>INTRODUCTION</a:t>
              </a:r>
              <a:endParaRPr lang="en-US" sz="1050">
                <a:solidFill>
                  <a:srgbClr val="333333"/>
                </a:solidFill>
                <a:latin typeface="Museo Sans 300" panose="02000000000000000000" pitchFamily="50" charset="0"/>
                <a:ea typeface="Verdana" panose="020B0604030504040204" pitchFamily="34" charset="0"/>
                <a:cs typeface="Verdana" panose="020B0604030504040204" pitchFamily="34" charset="0"/>
              </a:endParaRPr>
            </a:p>
          </p:txBody>
        </p:sp>
      </p:grpSp>
      <p:grpSp>
        <p:nvGrpSpPr>
          <p:cNvPr id="111" name="Group 58"/>
          <p:cNvGrpSpPr>
            <a:grpSpLocks/>
          </p:cNvGrpSpPr>
          <p:nvPr/>
        </p:nvGrpSpPr>
        <p:grpSpPr bwMode="auto">
          <a:xfrm>
            <a:off x="2514600" y="1609990"/>
            <a:ext cx="2212420" cy="3340479"/>
            <a:chOff x="1992028" y="1944587"/>
            <a:chExt cx="3763682" cy="6475525"/>
          </a:xfrm>
          <a:effectLst>
            <a:outerShdw blurRad="50800" dist="63500" dir="5400000" algn="t" rotWithShape="0">
              <a:prstClr val="black">
                <a:alpha val="40000"/>
              </a:prstClr>
            </a:outerShdw>
          </a:effectLst>
        </p:grpSpPr>
        <p:sp>
          <p:nvSpPr>
            <p:cNvPr id="112" name="Rectangle 111"/>
            <p:cNvSpPr/>
            <p:nvPr/>
          </p:nvSpPr>
          <p:spPr>
            <a:xfrm>
              <a:off x="1992028" y="1944587"/>
              <a:ext cx="3611024" cy="6248297"/>
            </a:xfrm>
            <a:prstGeom prst="rect">
              <a:avLst/>
            </a:prstGeom>
            <a:solidFill>
              <a:srgbClr val="00B1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alpha val="70000"/>
                  </a:srgbClr>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13" name="Rectangle 112"/>
            <p:cNvSpPr/>
            <p:nvPr/>
          </p:nvSpPr>
          <p:spPr>
            <a:xfrm>
              <a:off x="2593553" y="2338510"/>
              <a:ext cx="1102240" cy="1085237"/>
            </a:xfrm>
            <a:prstGeom prst="rect">
              <a:avLst/>
            </a:prstGeom>
          </p:spPr>
          <p:txBody>
            <a:bodyPr wrap="none">
              <a:spAutoFit/>
            </a:bodyPr>
            <a:lstStyle/>
            <a:p>
              <a:pPr>
                <a:defRPr/>
              </a:pPr>
              <a:r>
                <a:rPr lang="en-US" sz="3038">
                  <a:solidFill>
                    <a:srgbClr val="FFFFFF"/>
                  </a:solidFill>
                  <a:latin typeface="Museo Sans 300" panose="02000000000000000000" pitchFamily="50" charset="0"/>
                  <a:ea typeface="Verdana" panose="020B0604030504040204" pitchFamily="34" charset="0"/>
                  <a:cs typeface="Verdana" panose="020B0604030504040204" pitchFamily="34" charset="0"/>
                </a:rPr>
                <a:t>02</a:t>
              </a:r>
            </a:p>
          </p:txBody>
        </p:sp>
        <p:sp>
          <p:nvSpPr>
            <p:cNvPr id="114" name="Rectangle 32"/>
            <p:cNvSpPr>
              <a:spLocks noChangeArrowheads="1"/>
            </p:cNvSpPr>
            <p:nvPr/>
          </p:nvSpPr>
          <p:spPr bwMode="auto">
            <a:xfrm>
              <a:off x="2342202" y="3528031"/>
              <a:ext cx="3413508" cy="48920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85725" indent="-85725">
                <a:lnSpc>
                  <a:spcPts val="660"/>
                </a:lnSpc>
                <a:buFont typeface="Arial" panose="020B0604020202020204" pitchFamily="34" charset="0"/>
                <a:buChar char="•"/>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2.1 Scope</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2.2 Services &amp; Deliverables</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2.3 Assumptions</a:t>
              </a: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 </a:t>
              </a: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2.4 Risk &amp; Mitigation</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2.5 Team Structure</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2.6 Roles and Responsibilities </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     (PETRONAS Digital)</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2.7 Roles and Responsibilities </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     (Business)</a:t>
              </a: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marL="85725" indent="-85725">
                <a:lnSpc>
                  <a:spcPts val="660"/>
                </a:lnSpc>
                <a:buFont typeface="Arial" panose="020B0604020202020204" pitchFamily="34" charset="0"/>
                <a:buChar char="•"/>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marL="85725" indent="-85725">
                <a:lnSpc>
                  <a:spcPts val="660"/>
                </a:lnSpc>
                <a:buFont typeface="Arial" panose="020B0604020202020204" pitchFamily="34" charset="0"/>
                <a:buChar char="•"/>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a:lnSpc>
                  <a:spcPts val="660"/>
                </a:lnSpc>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16" name="Rectangle 115"/>
            <p:cNvSpPr/>
            <p:nvPr/>
          </p:nvSpPr>
          <p:spPr>
            <a:xfrm>
              <a:off x="2341690" y="3371987"/>
              <a:ext cx="2337555" cy="492217"/>
            </a:xfrm>
            <a:prstGeom prst="rect">
              <a:avLst/>
            </a:prstGeom>
          </p:spPr>
          <p:txBody>
            <a:bodyPr wrap="none">
              <a:spAutoFit/>
            </a:bodyPr>
            <a:lstStyle/>
            <a:p>
              <a:pPr>
                <a:defRPr/>
              </a:pPr>
              <a:r>
                <a:rPr lang="en-US" sz="1050">
                  <a:solidFill>
                    <a:srgbClr val="FFFFFF"/>
                  </a:solidFill>
                  <a:latin typeface="Museo Sans 300" panose="02000000000000000000" pitchFamily="50" charset="0"/>
                  <a:ea typeface="Verdana" panose="020B0604030504040204" pitchFamily="34" charset="0"/>
                  <a:cs typeface="Verdana" panose="020B0604030504040204" pitchFamily="34" charset="0"/>
                </a:rPr>
                <a:t>PROPOSED Service</a:t>
              </a:r>
              <a:endParaRPr lang="en-US" sz="1050">
                <a:solidFill>
                  <a:srgbClr val="333333"/>
                </a:solidFill>
                <a:latin typeface="Museo Sans 300" panose="02000000000000000000" pitchFamily="50" charset="0"/>
                <a:ea typeface="Verdana" panose="020B0604030504040204" pitchFamily="34" charset="0"/>
                <a:cs typeface="Verdana" panose="020B0604030504040204" pitchFamily="34" charset="0"/>
              </a:endParaRPr>
            </a:p>
          </p:txBody>
        </p:sp>
        <p:grpSp>
          <p:nvGrpSpPr>
            <p:cNvPr id="117" name="그룹 162"/>
            <p:cNvGrpSpPr>
              <a:grpSpLocks noChangeAspect="1"/>
            </p:cNvGrpSpPr>
            <p:nvPr/>
          </p:nvGrpSpPr>
          <p:grpSpPr bwMode="auto">
            <a:xfrm>
              <a:off x="3720274" y="2373893"/>
              <a:ext cx="827593" cy="841173"/>
              <a:chOff x="8287090" y="889455"/>
              <a:chExt cx="3330980" cy="3385641"/>
            </a:xfrm>
          </p:grpSpPr>
          <p:sp>
            <p:nvSpPr>
              <p:cNvPr id="118" name="타원 163"/>
              <p:cNvSpPr/>
              <p:nvPr/>
            </p:nvSpPr>
            <p:spPr>
              <a:xfrm>
                <a:off x="8287090" y="889455"/>
                <a:ext cx="3330980" cy="3385641"/>
              </a:xfrm>
              <a:prstGeom prst="ellipse">
                <a:avLst/>
              </a:prstGeom>
              <a:solidFill>
                <a:srgbClr val="59595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grpSp>
            <p:nvGrpSpPr>
              <p:cNvPr id="120" name="그룹 165"/>
              <p:cNvGrpSpPr>
                <a:grpSpLocks/>
              </p:cNvGrpSpPr>
              <p:nvPr/>
            </p:nvGrpSpPr>
            <p:grpSpPr bwMode="auto">
              <a:xfrm>
                <a:off x="8986057" y="1332956"/>
                <a:ext cx="1911943" cy="2310450"/>
                <a:chOff x="8986057" y="1332956"/>
                <a:chExt cx="1911943" cy="2310450"/>
              </a:xfrm>
            </p:grpSpPr>
            <p:sp>
              <p:nvSpPr>
                <p:cNvPr id="121" name="타원 166"/>
                <p:cNvSpPr/>
                <p:nvPr/>
              </p:nvSpPr>
              <p:spPr>
                <a:xfrm>
                  <a:off x="8986057" y="1518789"/>
                  <a:ext cx="1911943" cy="2124617"/>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2" name="타원 167"/>
                <p:cNvSpPr/>
                <p:nvPr/>
              </p:nvSpPr>
              <p:spPr>
                <a:xfrm>
                  <a:off x="9185747" y="1773555"/>
                  <a:ext cx="1507342" cy="16508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3" name="타원 168"/>
                <p:cNvSpPr/>
                <p:nvPr/>
              </p:nvSpPr>
              <p:spPr>
                <a:xfrm>
                  <a:off x="9417108" y="2034173"/>
                  <a:ext cx="1074027" cy="1096752"/>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4" name="타원 169"/>
                <p:cNvSpPr/>
                <p:nvPr/>
              </p:nvSpPr>
              <p:spPr>
                <a:xfrm>
                  <a:off x="9621552" y="2264626"/>
                  <a:ext cx="644478" cy="6425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5" name="직사각형 182"/>
                <p:cNvSpPr/>
                <p:nvPr/>
              </p:nvSpPr>
              <p:spPr>
                <a:xfrm rot="18705494">
                  <a:off x="9720406" y="1946712"/>
                  <a:ext cx="1321222" cy="93709"/>
                </a:xfrm>
                <a:prstGeom prst="rect">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6" name="타원 183"/>
                <p:cNvSpPr/>
                <p:nvPr/>
              </p:nvSpPr>
              <p:spPr>
                <a:xfrm>
                  <a:off x="9843046" y="2460382"/>
                  <a:ext cx="144816" cy="14490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7" name="평행 사변형 184"/>
                <p:cNvSpPr/>
                <p:nvPr/>
              </p:nvSpPr>
              <p:spPr>
                <a:xfrm rot="18731060">
                  <a:off x="10464793" y="1463111"/>
                  <a:ext cx="383579" cy="127779"/>
                </a:xfrm>
                <a:prstGeom prst="parallelogram">
                  <a:avLst>
                    <a:gd name="adj" fmla="val 855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28" name="평행 사변형 185"/>
                <p:cNvSpPr/>
                <p:nvPr/>
              </p:nvSpPr>
              <p:spPr>
                <a:xfrm rot="18696587" flipV="1">
                  <a:off x="10630907" y="1612283"/>
                  <a:ext cx="383579" cy="136300"/>
                </a:xfrm>
                <a:prstGeom prst="parallelogram">
                  <a:avLst>
                    <a:gd name="adj" fmla="val 79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grpSp>
        </p:grpSp>
      </p:grpSp>
      <p:sp>
        <p:nvSpPr>
          <p:cNvPr id="129" name="Rectangle 128"/>
          <p:cNvSpPr/>
          <p:nvPr/>
        </p:nvSpPr>
        <p:spPr bwMode="auto">
          <a:xfrm>
            <a:off x="4727019" y="1609996"/>
            <a:ext cx="2007930" cy="3223260"/>
          </a:xfrm>
          <a:prstGeom prst="rect">
            <a:avLst/>
          </a:prstGeom>
          <a:solidFill>
            <a:srgbClr val="00B1A9"/>
          </a:solidFill>
          <a:ln>
            <a:noFill/>
          </a:ln>
          <a:effectLst>
            <a:outerShdw blurRad="50800" dist="635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alpha val="70000"/>
                </a:srgbClr>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30" name="Rectangle 129"/>
          <p:cNvSpPr/>
          <p:nvPr/>
        </p:nvSpPr>
        <p:spPr bwMode="auto">
          <a:xfrm>
            <a:off x="4925860" y="1831453"/>
            <a:ext cx="681597" cy="559833"/>
          </a:xfrm>
          <a:prstGeom prst="rect">
            <a:avLst/>
          </a:prstGeom>
          <a:effectLst>
            <a:outerShdw blurRad="50800" dist="63500" dir="5400000" algn="t" rotWithShape="0">
              <a:prstClr val="black">
                <a:alpha val="40000"/>
              </a:prstClr>
            </a:outerShdw>
          </a:effectLst>
        </p:spPr>
        <p:txBody>
          <a:bodyPr wrap="none">
            <a:spAutoFit/>
          </a:bodyPr>
          <a:lstStyle/>
          <a:p>
            <a:pPr>
              <a:defRPr/>
            </a:pPr>
            <a:r>
              <a:rPr lang="en-US" sz="3038">
                <a:solidFill>
                  <a:srgbClr val="FFFFFF"/>
                </a:solidFill>
                <a:latin typeface="Verdana" panose="020B0604030504040204" pitchFamily="34" charset="0"/>
                <a:ea typeface="Verdana" panose="020B0604030504040204" pitchFamily="34" charset="0"/>
                <a:cs typeface="Verdana" panose="020B0604030504040204" pitchFamily="34" charset="0"/>
              </a:rPr>
              <a:t>03</a:t>
            </a:r>
          </a:p>
        </p:txBody>
      </p:sp>
      <p:sp>
        <p:nvSpPr>
          <p:cNvPr id="132" name="Rectangle 131"/>
          <p:cNvSpPr/>
          <p:nvPr/>
        </p:nvSpPr>
        <p:spPr bwMode="auto">
          <a:xfrm>
            <a:off x="4830610" y="1813594"/>
            <a:ext cx="60722" cy="531019"/>
          </a:xfrm>
          <a:prstGeom prst="rect">
            <a:avLst/>
          </a:prstGeom>
          <a:solidFill>
            <a:schemeClr val="tx1">
              <a:lumMod val="75000"/>
              <a:lumOff val="25000"/>
            </a:schemeClr>
          </a:solidFill>
          <a:ln>
            <a:noFill/>
          </a:ln>
          <a:effectLst>
            <a:outerShdw blurRad="50800" dist="635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grpSp>
        <p:nvGrpSpPr>
          <p:cNvPr id="134" name="그룹 122"/>
          <p:cNvGrpSpPr>
            <a:grpSpLocks noChangeAspect="1"/>
          </p:cNvGrpSpPr>
          <p:nvPr/>
        </p:nvGrpSpPr>
        <p:grpSpPr bwMode="auto">
          <a:xfrm>
            <a:off x="5565345" y="1842051"/>
            <a:ext cx="483581" cy="477007"/>
            <a:chOff x="7697914" y="1121811"/>
            <a:chExt cx="3910558" cy="3859796"/>
          </a:xfrm>
          <a:effectLst>
            <a:outerShdw blurRad="50800" dist="63500" dir="5400000" algn="t" rotWithShape="0">
              <a:prstClr val="black">
                <a:alpha val="40000"/>
              </a:prstClr>
            </a:outerShdw>
          </a:effectLst>
        </p:grpSpPr>
        <p:sp>
          <p:nvSpPr>
            <p:cNvPr id="135" name="타원 123"/>
            <p:cNvSpPr/>
            <p:nvPr/>
          </p:nvSpPr>
          <p:spPr>
            <a:xfrm>
              <a:off x="7697914" y="1121811"/>
              <a:ext cx="3865540" cy="3859796"/>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36" name="자유형 124"/>
            <p:cNvSpPr/>
            <p:nvPr/>
          </p:nvSpPr>
          <p:spPr>
            <a:xfrm>
              <a:off x="10532448" y="1688637"/>
              <a:ext cx="235096" cy="542869"/>
            </a:xfrm>
            <a:custGeom>
              <a:avLst/>
              <a:gdLst>
                <a:gd name="connsiteX0" fmla="*/ 0 w 228600"/>
                <a:gd name="connsiteY0" fmla="*/ 500063 h 542925"/>
                <a:gd name="connsiteX1" fmla="*/ 200025 w 228600"/>
                <a:gd name="connsiteY1" fmla="*/ 0 h 542925"/>
                <a:gd name="connsiteX2" fmla="*/ 228600 w 228600"/>
                <a:gd name="connsiteY2" fmla="*/ 0 h 542925"/>
                <a:gd name="connsiteX3" fmla="*/ 85725 w 228600"/>
                <a:gd name="connsiteY3" fmla="*/ 542925 h 542925"/>
                <a:gd name="connsiteX4" fmla="*/ 0 w 228600"/>
                <a:gd name="connsiteY4" fmla="*/ 500063 h 542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542925">
                  <a:moveTo>
                    <a:pt x="0" y="500063"/>
                  </a:moveTo>
                  <a:lnTo>
                    <a:pt x="200025" y="0"/>
                  </a:lnTo>
                  <a:lnTo>
                    <a:pt x="228600" y="0"/>
                  </a:lnTo>
                  <a:lnTo>
                    <a:pt x="85725" y="542925"/>
                  </a:lnTo>
                  <a:lnTo>
                    <a:pt x="0" y="5000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37" name="자유형 125"/>
            <p:cNvSpPr/>
            <p:nvPr/>
          </p:nvSpPr>
          <p:spPr>
            <a:xfrm>
              <a:off x="10794679" y="2023404"/>
              <a:ext cx="316472" cy="479540"/>
            </a:xfrm>
            <a:custGeom>
              <a:avLst/>
              <a:gdLst>
                <a:gd name="connsiteX0" fmla="*/ 0 w 314325"/>
                <a:gd name="connsiteY0" fmla="*/ 414337 h 485775"/>
                <a:gd name="connsiteX1" fmla="*/ 314325 w 314325"/>
                <a:gd name="connsiteY1" fmla="*/ 0 h 485775"/>
                <a:gd name="connsiteX2" fmla="*/ 57150 w 314325"/>
                <a:gd name="connsiteY2" fmla="*/ 485775 h 485775"/>
                <a:gd name="connsiteX3" fmla="*/ 0 w 314325"/>
                <a:gd name="connsiteY3" fmla="*/ 414337 h 485775"/>
              </a:gdLst>
              <a:ahLst/>
              <a:cxnLst>
                <a:cxn ang="0">
                  <a:pos x="connsiteX0" y="connsiteY0"/>
                </a:cxn>
                <a:cxn ang="0">
                  <a:pos x="connsiteX1" y="connsiteY1"/>
                </a:cxn>
                <a:cxn ang="0">
                  <a:pos x="connsiteX2" y="connsiteY2"/>
                </a:cxn>
                <a:cxn ang="0">
                  <a:pos x="connsiteX3" y="connsiteY3"/>
                </a:cxn>
              </a:cxnLst>
              <a:rect l="l" t="t" r="r" b="b"/>
              <a:pathLst>
                <a:path w="314325" h="485775">
                  <a:moveTo>
                    <a:pt x="0" y="414337"/>
                  </a:moveTo>
                  <a:lnTo>
                    <a:pt x="314325" y="0"/>
                  </a:lnTo>
                  <a:lnTo>
                    <a:pt x="57150" y="485775"/>
                  </a:lnTo>
                  <a:lnTo>
                    <a:pt x="0" y="41433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38" name="자유형 126"/>
            <p:cNvSpPr/>
            <p:nvPr/>
          </p:nvSpPr>
          <p:spPr>
            <a:xfrm>
              <a:off x="10921264" y="2620559"/>
              <a:ext cx="524445" cy="190005"/>
            </a:xfrm>
            <a:custGeom>
              <a:avLst/>
              <a:gdLst>
                <a:gd name="connsiteX0" fmla="*/ 71437 w 528637"/>
                <a:gd name="connsiteY0" fmla="*/ 85725 h 185737"/>
                <a:gd name="connsiteX1" fmla="*/ 528637 w 528637"/>
                <a:gd name="connsiteY1" fmla="*/ 0 h 185737"/>
                <a:gd name="connsiteX2" fmla="*/ 528637 w 528637"/>
                <a:gd name="connsiteY2" fmla="*/ 28575 h 185737"/>
                <a:gd name="connsiteX3" fmla="*/ 0 w 528637"/>
                <a:gd name="connsiteY3" fmla="*/ 185737 h 185737"/>
                <a:gd name="connsiteX4" fmla="*/ 71437 w 528637"/>
                <a:gd name="connsiteY4" fmla="*/ 85725 h 185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637" h="185737">
                  <a:moveTo>
                    <a:pt x="71437" y="85725"/>
                  </a:moveTo>
                  <a:lnTo>
                    <a:pt x="528637" y="0"/>
                  </a:lnTo>
                  <a:lnTo>
                    <a:pt x="528637" y="28575"/>
                  </a:lnTo>
                  <a:lnTo>
                    <a:pt x="0" y="185737"/>
                  </a:lnTo>
                  <a:lnTo>
                    <a:pt x="71437" y="857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39" name="자유형 127"/>
            <p:cNvSpPr/>
            <p:nvPr/>
          </p:nvSpPr>
          <p:spPr>
            <a:xfrm>
              <a:off x="10993603" y="3045807"/>
              <a:ext cx="614869" cy="99524"/>
            </a:xfrm>
            <a:custGeom>
              <a:avLst/>
              <a:gdLst>
                <a:gd name="connsiteX0" fmla="*/ 57150 w 614363"/>
                <a:gd name="connsiteY0" fmla="*/ 0 h 100012"/>
                <a:gd name="connsiteX1" fmla="*/ 614363 w 614363"/>
                <a:gd name="connsiteY1" fmla="*/ 0 h 100012"/>
                <a:gd name="connsiteX2" fmla="*/ 0 w 614363"/>
                <a:gd name="connsiteY2" fmla="*/ 100012 h 100012"/>
                <a:gd name="connsiteX3" fmla="*/ 57150 w 614363"/>
                <a:gd name="connsiteY3" fmla="*/ 0 h 100012"/>
              </a:gdLst>
              <a:ahLst/>
              <a:cxnLst>
                <a:cxn ang="0">
                  <a:pos x="connsiteX0" y="connsiteY0"/>
                </a:cxn>
                <a:cxn ang="0">
                  <a:pos x="connsiteX1" y="connsiteY1"/>
                </a:cxn>
                <a:cxn ang="0">
                  <a:pos x="connsiteX2" y="connsiteY2"/>
                </a:cxn>
                <a:cxn ang="0">
                  <a:pos x="connsiteX3" y="connsiteY3"/>
                </a:cxn>
              </a:cxnLst>
              <a:rect l="l" t="t" r="r" b="b"/>
              <a:pathLst>
                <a:path w="614363" h="100012">
                  <a:moveTo>
                    <a:pt x="57150" y="0"/>
                  </a:moveTo>
                  <a:lnTo>
                    <a:pt x="614363" y="0"/>
                  </a:lnTo>
                  <a:lnTo>
                    <a:pt x="0" y="100012"/>
                  </a:lnTo>
                  <a:lnTo>
                    <a:pt x="5715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141" name="자유형 128"/>
          <p:cNvSpPr/>
          <p:nvPr/>
        </p:nvSpPr>
        <p:spPr bwMode="auto">
          <a:xfrm>
            <a:off x="7670525" y="2098461"/>
            <a:ext cx="411437" cy="259746"/>
          </a:xfrm>
          <a:custGeom>
            <a:avLst/>
            <a:gdLst>
              <a:gd name="connsiteX0" fmla="*/ 2301099 w 3272649"/>
              <a:gd name="connsiteY0" fmla="*/ 0 h 2093924"/>
              <a:gd name="connsiteX1" fmla="*/ 3272649 w 3272649"/>
              <a:gd name="connsiteY1" fmla="*/ 28575 h 2093924"/>
              <a:gd name="connsiteX2" fmla="*/ 1100472 w 3272649"/>
              <a:gd name="connsiteY2" fmla="*/ 2093924 h 2093924"/>
              <a:gd name="connsiteX3" fmla="*/ 1069206 w 3272649"/>
              <a:gd name="connsiteY3" fmla="*/ 2082481 h 2093924"/>
              <a:gd name="connsiteX4" fmla="*/ 17779 w 3272649"/>
              <a:gd name="connsiteY4" fmla="*/ 1128255 h 2093924"/>
              <a:gd name="connsiteX5" fmla="*/ 0 w 3272649"/>
              <a:gd name="connsiteY5" fmla="*/ 1091347 h 2093924"/>
              <a:gd name="connsiteX6" fmla="*/ 700899 w 3272649"/>
              <a:gd name="connsiteY6" fmla="*/ 457200 h 2093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2649" h="2093924">
                <a:moveTo>
                  <a:pt x="2301099" y="0"/>
                </a:moveTo>
                <a:lnTo>
                  <a:pt x="3272649" y="28575"/>
                </a:lnTo>
                <a:lnTo>
                  <a:pt x="1100472" y="2093924"/>
                </a:lnTo>
                <a:lnTo>
                  <a:pt x="1069206" y="2082481"/>
                </a:lnTo>
                <a:cubicBezTo>
                  <a:pt x="620008" y="1892486"/>
                  <a:pt x="248982" y="1553860"/>
                  <a:pt x="17779" y="1128255"/>
                </a:cubicBezTo>
                <a:lnTo>
                  <a:pt x="0" y="1091347"/>
                </a:lnTo>
                <a:lnTo>
                  <a:pt x="700899" y="457200"/>
                </a:lnTo>
                <a:close/>
              </a:path>
            </a:pathLst>
          </a:cu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grpSp>
        <p:nvGrpSpPr>
          <p:cNvPr id="142" name="Group 141"/>
          <p:cNvGrpSpPr/>
          <p:nvPr/>
        </p:nvGrpSpPr>
        <p:grpSpPr>
          <a:xfrm>
            <a:off x="6787534" y="1609996"/>
            <a:ext cx="2228414" cy="3223260"/>
            <a:chOff x="8915400" y="2251072"/>
            <a:chExt cx="2655887" cy="4280309"/>
          </a:xfrm>
          <a:effectLst>
            <a:outerShdw blurRad="50800" dist="63500" dir="2700000" algn="tl" rotWithShape="0">
              <a:prstClr val="black">
                <a:alpha val="40000"/>
              </a:prstClr>
            </a:outerShdw>
          </a:effectLst>
        </p:grpSpPr>
        <p:grpSp>
          <p:nvGrpSpPr>
            <p:cNvPr id="143" name="Group 142"/>
            <p:cNvGrpSpPr>
              <a:grpSpLocks/>
            </p:cNvGrpSpPr>
            <p:nvPr/>
          </p:nvGrpSpPr>
          <p:grpSpPr bwMode="auto">
            <a:xfrm>
              <a:off x="8915400" y="2251072"/>
              <a:ext cx="2655887" cy="4280309"/>
              <a:chOff x="647497" y="1926106"/>
              <a:chExt cx="3540921" cy="5706069"/>
            </a:xfrm>
          </p:grpSpPr>
          <p:sp>
            <p:nvSpPr>
              <p:cNvPr id="145" name="Rectangle 144"/>
              <p:cNvSpPr/>
              <p:nvPr/>
            </p:nvSpPr>
            <p:spPr>
              <a:xfrm>
                <a:off x="647497" y="1926106"/>
                <a:ext cx="3540921" cy="5706069"/>
              </a:xfrm>
              <a:prstGeom prst="rect">
                <a:avLst/>
              </a:prstGeom>
              <a:solidFill>
                <a:srgbClr val="00B1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solidFill>
                    <a:srgbClr val="FFFFFF">
                      <a:alpha val="70000"/>
                    </a:srgbClr>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46" name="Rectangle 145"/>
              <p:cNvSpPr/>
              <p:nvPr/>
            </p:nvSpPr>
            <p:spPr>
              <a:xfrm>
                <a:off x="1245277" y="2319738"/>
                <a:ext cx="1083049" cy="991061"/>
              </a:xfrm>
              <a:prstGeom prst="rect">
                <a:avLst/>
              </a:prstGeom>
            </p:spPr>
            <p:txBody>
              <a:bodyPr wrap="none">
                <a:spAutoFit/>
              </a:bodyPr>
              <a:lstStyle/>
              <a:p>
                <a:pPr>
                  <a:defRPr/>
                </a:pPr>
                <a:r>
                  <a:rPr lang="en-US" sz="3038">
                    <a:solidFill>
                      <a:srgbClr val="FFFFFF"/>
                    </a:solidFill>
                    <a:latin typeface="Museo Sans 300" panose="02000000000000000000" pitchFamily="50" charset="0"/>
                    <a:ea typeface="Verdana" panose="020B0604030504040204" pitchFamily="34" charset="0"/>
                    <a:cs typeface="Verdana" panose="020B0604030504040204" pitchFamily="34" charset="0"/>
                  </a:rPr>
                  <a:t>04</a:t>
                </a:r>
              </a:p>
            </p:txBody>
          </p:sp>
          <p:sp>
            <p:nvSpPr>
              <p:cNvPr id="147" name="Rectangle 62"/>
              <p:cNvSpPr>
                <a:spLocks noChangeArrowheads="1"/>
              </p:cNvSpPr>
              <p:nvPr/>
            </p:nvSpPr>
            <p:spPr bwMode="auto">
              <a:xfrm>
                <a:off x="993926" y="3556476"/>
                <a:ext cx="2995021" cy="1634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4.1 Service Proposal</a:t>
                </a:r>
              </a:p>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      Approval</a:t>
                </a:r>
              </a:p>
              <a:p>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r>
                  <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rPr>
                  <a:t>APPENDICES</a:t>
                </a:r>
              </a:p>
              <a:p>
                <a:pPr marL="85725" indent="-85725">
                  <a:buFont typeface="Arial" panose="020B0604020202020204" pitchFamily="34" charset="0"/>
                  <a:buChar char="•"/>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a:p>
                <a:pPr marL="85725" indent="-85725">
                  <a:buFont typeface="Arial" panose="020B0604020202020204" pitchFamily="34" charset="0"/>
                  <a:buChar char="•"/>
                </a:pPr>
                <a:endParaRPr lang="en-US" sz="900">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48" name="Rectangle 147"/>
              <p:cNvSpPr/>
              <p:nvPr/>
            </p:nvSpPr>
            <p:spPr>
              <a:xfrm>
                <a:off x="1075956" y="2287994"/>
                <a:ext cx="107943" cy="943864"/>
              </a:xfrm>
              <a:prstGeom prst="rect">
                <a:avLst/>
              </a:prstGeom>
              <a:solidFill>
                <a:schemeClr val="tx1">
                  <a:lumMod val="75000"/>
                  <a:lumOff val="25000"/>
                </a:schemeClr>
              </a:solidFill>
              <a:ln>
                <a:noFill/>
              </a:ln>
              <a:effectLst>
                <a:outerShdw blurRad="50800" dist="635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49" name="Rectangle 148"/>
              <p:cNvSpPr/>
              <p:nvPr/>
            </p:nvSpPr>
            <p:spPr>
              <a:xfrm>
                <a:off x="993413" y="3250652"/>
                <a:ext cx="1482952" cy="449502"/>
              </a:xfrm>
              <a:prstGeom prst="rect">
                <a:avLst/>
              </a:prstGeom>
            </p:spPr>
            <p:txBody>
              <a:bodyPr wrap="none">
                <a:spAutoFit/>
              </a:bodyPr>
              <a:lstStyle/>
              <a:p>
                <a:pPr>
                  <a:defRPr/>
                </a:pPr>
                <a:r>
                  <a:rPr lang="en-US" sz="1050">
                    <a:solidFill>
                      <a:srgbClr val="FFFFFF"/>
                    </a:solidFill>
                    <a:latin typeface="Museo Sans 300" panose="02000000000000000000" pitchFamily="50" charset="0"/>
                    <a:ea typeface="Verdana" panose="020B0604030504040204" pitchFamily="34" charset="0"/>
                    <a:cs typeface="Verdana" panose="020B0604030504040204" pitchFamily="34" charset="0"/>
                  </a:rPr>
                  <a:t>APPROVALS</a:t>
                </a:r>
                <a:endParaRPr lang="en-US" sz="1050">
                  <a:solidFill>
                    <a:srgbClr val="333333"/>
                  </a:solidFill>
                  <a:latin typeface="Museo Sans 300" panose="02000000000000000000" pitchFamily="50" charset="0"/>
                  <a:ea typeface="Verdana" panose="020B0604030504040204" pitchFamily="34" charset="0"/>
                  <a:cs typeface="Verdana" panose="020B0604030504040204" pitchFamily="34" charset="0"/>
                </a:endParaRPr>
              </a:p>
            </p:txBody>
          </p:sp>
          <p:grpSp>
            <p:nvGrpSpPr>
              <p:cNvPr id="150" name="그룹 122"/>
              <p:cNvGrpSpPr>
                <a:grpSpLocks noChangeAspect="1"/>
              </p:cNvGrpSpPr>
              <p:nvPr/>
            </p:nvGrpSpPr>
            <p:grpSpPr bwMode="auto">
              <a:xfrm>
                <a:off x="2339512" y="2336910"/>
                <a:ext cx="940527" cy="958435"/>
                <a:chOff x="7697914" y="1311569"/>
                <a:chExt cx="4018133" cy="4094645"/>
              </a:xfrm>
            </p:grpSpPr>
            <p:sp>
              <p:nvSpPr>
                <p:cNvPr id="151" name="타원 123"/>
                <p:cNvSpPr/>
                <p:nvPr/>
              </p:nvSpPr>
              <p:spPr>
                <a:xfrm>
                  <a:off x="7697914" y="1311569"/>
                  <a:ext cx="4018133" cy="4094645"/>
                </a:xfrm>
                <a:prstGeom prst="ellipse">
                  <a:avLst/>
                </a:prstGeom>
                <a:solidFill>
                  <a:srgbClr val="595959"/>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52" name="자유형 124"/>
                <p:cNvSpPr/>
                <p:nvPr/>
              </p:nvSpPr>
              <p:spPr>
                <a:xfrm>
                  <a:off x="10451838" y="1890565"/>
                  <a:ext cx="235097" cy="542472"/>
                </a:xfrm>
                <a:custGeom>
                  <a:avLst/>
                  <a:gdLst>
                    <a:gd name="connsiteX0" fmla="*/ 0 w 228600"/>
                    <a:gd name="connsiteY0" fmla="*/ 500063 h 542925"/>
                    <a:gd name="connsiteX1" fmla="*/ 200025 w 228600"/>
                    <a:gd name="connsiteY1" fmla="*/ 0 h 542925"/>
                    <a:gd name="connsiteX2" fmla="*/ 228600 w 228600"/>
                    <a:gd name="connsiteY2" fmla="*/ 0 h 542925"/>
                    <a:gd name="connsiteX3" fmla="*/ 85725 w 228600"/>
                    <a:gd name="connsiteY3" fmla="*/ 542925 h 542925"/>
                    <a:gd name="connsiteX4" fmla="*/ 0 w 228600"/>
                    <a:gd name="connsiteY4" fmla="*/ 500063 h 542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542925">
                      <a:moveTo>
                        <a:pt x="0" y="500063"/>
                      </a:moveTo>
                      <a:lnTo>
                        <a:pt x="200025" y="0"/>
                      </a:lnTo>
                      <a:lnTo>
                        <a:pt x="228600" y="0"/>
                      </a:lnTo>
                      <a:lnTo>
                        <a:pt x="85725" y="542925"/>
                      </a:lnTo>
                      <a:lnTo>
                        <a:pt x="0" y="5000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54" name="자유형 126"/>
                <p:cNvSpPr/>
                <p:nvPr/>
              </p:nvSpPr>
              <p:spPr>
                <a:xfrm>
                  <a:off x="10840650" y="2821820"/>
                  <a:ext cx="524447" cy="189862"/>
                </a:xfrm>
                <a:custGeom>
                  <a:avLst/>
                  <a:gdLst>
                    <a:gd name="connsiteX0" fmla="*/ 71437 w 528637"/>
                    <a:gd name="connsiteY0" fmla="*/ 85725 h 185737"/>
                    <a:gd name="connsiteX1" fmla="*/ 528637 w 528637"/>
                    <a:gd name="connsiteY1" fmla="*/ 0 h 185737"/>
                    <a:gd name="connsiteX2" fmla="*/ 528637 w 528637"/>
                    <a:gd name="connsiteY2" fmla="*/ 28575 h 185737"/>
                    <a:gd name="connsiteX3" fmla="*/ 0 w 528637"/>
                    <a:gd name="connsiteY3" fmla="*/ 185737 h 185737"/>
                    <a:gd name="connsiteX4" fmla="*/ 71437 w 528637"/>
                    <a:gd name="connsiteY4" fmla="*/ 85725 h 185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637" h="185737">
                      <a:moveTo>
                        <a:pt x="71437" y="85725"/>
                      </a:moveTo>
                      <a:lnTo>
                        <a:pt x="528637" y="0"/>
                      </a:lnTo>
                      <a:lnTo>
                        <a:pt x="528637" y="28575"/>
                      </a:lnTo>
                      <a:lnTo>
                        <a:pt x="0" y="185737"/>
                      </a:lnTo>
                      <a:lnTo>
                        <a:pt x="71437" y="857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55" name="자유형 127"/>
                <p:cNvSpPr/>
                <p:nvPr/>
              </p:nvSpPr>
              <p:spPr>
                <a:xfrm>
                  <a:off x="10912987" y="3246751"/>
                  <a:ext cx="614869" cy="99457"/>
                </a:xfrm>
                <a:custGeom>
                  <a:avLst/>
                  <a:gdLst>
                    <a:gd name="connsiteX0" fmla="*/ 57150 w 614363"/>
                    <a:gd name="connsiteY0" fmla="*/ 0 h 100012"/>
                    <a:gd name="connsiteX1" fmla="*/ 614363 w 614363"/>
                    <a:gd name="connsiteY1" fmla="*/ 0 h 100012"/>
                    <a:gd name="connsiteX2" fmla="*/ 0 w 614363"/>
                    <a:gd name="connsiteY2" fmla="*/ 100012 h 100012"/>
                    <a:gd name="connsiteX3" fmla="*/ 57150 w 614363"/>
                    <a:gd name="connsiteY3" fmla="*/ 0 h 100012"/>
                  </a:gdLst>
                  <a:ahLst/>
                  <a:cxnLst>
                    <a:cxn ang="0">
                      <a:pos x="connsiteX0" y="connsiteY0"/>
                    </a:cxn>
                    <a:cxn ang="0">
                      <a:pos x="connsiteX1" y="connsiteY1"/>
                    </a:cxn>
                    <a:cxn ang="0">
                      <a:pos x="connsiteX2" y="connsiteY2"/>
                    </a:cxn>
                    <a:cxn ang="0">
                      <a:pos x="connsiteX3" y="connsiteY3"/>
                    </a:cxn>
                  </a:cxnLst>
                  <a:rect l="l" t="t" r="r" b="b"/>
                  <a:pathLst>
                    <a:path w="614363" h="100012">
                      <a:moveTo>
                        <a:pt x="57150" y="0"/>
                      </a:moveTo>
                      <a:lnTo>
                        <a:pt x="614363" y="0"/>
                      </a:lnTo>
                      <a:lnTo>
                        <a:pt x="0" y="100012"/>
                      </a:lnTo>
                      <a:lnTo>
                        <a:pt x="5715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156" name="자유형 125"/>
                <p:cNvSpPr/>
                <p:nvPr/>
              </p:nvSpPr>
              <p:spPr>
                <a:xfrm>
                  <a:off x="10714059" y="2225098"/>
                  <a:ext cx="316480" cy="479181"/>
                </a:xfrm>
                <a:custGeom>
                  <a:avLst/>
                  <a:gdLst>
                    <a:gd name="connsiteX0" fmla="*/ 0 w 314325"/>
                    <a:gd name="connsiteY0" fmla="*/ 414337 h 485775"/>
                    <a:gd name="connsiteX1" fmla="*/ 314325 w 314325"/>
                    <a:gd name="connsiteY1" fmla="*/ 0 h 485775"/>
                    <a:gd name="connsiteX2" fmla="*/ 57150 w 314325"/>
                    <a:gd name="connsiteY2" fmla="*/ 485775 h 485775"/>
                    <a:gd name="connsiteX3" fmla="*/ 0 w 314325"/>
                    <a:gd name="connsiteY3" fmla="*/ 414337 h 485775"/>
                  </a:gdLst>
                  <a:ahLst/>
                  <a:cxnLst>
                    <a:cxn ang="0">
                      <a:pos x="connsiteX0" y="connsiteY0"/>
                    </a:cxn>
                    <a:cxn ang="0">
                      <a:pos x="connsiteX1" y="connsiteY1"/>
                    </a:cxn>
                    <a:cxn ang="0">
                      <a:pos x="connsiteX2" y="connsiteY2"/>
                    </a:cxn>
                    <a:cxn ang="0">
                      <a:pos x="connsiteX3" y="connsiteY3"/>
                    </a:cxn>
                  </a:cxnLst>
                  <a:rect l="l" t="t" r="r" b="b"/>
                  <a:pathLst>
                    <a:path w="314325" h="485775">
                      <a:moveTo>
                        <a:pt x="0" y="414337"/>
                      </a:moveTo>
                      <a:lnTo>
                        <a:pt x="314325" y="0"/>
                      </a:lnTo>
                      <a:lnTo>
                        <a:pt x="57150" y="485775"/>
                      </a:lnTo>
                      <a:lnTo>
                        <a:pt x="0" y="41433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Museo Sans 300" panose="02000000000000000000" pitchFamily="50" charset="0"/>
                    <a:ea typeface="Verdana" panose="020B0604030504040204" pitchFamily="34" charset="0"/>
                    <a:cs typeface="Verdana" panose="020B0604030504040204" pitchFamily="34" charset="0"/>
                  </a:endParaRPr>
                </a:p>
              </p:txBody>
            </p:sp>
          </p:grpSp>
        </p:grpSp>
        <p:pic>
          <p:nvPicPr>
            <p:cNvPr id="144" name="Picture 143"/>
            <p:cNvPicPr>
              <a:picLocks noChangeAspect="1"/>
            </p:cNvPicPr>
            <p:nvPr/>
          </p:nvPicPr>
          <p:blipFill>
            <a:blip r:embed="rId4" cstate="print">
              <a:lum bright="86000"/>
              <a:extLst>
                <a:ext uri="{28A0092B-C50C-407E-A947-70E740481C1C}">
                  <a14:useLocalDpi xmlns:a14="http://schemas.microsoft.com/office/drawing/2010/main" val="0"/>
                </a:ext>
              </a:extLst>
            </a:blip>
            <a:stretch>
              <a:fillRect/>
            </a:stretch>
          </p:blipFill>
          <p:spPr>
            <a:xfrm>
              <a:off x="10351320" y="2731055"/>
              <a:ext cx="372448" cy="372447"/>
            </a:xfrm>
            <a:prstGeom prst="rect">
              <a:avLst/>
            </a:prstGeom>
          </p:spPr>
        </p:pic>
      </p:grpSp>
      <p:pic>
        <p:nvPicPr>
          <p:cNvPr id="157" name="Picture 1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8413" y="1938353"/>
            <a:ext cx="307542" cy="307542"/>
          </a:xfrm>
          <a:prstGeom prst="rect">
            <a:avLst/>
          </a:prstGeom>
          <a:effectLst/>
        </p:spPr>
      </p:pic>
      <p:sp>
        <p:nvSpPr>
          <p:cNvPr id="68" name="Rectangle 67"/>
          <p:cNvSpPr/>
          <p:nvPr/>
        </p:nvSpPr>
        <p:spPr bwMode="auto">
          <a:xfrm>
            <a:off x="4743450" y="2348734"/>
            <a:ext cx="1755609" cy="253916"/>
          </a:xfrm>
          <a:prstGeom prst="rect">
            <a:avLst/>
          </a:prstGeom>
        </p:spPr>
        <p:txBody>
          <a:bodyPr wrap="none">
            <a:spAutoFit/>
          </a:bodyPr>
          <a:lstStyle/>
          <a:p>
            <a:pPr>
              <a:defRPr/>
            </a:pP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SERVICES FINANCIALS</a:t>
            </a:r>
            <a:endParaRPr lang="en-US" sz="1050">
              <a:solidFill>
                <a:srgbClr val="333333"/>
              </a:solidFill>
              <a:latin typeface="Verdana" panose="020B0604030504040204" pitchFamily="34" charset="0"/>
              <a:ea typeface="Verdana" panose="020B0604030504040204" pitchFamily="34" charset="0"/>
              <a:cs typeface="Verdana" panose="020B0604030504040204" pitchFamily="34" charset="0"/>
            </a:endParaRPr>
          </a:p>
        </p:txBody>
      </p:sp>
      <p:sp>
        <p:nvSpPr>
          <p:cNvPr id="69" name="Rectangle 1"/>
          <p:cNvSpPr>
            <a:spLocks noChangeArrowheads="1"/>
          </p:cNvSpPr>
          <p:nvPr/>
        </p:nvSpPr>
        <p:spPr bwMode="auto">
          <a:xfrm>
            <a:off x="4743450" y="2535226"/>
            <a:ext cx="1879342"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sz="900">
                <a:solidFill>
                  <a:srgbClr val="FFFFFF"/>
                </a:solidFill>
                <a:latin typeface="Verdana" panose="020B0604030504040204" pitchFamily="34" charset="0"/>
                <a:ea typeface="Verdana" panose="020B0604030504040204" pitchFamily="34" charset="0"/>
                <a:cs typeface="Verdana" panose="020B0604030504040204" pitchFamily="34" charset="0"/>
              </a:rPr>
              <a:t>3.1 Budget</a:t>
            </a:r>
          </a:p>
        </p:txBody>
      </p:sp>
      <p:sp>
        <p:nvSpPr>
          <p:cNvPr id="70" name="Rectangle 69"/>
          <p:cNvSpPr/>
          <p:nvPr/>
        </p:nvSpPr>
        <p:spPr bwMode="auto">
          <a:xfrm>
            <a:off x="2796778" y="1813330"/>
            <a:ext cx="60722" cy="531019"/>
          </a:xfrm>
          <a:prstGeom prst="rect">
            <a:avLst/>
          </a:prstGeom>
          <a:solidFill>
            <a:schemeClr val="tx1">
              <a:lumMod val="75000"/>
              <a:lumOff val="25000"/>
            </a:schemeClr>
          </a:solidFill>
          <a:ln>
            <a:noFill/>
          </a:ln>
          <a:effectLst>
            <a:outerShdw blurRad="50800" dist="635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013">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3" name="BJPseudoFooter">
            <a:extLst>
              <a:ext uri="{FF2B5EF4-FFF2-40B4-BE49-F238E27FC236}">
                <a16:creationId xmlns:a16="http://schemas.microsoft.com/office/drawing/2014/main" id="{87253DF9-59AF-409E-A50E-4641F3CB5F6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113471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263" y="255347"/>
            <a:ext cx="8229600"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1.1 Glossary (1/2)</a:t>
            </a:r>
            <a:endParaRPr lang="en-US" sz="1200">
              <a:solidFill>
                <a:srgbClr val="FF0000"/>
              </a:solidFill>
              <a:latin typeface="Museo Sans 900" panose="02000000000000000000" pitchFamily="50" charset="0"/>
              <a:ea typeface="Verdana" panose="020B0604030504040204" pitchFamily="34" charset="0"/>
              <a:cs typeface="Verdana" panose="020B060403050404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92214340"/>
              </p:ext>
            </p:extLst>
          </p:nvPr>
        </p:nvGraphicFramePr>
        <p:xfrm>
          <a:off x="475865" y="956190"/>
          <a:ext cx="8172450" cy="3677029"/>
        </p:xfrm>
        <a:graphic>
          <a:graphicData uri="http://schemas.openxmlformats.org/drawingml/2006/table">
            <a:tbl>
              <a:tblPr bandRow="1">
                <a:tableStyleId>{5940675A-B579-460E-94D1-54222C63F5DA}</a:tableStyleId>
              </a:tblPr>
              <a:tblGrid>
                <a:gridCol w="1943100">
                  <a:extLst>
                    <a:ext uri="{9D8B030D-6E8A-4147-A177-3AD203B41FA5}">
                      <a16:colId xmlns:a16="http://schemas.microsoft.com/office/drawing/2014/main" val="20000"/>
                    </a:ext>
                  </a:extLst>
                </a:gridCol>
                <a:gridCol w="6229350">
                  <a:extLst>
                    <a:ext uri="{9D8B030D-6E8A-4147-A177-3AD203B41FA5}">
                      <a16:colId xmlns:a16="http://schemas.microsoft.com/office/drawing/2014/main" val="20001"/>
                    </a:ext>
                  </a:extLst>
                </a:gridCol>
              </a:tblGrid>
              <a:tr h="27140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Museo Sans 300"/>
                          <a:ea typeface="Verdana"/>
                          <a:cs typeface="Verdana" panose="020B0604030504040204" pitchFamily="34" charset="0"/>
                        </a:rPr>
                        <a:t>Terms / Abbreviations / Acronyms</a:t>
                      </a:r>
                    </a:p>
                  </a:txBody>
                  <a:tcPr marL="68580" marR="68580" marT="34290" marB="34290" anchor="ctr">
                    <a:solidFill>
                      <a:schemeClr val="tx2"/>
                    </a:solidFill>
                  </a:tcPr>
                </a:tc>
                <a:tc hMerge="1">
                  <a:txBody>
                    <a:bodyPr/>
                    <a:lstStyle/>
                    <a:p>
                      <a:pPr algn="ctr"/>
                      <a:endParaRPr lang="en-GB" sz="1200" b="1">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solidFill>
                      <a:srgbClr val="00B1A9"/>
                    </a:solidFill>
                  </a:tcPr>
                </a:tc>
                <a:extLst>
                  <a:ext uri="{0D108BD9-81ED-4DB2-BD59-A6C34878D82A}">
                    <a16:rowId xmlns:a16="http://schemas.microsoft.com/office/drawing/2014/main" val="10000"/>
                  </a:ext>
                </a:extLst>
              </a:tr>
              <a:tr h="1310283">
                <a:tc>
                  <a:txBody>
                    <a:bodyPr/>
                    <a:lstStyle/>
                    <a:p>
                      <a:pPr marL="0" marR="0" algn="l">
                        <a:spcBef>
                          <a:spcPts val="400"/>
                        </a:spcBef>
                        <a:spcAft>
                          <a:spcPts val="400"/>
                        </a:spcAft>
                      </a:pPr>
                      <a:r>
                        <a:rPr lang="en-US" sz="1200">
                          <a:effectLst/>
                          <a:latin typeface="Museo Sans 300"/>
                          <a:ea typeface="Verdana"/>
                          <a:cs typeface="Verdana" panose="020B0604030504040204" pitchFamily="34" charset="0"/>
                        </a:rPr>
                        <a:t>Business Specific – Support Services</a:t>
                      </a:r>
                    </a:p>
                  </a:txBody>
                  <a:tcPr marL="54769" marR="54769" marT="27623" marB="27623" anchor="ctr"/>
                </a:tc>
                <a:tc>
                  <a:txBody>
                    <a:bodyPr/>
                    <a:lstStyle/>
                    <a:p>
                      <a:r>
                        <a:rPr lang="en-US" sz="1200" kern="1200" baseline="0">
                          <a:solidFill>
                            <a:schemeClr val="tx1"/>
                          </a:solidFill>
                          <a:effectLst/>
                          <a:latin typeface="Museo Sans 300"/>
                          <a:ea typeface="Verdana"/>
                          <a:cs typeface="Verdana" panose="020B0604030504040204" pitchFamily="34" charset="0"/>
                        </a:rPr>
                        <a:t>Pure Support services where the incident ticket is raised from ITSM (</a:t>
                      </a:r>
                      <a:r>
                        <a:rPr lang="en-US" sz="1200" kern="1200" baseline="0" err="1">
                          <a:solidFill>
                            <a:schemeClr val="tx1"/>
                          </a:solidFill>
                          <a:effectLst/>
                          <a:latin typeface="Museo Sans 300"/>
                          <a:ea typeface="Verdana"/>
                          <a:cs typeface="Verdana" panose="020B0604030504040204" pitchFamily="34" charset="0"/>
                        </a:rPr>
                        <a:t>myGenie</a:t>
                      </a:r>
                      <a:r>
                        <a:rPr lang="en-US" sz="1200" kern="1200" baseline="0">
                          <a:solidFill>
                            <a:schemeClr val="tx1"/>
                          </a:solidFill>
                          <a:effectLst/>
                          <a:latin typeface="Museo Sans 300"/>
                          <a:ea typeface="Verdana"/>
                          <a:cs typeface="Verdana" panose="020B0604030504040204" pitchFamily="34" charset="0"/>
                        </a:rPr>
                        <a:t>) and the scope of services only involves bug fixing and resolving technical issues of the product or application</a:t>
                      </a:r>
                    </a:p>
                    <a:p>
                      <a:endParaRPr lang="en-US" sz="1200" kern="1200" baseline="0">
                        <a:solidFill>
                          <a:schemeClr val="tx1"/>
                        </a:solidFill>
                        <a:effectLst/>
                        <a:latin typeface="Museo Sans 300" panose="02000000000000000000" pitchFamily="50" charset="0"/>
                        <a:ea typeface="Verdana" panose="020B0604030504040204" pitchFamily="34" charset="0"/>
                        <a:cs typeface="Verdana" panose="020B0604030504040204" pitchFamily="34" charset="0"/>
                      </a:endParaRPr>
                    </a:p>
                    <a:p>
                      <a:r>
                        <a:rPr lang="en-US" sz="1200" kern="1200" baseline="0">
                          <a:solidFill>
                            <a:schemeClr val="tx1"/>
                          </a:solidFill>
                          <a:effectLst/>
                          <a:latin typeface="Museo Sans 300"/>
                          <a:ea typeface="Verdana"/>
                          <a:cs typeface="Verdana" panose="020B0604030504040204" pitchFamily="34" charset="0"/>
                        </a:rPr>
                        <a:t>Support Services to be performed according to the agreed scope, plan, cost estimates and specifications, whereby </a:t>
                      </a:r>
                      <a:r>
                        <a:rPr lang="en-US" sz="1200" kern="1200">
                          <a:solidFill>
                            <a:schemeClr val="tx1"/>
                          </a:solidFill>
                          <a:effectLst/>
                          <a:latin typeface="Museo Sans 300"/>
                          <a:ea typeface="Verdana"/>
                          <a:cs typeface="Verdana" panose="020B0604030504040204" pitchFamily="34" charset="0"/>
                        </a:rPr>
                        <a:t>PDSB </a:t>
                      </a:r>
                      <a:r>
                        <a:rPr lang="en-US" sz="1200" kern="1200" baseline="0">
                          <a:solidFill>
                            <a:schemeClr val="tx1"/>
                          </a:solidFill>
                          <a:effectLst/>
                          <a:latin typeface="Museo Sans 300"/>
                          <a:ea typeface="Verdana"/>
                          <a:cs typeface="Verdana" panose="020B0604030504040204" pitchFamily="34" charset="0"/>
                        </a:rPr>
                        <a:t>is engaged by PETRONAS or PETRONAS Group Companies based on terms agreed in the SP</a:t>
                      </a:r>
                    </a:p>
                  </a:txBody>
                  <a:tcPr marL="54769" marR="54769" marT="27623" marB="27623" anchor="ctr"/>
                </a:tc>
                <a:extLst>
                  <a:ext uri="{0D108BD9-81ED-4DB2-BD59-A6C34878D82A}">
                    <a16:rowId xmlns:a16="http://schemas.microsoft.com/office/drawing/2014/main" val="2036080842"/>
                  </a:ext>
                </a:extLst>
              </a:tr>
              <a:tr h="2070218">
                <a:tc>
                  <a:txBody>
                    <a:bodyPr/>
                    <a:lstStyle/>
                    <a:p>
                      <a:pPr marL="0" marR="0" algn="l" defTabSz="914400" rtl="0" eaLnBrk="1" latinLnBrk="0" hangingPunct="1">
                        <a:spcBef>
                          <a:spcPts val="400"/>
                        </a:spcBef>
                        <a:spcAft>
                          <a:spcPts val="400"/>
                        </a:spcAft>
                      </a:pPr>
                      <a:r>
                        <a:rPr lang="en-US" sz="1200" kern="1200">
                          <a:solidFill>
                            <a:schemeClr val="tx1"/>
                          </a:solidFill>
                          <a:effectLst/>
                          <a:latin typeface="Museo Sans 300"/>
                          <a:ea typeface="Verdana"/>
                          <a:cs typeface="Verdana" panose="020B0604030504040204" pitchFamily="34" charset="0"/>
                        </a:rPr>
                        <a:t>Business Specific – Product &amp; Service Subscription</a:t>
                      </a:r>
                    </a:p>
                  </a:txBody>
                  <a:tcPr marL="54769" marR="54769" marT="27623" marB="27623" anchor="ctr"/>
                </a:tc>
                <a:tc>
                  <a:txBody>
                    <a:bodyPr/>
                    <a:lstStyle/>
                    <a:p>
                      <a:pPr marL="0" marR="0" algn="l" defTabSz="914400" rtl="0" eaLnBrk="1" latinLnBrk="0" hangingPunct="1">
                        <a:spcBef>
                          <a:spcPts val="400"/>
                        </a:spcBef>
                        <a:spcAft>
                          <a:spcPts val="400"/>
                        </a:spcAft>
                      </a:pPr>
                      <a:r>
                        <a:rPr lang="en-US" sz="1200" kern="1200" baseline="0">
                          <a:solidFill>
                            <a:schemeClr val="tx1"/>
                          </a:solidFill>
                          <a:effectLst/>
                          <a:latin typeface="Museo Sans 300"/>
                          <a:ea typeface="Verdana"/>
                        </a:rPr>
                        <a:t>Product &amp; Service Subscription is a service that encompasses the following criteria:</a:t>
                      </a:r>
                    </a:p>
                    <a:p>
                      <a:pPr marL="0" marR="0" algn="l" defTabSz="914400" rtl="0" eaLnBrk="1" latinLnBrk="0" hangingPunct="1">
                        <a:spcBef>
                          <a:spcPts val="400"/>
                        </a:spcBef>
                        <a:spcAft>
                          <a:spcPts val="400"/>
                        </a:spcAft>
                      </a:pPr>
                      <a:r>
                        <a:rPr lang="en-US" sz="1200" kern="1200" baseline="0">
                          <a:solidFill>
                            <a:schemeClr val="tx1"/>
                          </a:solidFill>
                          <a:effectLst/>
                          <a:latin typeface="Museo Sans 300"/>
                          <a:ea typeface="Verdana"/>
                        </a:rPr>
                        <a:t>1. Product Purchasing: </a:t>
                      </a:r>
                    </a:p>
                    <a:p>
                      <a:pPr marL="457200" marR="0" lvl="2" indent="-285750" algn="l" defTabSz="914400" rtl="0" eaLnBrk="1" latinLnBrk="0" hangingPunct="1">
                        <a:spcBef>
                          <a:spcPts val="400"/>
                        </a:spcBef>
                        <a:spcAft>
                          <a:spcPts val="400"/>
                        </a:spcAft>
                        <a:buFont typeface="+mj-lt"/>
                        <a:buAutoNum type="alphaLcPeriod"/>
                      </a:pPr>
                      <a:r>
                        <a:rPr lang="en-US" sz="1200" kern="1200" baseline="0">
                          <a:solidFill>
                            <a:schemeClr val="tx1"/>
                          </a:solidFill>
                          <a:effectLst/>
                          <a:latin typeface="Museo Sans 300"/>
                          <a:ea typeface="Verdana"/>
                        </a:rPr>
                        <a:t>Involves the purchase of new software/application licenses or the renewal of existing software/application license or a combination of both.</a:t>
                      </a:r>
                    </a:p>
                    <a:p>
                      <a:pPr marL="0" marR="0" lvl="1" indent="0" algn="l" defTabSz="914400" rtl="0" eaLnBrk="1" latinLnBrk="0" hangingPunct="1">
                        <a:spcBef>
                          <a:spcPts val="400"/>
                        </a:spcBef>
                        <a:spcAft>
                          <a:spcPts val="400"/>
                        </a:spcAft>
                        <a:buFont typeface="+mj-lt"/>
                        <a:buNone/>
                      </a:pPr>
                      <a:r>
                        <a:rPr lang="en-US" sz="1200" kern="1200" baseline="0">
                          <a:solidFill>
                            <a:schemeClr val="tx1"/>
                          </a:solidFill>
                          <a:effectLst/>
                          <a:latin typeface="Museo Sans 300"/>
                          <a:ea typeface="Verdana"/>
                        </a:rPr>
                        <a:t>2. </a:t>
                      </a:r>
                      <a:r>
                        <a:rPr lang="en-US" sz="1200" kern="1200" baseline="0">
                          <a:solidFill>
                            <a:schemeClr val="tx1"/>
                          </a:solidFill>
                          <a:effectLst/>
                          <a:latin typeface="Museo Sans 300"/>
                          <a:ea typeface="Verdana"/>
                          <a:cs typeface="+mn-cs"/>
                        </a:rPr>
                        <a:t>Product &amp; Service Subscription: </a:t>
                      </a:r>
                    </a:p>
                    <a:p>
                      <a:pPr marL="457200" marR="0" lvl="2" indent="-285750" algn="l" defTabSz="914400" rtl="0" eaLnBrk="1" latinLnBrk="0" hangingPunct="1">
                        <a:spcBef>
                          <a:spcPts val="400"/>
                        </a:spcBef>
                        <a:spcAft>
                          <a:spcPts val="400"/>
                        </a:spcAft>
                        <a:buFont typeface="+mj-lt"/>
                        <a:buAutoNum type="alphaLcPeriod"/>
                      </a:pPr>
                      <a:r>
                        <a:rPr lang="en-US" sz="1200" kern="1200" baseline="0">
                          <a:solidFill>
                            <a:schemeClr val="tx1"/>
                          </a:solidFill>
                          <a:effectLst/>
                          <a:latin typeface="Museo Sans 300"/>
                          <a:ea typeface="Verdana"/>
                          <a:cs typeface="+mn-cs"/>
                        </a:rPr>
                        <a:t>Is a subscription service where the user may subscribe to products or services with specific functionalities or capabilities </a:t>
                      </a:r>
                    </a:p>
                  </a:txBody>
                  <a:tcPr marL="54769" marR="54769" marT="27623" marB="27623" anchor="ctr"/>
                </a:tc>
                <a:extLst>
                  <a:ext uri="{0D108BD9-81ED-4DB2-BD59-A6C34878D82A}">
                    <a16:rowId xmlns:a16="http://schemas.microsoft.com/office/drawing/2014/main" val="2071882572"/>
                  </a:ext>
                </a:extLst>
              </a:tr>
            </a:tbl>
          </a:graphicData>
        </a:graphic>
      </p:graphicFrame>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6565582" y="-2720"/>
            <a:ext cx="2578418" cy="666750"/>
          </a:xfrm>
          <a:prstGeom prst="rect">
            <a:avLst/>
          </a:prstGeom>
          <a:noFill/>
        </p:spPr>
      </p:pic>
      <p:sp>
        <p:nvSpPr>
          <p:cNvPr id="4" name="BJPseudoFooter">
            <a:extLst>
              <a:ext uri="{FF2B5EF4-FFF2-40B4-BE49-F238E27FC236}">
                <a16:creationId xmlns:a16="http://schemas.microsoft.com/office/drawing/2014/main" id="{14487D4D-A6E9-4304-9F9D-E0D6DF1374A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11571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246" y="540880"/>
            <a:ext cx="8229600"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1.1 Glossary (2/2)</a:t>
            </a:r>
            <a:endParaRPr lang="en-US" sz="1200">
              <a:solidFill>
                <a:srgbClr val="FF0000"/>
              </a:solidFill>
              <a:latin typeface="Museo Sans 900" panose="02000000000000000000" pitchFamily="50" charset="0"/>
              <a:ea typeface="Verdana" panose="020B0604030504040204" pitchFamily="34" charset="0"/>
              <a:cs typeface="Verdana" panose="020B060403050404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87641673"/>
              </p:ext>
            </p:extLst>
          </p:nvPr>
        </p:nvGraphicFramePr>
        <p:xfrm>
          <a:off x="475865" y="1092387"/>
          <a:ext cx="8172450" cy="2819320"/>
        </p:xfrm>
        <a:graphic>
          <a:graphicData uri="http://schemas.openxmlformats.org/drawingml/2006/table">
            <a:tbl>
              <a:tblPr bandRow="1">
                <a:tableStyleId>{5940675A-B579-460E-94D1-54222C63F5DA}</a:tableStyleId>
              </a:tblPr>
              <a:tblGrid>
                <a:gridCol w="1943100">
                  <a:extLst>
                    <a:ext uri="{9D8B030D-6E8A-4147-A177-3AD203B41FA5}">
                      <a16:colId xmlns:a16="http://schemas.microsoft.com/office/drawing/2014/main" val="20000"/>
                    </a:ext>
                  </a:extLst>
                </a:gridCol>
                <a:gridCol w="6229350">
                  <a:extLst>
                    <a:ext uri="{9D8B030D-6E8A-4147-A177-3AD203B41FA5}">
                      <a16:colId xmlns:a16="http://schemas.microsoft.com/office/drawing/2014/main" val="20001"/>
                    </a:ext>
                  </a:extLst>
                </a:gridCol>
              </a:tblGrid>
              <a:tr h="463793">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Museo Sans 300" panose="02000000000000000000" pitchFamily="50" charset="0"/>
                          <a:ea typeface="Verdana" panose="020B0604030504040204" pitchFamily="34" charset="0"/>
                          <a:cs typeface="Verdana" panose="020B0604030504040204" pitchFamily="34" charset="0"/>
                        </a:rPr>
                        <a:t>Terms / Abbreviations / Acronyms</a:t>
                      </a:r>
                    </a:p>
                  </a:txBody>
                  <a:tcPr marL="68580" marR="68580" marT="34290" marB="34290" anchor="ctr">
                    <a:solidFill>
                      <a:schemeClr val="tx2"/>
                    </a:solidFill>
                  </a:tcPr>
                </a:tc>
                <a:tc hMerge="1">
                  <a:txBody>
                    <a:bodyPr/>
                    <a:lstStyle/>
                    <a:p>
                      <a:pPr algn="ctr"/>
                      <a:endParaRPr lang="en-GB" sz="1200" b="1">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solidFill>
                      <a:srgbClr val="00B1A9"/>
                    </a:solidFill>
                  </a:tcPr>
                </a:tc>
                <a:extLst>
                  <a:ext uri="{0D108BD9-81ED-4DB2-BD59-A6C34878D82A}">
                    <a16:rowId xmlns:a16="http://schemas.microsoft.com/office/drawing/2014/main" val="10000"/>
                  </a:ext>
                </a:extLst>
              </a:tr>
              <a:tr h="507596">
                <a:tc>
                  <a:txBody>
                    <a:bodyPr/>
                    <a:lstStyle/>
                    <a:p>
                      <a:pPr marL="0" marR="0" algn="l">
                        <a:spcBef>
                          <a:spcPts val="400"/>
                        </a:spcBef>
                        <a:spcAft>
                          <a:spcPts val="400"/>
                        </a:spcAft>
                      </a:pPr>
                      <a:r>
                        <a:rPr lang="en-US" sz="1200" err="1">
                          <a:effectLst/>
                          <a:latin typeface="Museo Sans 300" panose="02000000000000000000" pitchFamily="50" charset="0"/>
                          <a:ea typeface="Verdana" panose="020B0604030504040204" pitchFamily="34" charset="0"/>
                          <a:cs typeface="Verdana" panose="020B0604030504040204" pitchFamily="34" charset="0"/>
                        </a:rPr>
                        <a:t>AppCentre</a:t>
                      </a:r>
                      <a:endParaRPr lang="en-US" sz="1200">
                        <a:effectLst/>
                        <a:latin typeface="Museo Sans 300" panose="02000000000000000000" pitchFamily="50" charset="0"/>
                        <a:ea typeface="Verdana" panose="020B0604030504040204" pitchFamily="34" charset="0"/>
                        <a:cs typeface="Verdana" panose="020B0604030504040204" pitchFamily="34" charset="0"/>
                      </a:endParaRPr>
                    </a:p>
                  </a:txBody>
                  <a:tcPr marL="54769" marR="54769" marT="27623" marB="27623" anchor="ctr"/>
                </a:tc>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Refers to the Digital &amp; ICT Service Portal, which offers SS and PS services. Service requisitions can be made through this portal</a:t>
                      </a:r>
                    </a:p>
                  </a:txBody>
                  <a:tcPr marL="54769" marR="54769" marT="27623" marB="27623" anchor="ctr"/>
                </a:tc>
                <a:extLst>
                  <a:ext uri="{0D108BD9-81ED-4DB2-BD59-A6C34878D82A}">
                    <a16:rowId xmlns:a16="http://schemas.microsoft.com/office/drawing/2014/main" val="10004"/>
                  </a:ext>
                </a:extLst>
              </a:tr>
              <a:tr h="507596">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GFS</a:t>
                      </a:r>
                    </a:p>
                  </a:txBody>
                  <a:tcPr marL="54769" marR="54769" marT="27623" marB="27623" anchor="ctr"/>
                </a:tc>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Group Financial Services (GFS) </a:t>
                      </a:r>
                    </a:p>
                  </a:txBody>
                  <a:tcPr marL="54769" marR="54769" marT="27623" marB="27623" anchor="ctr"/>
                </a:tc>
                <a:extLst>
                  <a:ext uri="{0D108BD9-81ED-4DB2-BD59-A6C34878D82A}">
                    <a16:rowId xmlns:a16="http://schemas.microsoft.com/office/drawing/2014/main" val="4153072572"/>
                  </a:ext>
                </a:extLst>
              </a:tr>
              <a:tr h="507596">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OPE</a:t>
                      </a:r>
                    </a:p>
                  </a:txBody>
                  <a:tcPr marL="54769" marR="54769" marT="27623" marB="27623" anchor="ctr"/>
                </a:tc>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Out-of-Pocket Expenses.</a:t>
                      </a:r>
                      <a:r>
                        <a:rPr lang="en-US" sz="1200" baseline="0">
                          <a:effectLst/>
                          <a:latin typeface="Museo Sans 300" panose="02000000000000000000" pitchFamily="50" charset="0"/>
                          <a:ea typeface="Verdana" panose="020B0604030504040204" pitchFamily="34" charset="0"/>
                          <a:cs typeface="Verdana" panose="020B0604030504040204" pitchFamily="34" charset="0"/>
                        </a:rPr>
                        <a:t> The budget category used for travel and expense claim, FOREX, additional PTR review administration charges and miscellaneous expenses subject to Business approval such as utilities, refreshment,  OLAR (Overtime Lamp and Air- Conditioner Request Services), printing and stationaries. </a:t>
                      </a:r>
                      <a:endParaRPr lang="en-US" sz="1200">
                        <a:effectLst/>
                        <a:latin typeface="Museo Sans 300" panose="02000000000000000000" pitchFamily="50" charset="0"/>
                        <a:ea typeface="Verdana" panose="020B0604030504040204" pitchFamily="34" charset="0"/>
                        <a:cs typeface="Verdana" panose="020B0604030504040204" pitchFamily="34" charset="0"/>
                      </a:endParaRPr>
                    </a:p>
                  </a:txBody>
                  <a:tcPr marL="54769" marR="54769" marT="27623" marB="27623" anchor="ctr"/>
                </a:tc>
                <a:extLst>
                  <a:ext uri="{0D108BD9-81ED-4DB2-BD59-A6C34878D82A}">
                    <a16:rowId xmlns:a16="http://schemas.microsoft.com/office/drawing/2014/main" val="2823066023"/>
                  </a:ext>
                </a:extLst>
              </a:tr>
              <a:tr h="262409">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PTR</a:t>
                      </a:r>
                    </a:p>
                  </a:txBody>
                  <a:tcPr marL="54769" marR="54769" marT="27623" marB="27623" anchor="ctr"/>
                </a:tc>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Project Transaction Report</a:t>
                      </a:r>
                    </a:p>
                  </a:txBody>
                  <a:tcPr marL="54769" marR="54769" marT="27623" marB="27623" anchor="ctr"/>
                </a:tc>
                <a:extLst>
                  <a:ext uri="{0D108BD9-81ED-4DB2-BD59-A6C34878D82A}">
                    <a16:rowId xmlns:a16="http://schemas.microsoft.com/office/drawing/2014/main" val="1940928440"/>
                  </a:ext>
                </a:extLst>
              </a:tr>
              <a:tr h="291160">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SP</a:t>
                      </a:r>
                      <a:endParaRPr lang="en-US" sz="1200">
                        <a:solidFill>
                          <a:schemeClr val="tx1"/>
                        </a:solidFill>
                        <a:effectLst/>
                        <a:latin typeface="Museo Sans 300" panose="02000000000000000000" pitchFamily="50" charset="0"/>
                        <a:ea typeface="Verdana" panose="020B0604030504040204" pitchFamily="34" charset="0"/>
                        <a:cs typeface="Verdana" panose="020B0604030504040204" pitchFamily="34" charset="0"/>
                      </a:endParaRPr>
                    </a:p>
                  </a:txBody>
                  <a:tcPr marL="54769" marR="54769" marT="27623" marB="27623" anchor="ctr"/>
                </a:tc>
                <a:tc>
                  <a:txBody>
                    <a:bodyPr/>
                    <a:lstStyle/>
                    <a:p>
                      <a:pPr marL="0" marR="0" algn="l">
                        <a:spcBef>
                          <a:spcPts val="400"/>
                        </a:spcBef>
                        <a:spcAft>
                          <a:spcPts val="400"/>
                        </a:spcAft>
                      </a:pPr>
                      <a:r>
                        <a:rPr lang="en-US" sz="1200">
                          <a:effectLst/>
                          <a:latin typeface="Museo Sans 300" panose="02000000000000000000" pitchFamily="50" charset="0"/>
                          <a:ea typeface="Verdana" panose="020B0604030504040204" pitchFamily="34" charset="0"/>
                          <a:cs typeface="Verdana" panose="020B0604030504040204" pitchFamily="34" charset="0"/>
                        </a:rPr>
                        <a:t>Service Proposal</a:t>
                      </a:r>
                      <a:endParaRPr lang="en-US" sz="1200">
                        <a:solidFill>
                          <a:schemeClr val="tx1"/>
                        </a:solidFill>
                        <a:effectLst/>
                        <a:latin typeface="Museo Sans 300" panose="02000000000000000000" pitchFamily="50" charset="0"/>
                        <a:ea typeface="Verdana" panose="020B0604030504040204" pitchFamily="34" charset="0"/>
                        <a:cs typeface="Verdana" panose="020B0604030504040204" pitchFamily="34" charset="0"/>
                      </a:endParaRPr>
                    </a:p>
                  </a:txBody>
                  <a:tcPr marL="54769" marR="54769" marT="27623" marB="27623" anchor="ctr"/>
                </a:tc>
                <a:extLst>
                  <a:ext uri="{0D108BD9-81ED-4DB2-BD59-A6C34878D82A}">
                    <a16:rowId xmlns:a16="http://schemas.microsoft.com/office/drawing/2014/main" val="10010"/>
                  </a:ext>
                </a:extLst>
              </a:tr>
            </a:tbl>
          </a:graphicData>
        </a:graphic>
      </p:graphicFrame>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6565582" y="-7378"/>
            <a:ext cx="2578418" cy="666750"/>
          </a:xfrm>
          <a:prstGeom prst="rect">
            <a:avLst/>
          </a:prstGeom>
          <a:noFill/>
        </p:spPr>
      </p:pic>
      <p:sp>
        <p:nvSpPr>
          <p:cNvPr id="4" name="BJPseudoFooter">
            <a:extLst>
              <a:ext uri="{FF2B5EF4-FFF2-40B4-BE49-F238E27FC236}">
                <a16:creationId xmlns:a16="http://schemas.microsoft.com/office/drawing/2014/main" id="{CE5530E5-D12C-4E33-B668-CBF13E69303B}"/>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628188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12018" y="785718"/>
            <a:ext cx="8172449" cy="3023905"/>
          </a:xfrm>
          <a:prstGeom prst="rect">
            <a:avLst/>
          </a:prstGeom>
          <a:noFill/>
        </p:spPr>
        <p:txBody>
          <a:bodyPr wrap="square" lIns="68580" tIns="34290" rIns="68580" bIns="34290" rtlCol="0" anchor="t">
            <a:spAutoFit/>
          </a:bodyPr>
          <a:lstStyle/>
          <a:p>
            <a:pPr algn="just"/>
            <a:r>
              <a:rPr lang="en-US" sz="1200">
                <a:latin typeface="Museo Sans 300"/>
                <a:ea typeface="Verdana"/>
                <a:cs typeface="Verdana" panose="020B0604030504040204" pitchFamily="34" charset="0"/>
              </a:rPr>
              <a:t>This Support Services request is driven by Product Delivery Upstream (PDU) for Upstream Technology, Digital &amp; Innovation (UTDI).</a:t>
            </a:r>
            <a:endParaRPr lang="en-US" sz="1200">
              <a:solidFill>
                <a:srgbClr val="0000FF"/>
              </a:solidFill>
              <a:latin typeface="Museo Sans 300"/>
              <a:ea typeface="Verdana"/>
              <a:cs typeface="Verdana" panose="020B0604030504040204" pitchFamily="34" charset="0"/>
            </a:endParaRPr>
          </a:p>
          <a:p>
            <a:pPr algn="just"/>
            <a:endParaRPr lang="en-US" sz="1200" b="1">
              <a:solidFill>
                <a:srgbClr val="0000FF"/>
              </a:solidFill>
              <a:latin typeface="Museo Sans 300" panose="02000000000000000000" pitchFamily="50" charset="0"/>
              <a:ea typeface="Verdana" panose="020B0604030504040204" pitchFamily="34" charset="0"/>
              <a:cs typeface="Verdana" panose="020B0604030504040204" pitchFamily="34" charset="0"/>
            </a:endParaRPr>
          </a:p>
          <a:p>
            <a:pPr algn="just"/>
            <a:r>
              <a:rPr lang="en-US" sz="1200">
                <a:latin typeface="Museo Sans 300" panose="02000000000000000000" pitchFamily="50" charset="0"/>
                <a:ea typeface="Verdana" panose="020B0604030504040204" pitchFamily="34" charset="0"/>
                <a:cs typeface="Verdana" panose="020B0604030504040204" pitchFamily="34" charset="0"/>
              </a:rPr>
              <a:t>Background</a:t>
            </a:r>
          </a:p>
          <a:p>
            <a:pPr algn="just"/>
            <a:endParaRPr lang="en-US" sz="1200">
              <a:solidFill>
                <a:srgbClr val="0000FF"/>
              </a:solidFill>
              <a:latin typeface="Museo Sans 300" panose="02000000000000000000" pitchFamily="50" charset="0"/>
              <a:ea typeface="Verdana"/>
              <a:cs typeface="Verdana"/>
            </a:endParaRPr>
          </a:p>
          <a:p>
            <a:pPr marL="228600" indent="-228600" algn="just">
              <a:buFont typeface="+mj-lt"/>
              <a:buAutoNum type="arabicPeriod"/>
            </a:pPr>
            <a:r>
              <a:rPr lang="en-GB" sz="1200">
                <a:latin typeface="Museo Sans 300"/>
                <a:ea typeface="Verdana"/>
              </a:rPr>
              <a:t>Effective 1 April 2020, the Product Delivery Upstream (PDU) was established as a dedicated entity under Upstream, mandated to support the Upstream Business’s Digital and ICT delivery and operational needs. Based within </a:t>
            </a:r>
            <a:r>
              <a:rPr lang="en-GB" sz="1200" err="1">
                <a:latin typeface="Museo Sans 300"/>
                <a:ea typeface="Verdana"/>
              </a:rPr>
              <a:t>Upstream’s</a:t>
            </a:r>
            <a:r>
              <a:rPr lang="en-GB" sz="1200">
                <a:latin typeface="Museo Sans 300"/>
                <a:ea typeface="Verdana"/>
              </a:rPr>
              <a:t> premises, PDU’s repositioning under PDSB aims to ensure seamless service continuity while upholding established operational standards. </a:t>
            </a:r>
          </a:p>
          <a:p>
            <a:pPr marL="228600" indent="-228600" algn="just">
              <a:buAutoNum type="arabicPeriod"/>
            </a:pPr>
            <a:endParaRPr lang="en-GB" sz="1200">
              <a:latin typeface="Museo Sans 300"/>
              <a:ea typeface="Verdana"/>
            </a:endParaRPr>
          </a:p>
          <a:p>
            <a:pPr marL="228600" indent="-228600" algn="just">
              <a:buFont typeface="+mj-lt"/>
              <a:buAutoNum type="arabicPeriod"/>
            </a:pPr>
            <a:r>
              <a:rPr lang="en-GB" sz="1200">
                <a:latin typeface="Museo Sans 300"/>
                <a:ea typeface="Verdana"/>
              </a:rPr>
              <a:t>This service request is a continuation of previous PDU Managed Services FY2024 </a:t>
            </a:r>
            <a:r>
              <a:rPr lang="en-GB" sz="1200" err="1">
                <a:latin typeface="Museo Sans 300"/>
                <a:ea typeface="Verdana"/>
              </a:rPr>
              <a:t>AppCentre</a:t>
            </a:r>
            <a:r>
              <a:rPr lang="en-GB" sz="1200">
                <a:latin typeface="Museo Sans 300"/>
                <a:ea typeface="Verdana"/>
              </a:rPr>
              <a:t> Order Item Number 3825458.</a:t>
            </a:r>
          </a:p>
          <a:p>
            <a:pPr marL="228600" indent="-228600" algn="just">
              <a:buFont typeface="+mj-lt"/>
              <a:buAutoNum type="arabicPeriod"/>
            </a:pPr>
            <a:endParaRPr lang="en-GB" sz="1200">
              <a:latin typeface="Museo Sans 300" panose="02000000000000000000" pitchFamily="50" charset="0"/>
              <a:ea typeface="Verdana"/>
            </a:endParaRPr>
          </a:p>
          <a:p>
            <a:pPr marL="228600" indent="-228600" algn="just">
              <a:buFont typeface="+mj-lt"/>
              <a:buAutoNum type="arabicPeriod"/>
            </a:pPr>
            <a:r>
              <a:rPr lang="en-GB" sz="1200">
                <a:latin typeface="Museo Sans 300"/>
                <a:ea typeface="Verdana"/>
              </a:rPr>
              <a:t>Solution Proposal is developed to support PDU in executing its service responsibilities. The scope of work and related activities have been carefully reviewed to ensure alignment with all relevant stakeholders.</a:t>
            </a:r>
          </a:p>
          <a:p>
            <a:pPr marL="228600" indent="-228600" algn="just">
              <a:buFont typeface="+mj-lt"/>
              <a:buAutoNum type="arabicPeriod"/>
            </a:pPr>
            <a:endParaRPr lang="en-GB" sz="1200">
              <a:latin typeface="Museo Sans 300" panose="02000000000000000000" pitchFamily="50" charset="0"/>
              <a:ea typeface="Verdana"/>
            </a:endParaRPr>
          </a:p>
          <a:p>
            <a:pPr marL="228600" indent="-228600" algn="just">
              <a:buFont typeface="+mj-lt"/>
              <a:buAutoNum type="arabicPeriod"/>
            </a:pPr>
            <a:r>
              <a:rPr lang="en-GB" sz="1200">
                <a:latin typeface="Museo Sans 300"/>
                <a:ea typeface="Verdana"/>
              </a:rPr>
              <a:t>The proposed solution is designed to span a full calendar year, commencing in January and concluding in December 2025</a:t>
            </a:r>
          </a:p>
          <a:p>
            <a:pPr marL="257175" indent="-257175" algn="just">
              <a:buFont typeface="+mj-lt"/>
              <a:buAutoNum type="arabicPeriod"/>
            </a:pPr>
            <a:endParaRPr lang="en-US" sz="1200">
              <a:solidFill>
                <a:srgbClr val="0000FF"/>
              </a:solidFill>
              <a:latin typeface="Museo Sans 300" panose="02000000000000000000" pitchFamily="50" charset="0"/>
              <a:ea typeface="Verdana"/>
              <a:cs typeface="Verdana"/>
            </a:endParaRPr>
          </a:p>
          <a:p>
            <a:endParaRPr lang="en-US" sz="1200">
              <a:solidFill>
                <a:schemeClr val="bg1">
                  <a:lumMod val="50000"/>
                </a:schemeClr>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336" name="Rectangle 335"/>
          <p:cNvSpPr/>
          <p:nvPr/>
        </p:nvSpPr>
        <p:spPr>
          <a:xfrm>
            <a:off x="6962584" y="21810"/>
            <a:ext cx="2173254" cy="71354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8" name="Title 1"/>
          <p:cNvSpPr txBox="1">
            <a:spLocks/>
          </p:cNvSpPr>
          <p:nvPr/>
        </p:nvSpPr>
        <p:spPr>
          <a:xfrm>
            <a:off x="371274" y="181886"/>
            <a:ext cx="8229600" cy="548117"/>
          </a:xfrm>
          <a:prstGeom prst="rect">
            <a:avLst/>
          </a:prstGeom>
        </p:spPr>
        <p:txBody>
          <a:bodyPr vert="horz" lIns="68580" tIns="34290" rIns="68580" bIns="34290" rtlCol="0" anchor="ctr">
            <a:noAutofit/>
          </a:bodyPr>
          <a:lstStyle>
            <a:lvl1pPr algn="l" defTabSz="914400" rtl="0" eaLnBrk="1" latinLnBrk="0" hangingPunct="1">
              <a:spcBef>
                <a:spcPct val="0"/>
              </a:spcBef>
              <a:buNone/>
              <a:defRPr sz="3200" kern="1200">
                <a:solidFill>
                  <a:srgbClr val="00B1A9"/>
                </a:solidFill>
                <a:latin typeface="+mj-lt"/>
                <a:ea typeface="+mj-ea"/>
                <a:cs typeface="+mj-cs"/>
              </a:defRPr>
            </a:lvl1pPr>
          </a:lstStyle>
          <a:p>
            <a:r>
              <a:rPr lang="en-US" sz="2400" b="1">
                <a:latin typeface="Museo Sans 900" panose="02000000000000000000" pitchFamily="50" charset="0"/>
                <a:ea typeface="Verdana" panose="020B0604030504040204" pitchFamily="34" charset="0"/>
                <a:cs typeface="Verdana" panose="020B0604030504040204" pitchFamily="34" charset="0"/>
              </a:rPr>
              <a:t>1.2 Background and Objectives</a:t>
            </a:r>
          </a:p>
        </p:txBody>
      </p:sp>
      <p:pic>
        <p:nvPicPr>
          <p:cNvPr id="13" name="Picture 12"/>
          <p:cNvPicPr/>
          <p:nvPr/>
        </p:nvPicPr>
        <p:blipFill>
          <a:blip r:embed="rId4">
            <a:extLst>
              <a:ext uri="{28A0092B-C50C-407E-A947-70E740481C1C}">
                <a14:useLocalDpi xmlns:a14="http://schemas.microsoft.com/office/drawing/2010/main" val="0"/>
              </a:ext>
            </a:extLst>
          </a:blip>
          <a:srcRect/>
          <a:stretch>
            <a:fillRect/>
          </a:stretch>
        </p:blipFill>
        <p:spPr bwMode="auto">
          <a:xfrm>
            <a:off x="6557420" y="21809"/>
            <a:ext cx="2578418" cy="666750"/>
          </a:xfrm>
          <a:prstGeom prst="rect">
            <a:avLst/>
          </a:prstGeom>
          <a:noFill/>
        </p:spPr>
      </p:pic>
      <p:sp>
        <p:nvSpPr>
          <p:cNvPr id="8" name="BJPseudoFooter">
            <a:extLst>
              <a:ext uri="{FF2B5EF4-FFF2-40B4-BE49-F238E27FC236}">
                <a16:creationId xmlns:a16="http://schemas.microsoft.com/office/drawing/2014/main" id="{E4D94ECD-C00B-4E62-8E6B-3990E63D646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pic>
        <p:nvPicPr>
          <p:cNvPr id="10" name="Picture 9">
            <a:extLst>
              <a:ext uri="{FF2B5EF4-FFF2-40B4-BE49-F238E27FC236}">
                <a16:creationId xmlns:a16="http://schemas.microsoft.com/office/drawing/2014/main" id="{07BA2244-F1CA-F2C6-4A73-6773DF953E02}"/>
              </a:ext>
            </a:extLst>
          </p:cNvPr>
          <p:cNvPicPr>
            <a:picLocks noChangeAspect="1"/>
          </p:cNvPicPr>
          <p:nvPr/>
        </p:nvPicPr>
        <p:blipFill>
          <a:blip r:embed="rId5"/>
          <a:stretch>
            <a:fillRect/>
          </a:stretch>
        </p:blipFill>
        <p:spPr>
          <a:xfrm>
            <a:off x="1021525" y="4278117"/>
            <a:ext cx="6753433" cy="1886213"/>
          </a:xfrm>
          <a:prstGeom prst="rect">
            <a:avLst/>
          </a:prstGeom>
        </p:spPr>
      </p:pic>
    </p:spTree>
    <p:extLst>
      <p:ext uri="{BB962C8B-B14F-4D97-AF65-F5344CB8AC3E}">
        <p14:creationId xmlns:p14="http://schemas.microsoft.com/office/powerpoint/2010/main" val="4157388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DDA59-9455-68D5-89A3-08BAB80422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3BDC47-72FF-05D9-CC63-D3F3C9CD06EB}"/>
              </a:ext>
            </a:extLst>
          </p:cNvPr>
          <p:cNvSpPr txBox="1"/>
          <p:nvPr/>
        </p:nvSpPr>
        <p:spPr>
          <a:xfrm>
            <a:off x="312018" y="785718"/>
            <a:ext cx="8172449" cy="4501232"/>
          </a:xfrm>
          <a:prstGeom prst="rect">
            <a:avLst/>
          </a:prstGeom>
          <a:noFill/>
        </p:spPr>
        <p:txBody>
          <a:bodyPr wrap="square" lIns="68580" tIns="34290" rIns="68580" bIns="34290" rtlCol="0" anchor="t">
            <a:spAutoFit/>
          </a:bodyPr>
          <a:lstStyle/>
          <a:p>
            <a:pPr algn="just"/>
            <a:r>
              <a:rPr lang="en-US" sz="1200">
                <a:latin typeface="Museo Sans 300"/>
                <a:ea typeface="Verdana"/>
                <a:cs typeface="Verdana" panose="020B0604030504040204" pitchFamily="34" charset="0"/>
              </a:rPr>
              <a:t>This Support Services request is driven by Business Delivery - Upstream (BD) for </a:t>
            </a:r>
            <a:r>
              <a:rPr lang="en-US" sz="1200">
                <a:highlight>
                  <a:srgbClr val="FFFF00"/>
                </a:highlight>
                <a:latin typeface="Museo Sans 300"/>
                <a:ea typeface="Verdana"/>
                <a:cs typeface="Verdana" panose="020B0604030504040204" pitchFamily="34" charset="0"/>
              </a:rPr>
              <a:t>Upstream Technology, Digital &amp; Innovation (UTDI).</a:t>
            </a:r>
            <a:endParaRPr lang="en-US" sz="1200">
              <a:solidFill>
                <a:srgbClr val="0000FF"/>
              </a:solidFill>
              <a:highlight>
                <a:srgbClr val="FFFF00"/>
              </a:highlight>
              <a:latin typeface="Museo Sans 300"/>
              <a:ea typeface="Verdana"/>
              <a:cs typeface="Verdana" panose="020B0604030504040204" pitchFamily="34" charset="0"/>
            </a:endParaRPr>
          </a:p>
          <a:p>
            <a:pPr algn="just"/>
            <a:endParaRPr lang="en-US" sz="1200" b="1">
              <a:solidFill>
                <a:srgbClr val="0000FF"/>
              </a:solidFill>
              <a:latin typeface="Museo Sans 300" panose="02000000000000000000" pitchFamily="50" charset="0"/>
              <a:ea typeface="Verdana" panose="020B0604030504040204" pitchFamily="34" charset="0"/>
              <a:cs typeface="Verdana" panose="020B0604030504040204" pitchFamily="34" charset="0"/>
            </a:endParaRPr>
          </a:p>
          <a:p>
            <a:pPr algn="just"/>
            <a:r>
              <a:rPr lang="en-US" sz="1200">
                <a:latin typeface="Museo Sans 300" panose="02000000000000000000" pitchFamily="50" charset="0"/>
                <a:ea typeface="Verdana" panose="020B0604030504040204" pitchFamily="34" charset="0"/>
                <a:cs typeface="Verdana" panose="020B0604030504040204" pitchFamily="34" charset="0"/>
              </a:rPr>
              <a:t>Background</a:t>
            </a:r>
          </a:p>
          <a:p>
            <a:pPr algn="just"/>
            <a:endParaRPr lang="en-US" sz="1200">
              <a:solidFill>
                <a:srgbClr val="0000FF"/>
              </a:solidFill>
              <a:latin typeface="Museo Sans 300" panose="02000000000000000000" pitchFamily="50" charset="0"/>
              <a:ea typeface="Verdana"/>
              <a:cs typeface="Verdana"/>
            </a:endParaRPr>
          </a:p>
          <a:p>
            <a:pPr marL="228600" indent="-228600" algn="just">
              <a:buFont typeface="+mj-lt"/>
              <a:buAutoNum type="arabicPeriod"/>
            </a:pPr>
            <a:r>
              <a:rPr lang="en-GB" sz="1200">
                <a:latin typeface="Museo Sans 300"/>
                <a:ea typeface="Verdana"/>
              </a:rPr>
              <a:t>Effective 1</a:t>
            </a:r>
            <a:r>
              <a:rPr lang="en-GB" sz="1200" baseline="30000">
                <a:latin typeface="Museo Sans 300"/>
                <a:ea typeface="Verdana"/>
              </a:rPr>
              <a:t>st</a:t>
            </a:r>
            <a:r>
              <a:rPr lang="en-GB" sz="1200">
                <a:latin typeface="Museo Sans 300"/>
                <a:ea typeface="Verdana"/>
              </a:rPr>
              <a:t> March 2026, the PDSB Business Delivery - Upstream (BD) was established as a dedicated entity under Upstream, mandated to support the Upstream Business’s Digital and ICT delivery and operational needs. Based within </a:t>
            </a:r>
            <a:r>
              <a:rPr lang="en-GB" sz="1200" err="1">
                <a:latin typeface="Museo Sans 300"/>
                <a:ea typeface="Verdana"/>
              </a:rPr>
              <a:t>Upstream’s</a:t>
            </a:r>
            <a:r>
              <a:rPr lang="en-GB" sz="1200">
                <a:latin typeface="Museo Sans 300"/>
                <a:ea typeface="Verdana"/>
              </a:rPr>
              <a:t> premises, BD’s repositioning under PDSB aims to ensure seamless service continuity while upholding established operational standards. </a:t>
            </a:r>
          </a:p>
          <a:p>
            <a:pPr marL="228600" indent="-228600" algn="just">
              <a:buAutoNum type="arabicPeriod"/>
            </a:pPr>
            <a:endParaRPr lang="en-GB" sz="1200">
              <a:latin typeface="Museo Sans 300"/>
              <a:ea typeface="Verdana"/>
            </a:endParaRPr>
          </a:p>
          <a:p>
            <a:pPr marL="228600" indent="-228600" algn="just">
              <a:buFont typeface="+mj-lt"/>
              <a:buAutoNum type="arabicPeriod"/>
            </a:pPr>
            <a:r>
              <a:rPr lang="en-GB" sz="1200">
                <a:latin typeface="Museo Sans 300"/>
                <a:ea typeface="Verdana"/>
              </a:rPr>
              <a:t>Solution Proposal is developed to support Business Digital Unit (Upstream) in executing its service responsibilities. The scope of work and related activities are to ensure BD - Joint Development Agreement (JDA) initiatives (Build by Externals) are aligned with PDSB Digital and ICT Work Process.</a:t>
            </a:r>
          </a:p>
          <a:p>
            <a:pPr marL="742950" lvl="1" indent="-285750">
              <a:spcBef>
                <a:spcPct val="0"/>
              </a:spcBef>
              <a:spcAft>
                <a:spcPct val="0"/>
              </a:spcAft>
              <a:buFont typeface="Arial" panose="020B0604020202020204" pitchFamily="34" charset="0"/>
              <a:buChar char="•"/>
            </a:pPr>
            <a:r>
              <a:rPr lang="en-US" sz="1200">
                <a:latin typeface="Museo Sans 300"/>
                <a:ea typeface="Verdana"/>
              </a:rPr>
              <a:t>JDA 1 - Accelerate HC Discovery</a:t>
            </a:r>
          </a:p>
          <a:p>
            <a:pPr marL="742950" lvl="1" indent="-285750">
              <a:spcBef>
                <a:spcPct val="0"/>
              </a:spcBef>
              <a:spcAft>
                <a:spcPct val="0"/>
              </a:spcAft>
              <a:buFont typeface="Arial" panose="020B0604020202020204" pitchFamily="34" charset="0"/>
              <a:buChar char="•"/>
            </a:pPr>
            <a:r>
              <a:rPr lang="en-US" sz="1200">
                <a:latin typeface="Museo Sans 300"/>
                <a:ea typeface="Verdana"/>
              </a:rPr>
              <a:t>JDA 2 -  Maximize Asset Value Subsurface</a:t>
            </a:r>
          </a:p>
          <a:p>
            <a:pPr marL="742950" lvl="1" indent="-285750">
              <a:spcBef>
                <a:spcPct val="0"/>
              </a:spcBef>
              <a:spcAft>
                <a:spcPct val="0"/>
              </a:spcAft>
              <a:buFont typeface="Arial" panose="020B0604020202020204" pitchFamily="34" charset="0"/>
              <a:buChar char="•"/>
            </a:pPr>
            <a:r>
              <a:rPr lang="en-US" sz="1200">
                <a:latin typeface="Museo Sans 300"/>
                <a:ea typeface="Verdana"/>
              </a:rPr>
              <a:t>JDA 3 -Maximize Asset Value Surface</a:t>
            </a:r>
          </a:p>
          <a:p>
            <a:pPr marL="742950" lvl="1" indent="-285750">
              <a:spcBef>
                <a:spcPct val="0"/>
              </a:spcBef>
              <a:spcAft>
                <a:spcPct val="0"/>
              </a:spcAft>
              <a:buFont typeface="Arial" panose="020B0604020202020204" pitchFamily="34" charset="0"/>
              <a:buChar char="•"/>
            </a:pPr>
            <a:r>
              <a:rPr lang="en-US" sz="1200">
                <a:latin typeface="Museo Sans 300"/>
                <a:ea typeface="Verdana"/>
              </a:rPr>
              <a:t>JDA 4-  </a:t>
            </a:r>
            <a:r>
              <a:rPr lang="en-GB" altLang="en-US" sz="1200">
                <a:latin typeface="Museo Sans 300"/>
                <a:ea typeface="Verdana"/>
              </a:rPr>
              <a:t>Accelerate HC Monetization</a:t>
            </a:r>
            <a:endParaRPr lang="en-US" sz="1200">
              <a:latin typeface="Museo Sans 300"/>
              <a:ea typeface="Verdana"/>
            </a:endParaRPr>
          </a:p>
          <a:p>
            <a:pPr marL="228600" indent="-228600" algn="just">
              <a:buFont typeface="+mj-lt"/>
              <a:buAutoNum type="arabicPeriod"/>
            </a:pPr>
            <a:endParaRPr lang="en-GB" sz="1200">
              <a:latin typeface="Museo Sans 300"/>
              <a:ea typeface="Verdana"/>
            </a:endParaRPr>
          </a:p>
          <a:p>
            <a:pPr marL="228600" indent="-228600" algn="just">
              <a:buFont typeface="+mj-lt"/>
              <a:buAutoNum type="arabicPeriod"/>
            </a:pPr>
            <a:r>
              <a:rPr lang="en-GB" sz="1200">
                <a:latin typeface="Museo Sans 300"/>
                <a:ea typeface="Verdana"/>
              </a:rPr>
              <a:t>In addition to support BDU in executing its service responsibilities. The scope of work and related activities have been carefully reviewed to ensure alignment with all relevant stakeholders.</a:t>
            </a:r>
          </a:p>
          <a:p>
            <a:pPr marL="228600" indent="-228600" algn="just">
              <a:buFont typeface="+mj-lt"/>
              <a:buAutoNum type="arabicPeriod"/>
            </a:pPr>
            <a:endParaRPr lang="en-GB" sz="1200">
              <a:latin typeface="Museo Sans 300"/>
              <a:ea typeface="Verdana"/>
            </a:endParaRPr>
          </a:p>
          <a:p>
            <a:pPr marL="228600" indent="-228600" algn="just">
              <a:buFont typeface="+mj-lt"/>
              <a:buAutoNum type="arabicPeriod"/>
            </a:pPr>
            <a:endParaRPr lang="en-GB" sz="1200">
              <a:latin typeface="Museo Sans 300" panose="02000000000000000000" pitchFamily="50" charset="0"/>
              <a:ea typeface="Verdana"/>
            </a:endParaRPr>
          </a:p>
          <a:p>
            <a:pPr algn="just"/>
            <a:endParaRPr lang="en-US" sz="1200">
              <a:solidFill>
                <a:srgbClr val="0000FF"/>
              </a:solidFill>
              <a:latin typeface="Museo Sans 300" panose="02000000000000000000" pitchFamily="50" charset="0"/>
              <a:ea typeface="Verdana"/>
              <a:cs typeface="Verdana"/>
            </a:endParaRPr>
          </a:p>
          <a:p>
            <a:endParaRPr lang="en-US" sz="1200">
              <a:solidFill>
                <a:schemeClr val="bg1">
                  <a:lumMod val="50000"/>
                </a:schemeClr>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336" name="Rectangle 335">
            <a:extLst>
              <a:ext uri="{FF2B5EF4-FFF2-40B4-BE49-F238E27FC236}">
                <a16:creationId xmlns:a16="http://schemas.microsoft.com/office/drawing/2014/main" id="{569E954E-CDCE-E55B-E9C1-9EEC575894FA}"/>
              </a:ext>
            </a:extLst>
          </p:cNvPr>
          <p:cNvSpPr/>
          <p:nvPr/>
        </p:nvSpPr>
        <p:spPr>
          <a:xfrm>
            <a:off x="6962584" y="21810"/>
            <a:ext cx="2173254" cy="71354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8" name="Title 1">
            <a:extLst>
              <a:ext uri="{FF2B5EF4-FFF2-40B4-BE49-F238E27FC236}">
                <a16:creationId xmlns:a16="http://schemas.microsoft.com/office/drawing/2014/main" id="{100CCDB5-FC66-9F00-BCBB-13C654897DD1}"/>
              </a:ext>
            </a:extLst>
          </p:cNvPr>
          <p:cNvSpPr txBox="1">
            <a:spLocks/>
          </p:cNvSpPr>
          <p:nvPr/>
        </p:nvSpPr>
        <p:spPr>
          <a:xfrm>
            <a:off x="371274" y="181886"/>
            <a:ext cx="8229600" cy="548117"/>
          </a:xfrm>
          <a:prstGeom prst="rect">
            <a:avLst/>
          </a:prstGeom>
        </p:spPr>
        <p:txBody>
          <a:bodyPr vert="horz" lIns="68580" tIns="34290" rIns="68580" bIns="34290" rtlCol="0" anchor="ctr">
            <a:noAutofit/>
          </a:bodyPr>
          <a:lstStyle>
            <a:lvl1pPr algn="l" defTabSz="914400" rtl="0" eaLnBrk="1" latinLnBrk="0" hangingPunct="1">
              <a:spcBef>
                <a:spcPct val="0"/>
              </a:spcBef>
              <a:buNone/>
              <a:defRPr sz="3200" kern="1200">
                <a:solidFill>
                  <a:srgbClr val="00B1A9"/>
                </a:solidFill>
                <a:latin typeface="+mj-lt"/>
                <a:ea typeface="+mj-ea"/>
                <a:cs typeface="+mj-cs"/>
              </a:defRPr>
            </a:lvl1pPr>
          </a:lstStyle>
          <a:p>
            <a:r>
              <a:rPr lang="en-US" sz="2400" b="1">
                <a:latin typeface="Museo Sans 900" panose="02000000000000000000" pitchFamily="50" charset="0"/>
                <a:ea typeface="Verdana" panose="020B0604030504040204" pitchFamily="34" charset="0"/>
                <a:cs typeface="Verdana" panose="020B0604030504040204" pitchFamily="34" charset="0"/>
              </a:rPr>
              <a:t>1.2 Background and Objectives</a:t>
            </a:r>
          </a:p>
        </p:txBody>
      </p:sp>
      <p:pic>
        <p:nvPicPr>
          <p:cNvPr id="13" name="Picture 12">
            <a:extLst>
              <a:ext uri="{FF2B5EF4-FFF2-40B4-BE49-F238E27FC236}">
                <a16:creationId xmlns:a16="http://schemas.microsoft.com/office/drawing/2014/main" id="{C810D520-8568-F3E1-FB1D-BCDDAC515AF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57420" y="21809"/>
            <a:ext cx="2578418" cy="666750"/>
          </a:xfrm>
          <a:prstGeom prst="rect">
            <a:avLst/>
          </a:prstGeom>
          <a:noFill/>
        </p:spPr>
      </p:pic>
      <p:sp>
        <p:nvSpPr>
          <p:cNvPr id="8" name="BJPseudoFooter">
            <a:extLst>
              <a:ext uri="{FF2B5EF4-FFF2-40B4-BE49-F238E27FC236}">
                <a16:creationId xmlns:a16="http://schemas.microsoft.com/office/drawing/2014/main" id="{CFC8E226-D34E-B762-3163-B1FBCE4B3396}"/>
              </a:ext>
            </a:extLst>
          </p:cNvPr>
          <p:cNvSpPr txBox="1"/>
          <p:nvPr>
            <p:custDataLst>
              <p:tags r:id="rId1"/>
            </p:custDataLst>
          </p:nvPr>
        </p:nvSpPr>
        <p:spPr>
          <a:xfrm>
            <a:off x="88900" y="657808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pic>
        <p:nvPicPr>
          <p:cNvPr id="2" name="Picture 1">
            <a:extLst>
              <a:ext uri="{FF2B5EF4-FFF2-40B4-BE49-F238E27FC236}">
                <a16:creationId xmlns:a16="http://schemas.microsoft.com/office/drawing/2014/main" id="{3911C843-0C39-E78E-D033-743B123A6513}"/>
              </a:ext>
            </a:extLst>
          </p:cNvPr>
          <p:cNvPicPr>
            <a:picLocks noChangeAspect="1"/>
          </p:cNvPicPr>
          <p:nvPr/>
        </p:nvPicPr>
        <p:blipFill>
          <a:blip r:embed="rId5"/>
          <a:stretch>
            <a:fillRect/>
          </a:stretch>
        </p:blipFill>
        <p:spPr>
          <a:xfrm>
            <a:off x="400050" y="4732782"/>
            <a:ext cx="8201025" cy="1180948"/>
          </a:xfrm>
          <a:prstGeom prst="rect">
            <a:avLst/>
          </a:prstGeom>
        </p:spPr>
      </p:pic>
      <p:sp>
        <p:nvSpPr>
          <p:cNvPr id="4" name="TextBox 3">
            <a:extLst>
              <a:ext uri="{FF2B5EF4-FFF2-40B4-BE49-F238E27FC236}">
                <a16:creationId xmlns:a16="http://schemas.microsoft.com/office/drawing/2014/main" id="{1D3A8C49-C0C5-AFEE-5224-DA7881CCF2AE}"/>
              </a:ext>
            </a:extLst>
          </p:cNvPr>
          <p:cNvSpPr txBox="1"/>
          <p:nvPr/>
        </p:nvSpPr>
        <p:spPr>
          <a:xfrm>
            <a:off x="390525" y="5934075"/>
            <a:ext cx="2246128" cy="261610"/>
          </a:xfrm>
          <a:prstGeom prst="rect">
            <a:avLst/>
          </a:prstGeom>
          <a:noFill/>
        </p:spPr>
        <p:txBody>
          <a:bodyPr wrap="none" rtlCol="0">
            <a:spAutoFit/>
          </a:bodyPr>
          <a:lstStyle/>
          <a:p>
            <a:r>
              <a:rPr lang="en-GB" sz="1100"/>
              <a:t>2026 Digital &amp; ICT Work Process</a:t>
            </a:r>
          </a:p>
        </p:txBody>
      </p:sp>
    </p:spTree>
    <p:extLst>
      <p:ext uri="{BB962C8B-B14F-4D97-AF65-F5344CB8AC3E}">
        <p14:creationId xmlns:p14="http://schemas.microsoft.com/office/powerpoint/2010/main" val="1723304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Title 1"/>
          <p:cNvSpPr>
            <a:spLocks noGrp="1"/>
          </p:cNvSpPr>
          <p:nvPr>
            <p:ph type="title"/>
          </p:nvPr>
        </p:nvSpPr>
        <p:spPr>
          <a:xfrm>
            <a:off x="429182" y="539018"/>
            <a:ext cx="8229600"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1.3 Out of Scope </a:t>
            </a:r>
          </a:p>
        </p:txBody>
      </p:sp>
      <p:graphicFrame>
        <p:nvGraphicFramePr>
          <p:cNvPr id="11" name="Table 10"/>
          <p:cNvGraphicFramePr>
            <a:graphicFrameLocks noGrp="1"/>
          </p:cNvGraphicFramePr>
          <p:nvPr>
            <p:extLst>
              <p:ext uri="{D42A27DB-BD31-4B8C-83A1-F6EECF244321}">
                <p14:modId xmlns:p14="http://schemas.microsoft.com/office/powerpoint/2010/main" val="3998603715"/>
              </p:ext>
            </p:extLst>
          </p:nvPr>
        </p:nvGraphicFramePr>
        <p:xfrm>
          <a:off x="425346" y="1224856"/>
          <a:ext cx="8187132" cy="1792728"/>
        </p:xfrm>
        <a:graphic>
          <a:graphicData uri="http://schemas.openxmlformats.org/drawingml/2006/table">
            <a:tbl>
              <a:tblPr>
                <a:tableStyleId>{5940675A-B579-460E-94D1-54222C63F5DA}</a:tableStyleId>
              </a:tblPr>
              <a:tblGrid>
                <a:gridCol w="700483">
                  <a:extLst>
                    <a:ext uri="{9D8B030D-6E8A-4147-A177-3AD203B41FA5}">
                      <a16:colId xmlns:a16="http://schemas.microsoft.com/office/drawing/2014/main" val="20000"/>
                    </a:ext>
                  </a:extLst>
                </a:gridCol>
                <a:gridCol w="7486649">
                  <a:extLst>
                    <a:ext uri="{9D8B030D-6E8A-4147-A177-3AD203B41FA5}">
                      <a16:colId xmlns:a16="http://schemas.microsoft.com/office/drawing/2014/main" val="20001"/>
                    </a:ext>
                  </a:extLst>
                </a:gridCol>
              </a:tblGrid>
              <a:tr h="209066">
                <a:tc>
                  <a:txBody>
                    <a:bodyPr/>
                    <a:lstStyle/>
                    <a:p>
                      <a:pPr algn="ctr" fontAlgn="t"/>
                      <a:r>
                        <a:rPr lang="en-PH" sz="1200" b="1" u="none" strike="noStrike">
                          <a:solidFill>
                            <a:schemeClr val="bg2"/>
                          </a:solidFill>
                          <a:effectLst/>
                          <a:latin typeface="Museo Sans 300"/>
                          <a:ea typeface="Verdana"/>
                          <a:cs typeface="Verdana" panose="020B0604030504040204" pitchFamily="34" charset="0"/>
                        </a:rPr>
                        <a:t>No</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tc>
                  <a:txBody>
                    <a:bodyPr/>
                    <a:lstStyle/>
                    <a:p>
                      <a:pPr algn="ctr" fontAlgn="t"/>
                      <a:r>
                        <a:rPr lang="en-PH" sz="1200" b="1" u="none" strike="noStrike" baseline="0">
                          <a:solidFill>
                            <a:schemeClr val="bg2"/>
                          </a:solidFill>
                          <a:effectLst/>
                          <a:latin typeface="Museo Sans 300"/>
                          <a:ea typeface="Verdana"/>
                          <a:cs typeface="Verdana" panose="020B0604030504040204" pitchFamily="34" charset="0"/>
                        </a:rPr>
                        <a:t>Descriptions</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extLst>
                  <a:ext uri="{0D108BD9-81ED-4DB2-BD59-A6C34878D82A}">
                    <a16:rowId xmlns:a16="http://schemas.microsoft.com/office/drawing/2014/main" val="10000"/>
                  </a:ext>
                </a:extLst>
              </a:tr>
              <a:tr h="380351">
                <a:tc>
                  <a:txBody>
                    <a:bodyPr/>
                    <a:lstStyle/>
                    <a:p>
                      <a:pPr algn="ctr" fontAlgn="t"/>
                      <a:r>
                        <a:rPr lang="en-US" sz="1200" u="none" strike="noStrike">
                          <a:effectLst/>
                          <a:latin typeface="Museo Sans 300"/>
                          <a:ea typeface="Verdana"/>
                          <a:cs typeface="Verdana" panose="020B0604030504040204" pitchFamily="34" charset="0"/>
                        </a:rPr>
                        <a:t>1</a:t>
                      </a:r>
                      <a:endParaRPr lang="en-US" sz="1200" b="0" i="0" u="none" strike="noStrike">
                        <a:solidFill>
                          <a:schemeClr val="tx1"/>
                        </a:solidFill>
                        <a:effectLst/>
                        <a:latin typeface="Museo Sans 300"/>
                        <a:ea typeface="Verdana"/>
                        <a:cs typeface="Verdana" panose="020B0604030504040204" pitchFamily="34" charset="0"/>
                      </a:endParaRPr>
                    </a:p>
                  </a:txBody>
                  <a:tcPr marL="34290" marR="34290" marT="34290" marB="34290" anchor="ctr"/>
                </a:tc>
                <a:tc>
                  <a:txBody>
                    <a:bodyPr/>
                    <a:lstStyle/>
                    <a:p>
                      <a:pPr marL="0" algn="just" defTabSz="914400" rtl="0" eaLnBrk="1" fontAlgn="t" latinLnBrk="0" hangingPunct="1"/>
                      <a:r>
                        <a:rPr lang="en-US" sz="1200" kern="1200">
                          <a:solidFill>
                            <a:schemeClr val="tx1"/>
                          </a:solidFill>
                          <a:latin typeface="Museo Sans 300"/>
                          <a:ea typeface="Verdana"/>
                          <a:cs typeface="Verdana" panose="020B0604030504040204" pitchFamily="34" charset="0"/>
                        </a:rPr>
                        <a:t>Hardware or Software that is directly procured by Business and not through PETRONAS Digital, the support and maintenance are undertaken by the Business.</a:t>
                      </a:r>
                    </a:p>
                  </a:txBody>
                  <a:tcPr marL="34290" marR="34290" marT="34290" marB="34290" anchor="ctr"/>
                </a:tc>
                <a:extLst>
                  <a:ext uri="{0D108BD9-81ED-4DB2-BD59-A6C34878D82A}">
                    <a16:rowId xmlns:a16="http://schemas.microsoft.com/office/drawing/2014/main" val="10001"/>
                  </a:ext>
                </a:extLst>
              </a:tr>
              <a:tr h="388620">
                <a:tc>
                  <a:txBody>
                    <a:bodyPr/>
                    <a:lstStyle/>
                    <a:p>
                      <a:pPr algn="ctr" fontAlgn="t"/>
                      <a:r>
                        <a:rPr lang="en-US" sz="1200" b="0" i="0" u="none" strike="noStrike">
                          <a:solidFill>
                            <a:schemeClr val="tx1"/>
                          </a:solidFill>
                          <a:effectLst/>
                          <a:latin typeface="Museo Sans 300"/>
                          <a:ea typeface="Verdana"/>
                          <a:cs typeface="Verdana" panose="020B0604030504040204" pitchFamily="34" charset="0"/>
                        </a:rPr>
                        <a:t>2</a:t>
                      </a:r>
                    </a:p>
                  </a:txBody>
                  <a:tcPr marL="34290" marR="34290" marT="34290" marB="34290" anchor="ctr"/>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200" kern="1200">
                          <a:solidFill>
                            <a:schemeClr val="tx1"/>
                          </a:solidFill>
                          <a:latin typeface="Museo Sans 300"/>
                          <a:ea typeface="Verdana"/>
                          <a:cs typeface="Verdana" panose="020B0604030504040204" pitchFamily="34" charset="0"/>
                        </a:rPr>
                        <a:t>Training is out of the scope of this SP.</a:t>
                      </a:r>
                    </a:p>
                  </a:txBody>
                  <a:tcPr marL="34290" marR="34290" marT="34290" marB="34290" anchor="ctr"/>
                </a:tc>
                <a:extLst>
                  <a:ext uri="{0D108BD9-81ED-4DB2-BD59-A6C34878D82A}">
                    <a16:rowId xmlns:a16="http://schemas.microsoft.com/office/drawing/2014/main" val="10002"/>
                  </a:ext>
                </a:extLst>
              </a:tr>
              <a:tr h="380351">
                <a:tc>
                  <a:txBody>
                    <a:bodyPr/>
                    <a:lstStyle/>
                    <a:p>
                      <a:pPr algn="ctr" fontAlgn="t"/>
                      <a:r>
                        <a:rPr lang="en-US" sz="1200" b="0" i="0" u="none" strike="noStrike">
                          <a:solidFill>
                            <a:schemeClr val="tx1"/>
                          </a:solidFill>
                          <a:effectLst/>
                          <a:latin typeface="Museo Sans 300"/>
                          <a:ea typeface="Verdana"/>
                          <a:cs typeface="Verdana" panose="020B0604030504040204" pitchFamily="34" charset="0"/>
                        </a:rPr>
                        <a:t>3</a:t>
                      </a:r>
                    </a:p>
                  </a:txBody>
                  <a:tcPr marL="34290" marR="34290" marT="34290" marB="34290" anchor="ctr"/>
                </a:tc>
                <a:tc>
                  <a:txBody>
                    <a:bodyPr/>
                    <a:lstStyle/>
                    <a:p>
                      <a:pPr marL="0" algn="just" defTabSz="914400" rtl="0" eaLnBrk="1" fontAlgn="t" latinLnBrk="0" hangingPunct="1"/>
                      <a:r>
                        <a:rPr lang="en-US" sz="1200" kern="1200">
                          <a:solidFill>
                            <a:schemeClr val="tx1"/>
                          </a:solidFill>
                          <a:latin typeface="Museo Sans 300"/>
                          <a:ea typeface="Verdana"/>
                          <a:cs typeface="Verdana" panose="020B0604030504040204" pitchFamily="34" charset="0"/>
                        </a:rPr>
                        <a:t>Contract that is manages by the Business. </a:t>
                      </a:r>
                    </a:p>
                  </a:txBody>
                  <a:tcPr marL="34290" marR="34290" marT="34290" marB="34290" anchor="ctr"/>
                </a:tc>
                <a:extLst>
                  <a:ext uri="{0D108BD9-81ED-4DB2-BD59-A6C34878D82A}">
                    <a16:rowId xmlns:a16="http://schemas.microsoft.com/office/drawing/2014/main" val="10003"/>
                  </a:ext>
                </a:extLst>
              </a:tr>
              <a:tr h="380351">
                <a:tc>
                  <a:txBody>
                    <a:bodyPr/>
                    <a:lstStyle/>
                    <a:p>
                      <a:pPr algn="ctr" fontAlgn="t"/>
                      <a:r>
                        <a:rPr lang="en-US" sz="1200" b="0" i="0" u="none" strike="noStrike">
                          <a:solidFill>
                            <a:schemeClr val="tx1"/>
                          </a:solidFill>
                          <a:effectLst/>
                          <a:latin typeface="Museo Sans 300"/>
                          <a:ea typeface="Verdana"/>
                          <a:cs typeface="Verdana" panose="020B0604030504040204" pitchFamily="34" charset="0"/>
                        </a:rPr>
                        <a:t>4</a:t>
                      </a:r>
                    </a:p>
                  </a:txBody>
                  <a:tcPr marL="34290" marR="34290" marT="34290" marB="34290" anchor="ctr"/>
                </a:tc>
                <a:tc>
                  <a:txBody>
                    <a:bodyPr/>
                    <a:lstStyle/>
                    <a:p>
                      <a:pPr marL="0" algn="just" defTabSz="914400" rtl="0" eaLnBrk="1" fontAlgn="t" latinLnBrk="0" hangingPunct="1"/>
                      <a:r>
                        <a:rPr lang="en-GB" sz="1200" kern="1200">
                          <a:solidFill>
                            <a:schemeClr val="tx1"/>
                          </a:solidFill>
                          <a:latin typeface="Museo Sans 300"/>
                          <a:ea typeface="Verdana"/>
                          <a:cs typeface="Verdana" panose="020B0604030504040204" pitchFamily="34" charset="0"/>
                        </a:rPr>
                        <a:t>Any other related activities that fall outside the scope and responsibility of the BD Upstream.</a:t>
                      </a:r>
                      <a:endParaRPr lang="en-US" sz="1200" kern="1200">
                        <a:solidFill>
                          <a:schemeClr val="tx1"/>
                        </a:solidFill>
                        <a:latin typeface="Museo Sans 300"/>
                        <a:ea typeface="Verdana"/>
                        <a:cs typeface="Verdana" panose="020B0604030504040204" pitchFamily="34" charset="0"/>
                      </a:endParaRPr>
                    </a:p>
                  </a:txBody>
                  <a:tcPr marL="34290" marR="34290" marT="34290" marB="34290" anchor="ctr"/>
                </a:tc>
                <a:extLst>
                  <a:ext uri="{0D108BD9-81ED-4DB2-BD59-A6C34878D82A}">
                    <a16:rowId xmlns:a16="http://schemas.microsoft.com/office/drawing/2014/main" val="3901598642"/>
                  </a:ext>
                </a:extLst>
              </a:tr>
            </a:tbl>
          </a:graphicData>
        </a:graphic>
      </p:graphicFrame>
      <p:sp>
        <p:nvSpPr>
          <p:cNvPr id="14" name="Rectangle 13"/>
          <p:cNvSpPr/>
          <p:nvPr/>
        </p:nvSpPr>
        <p:spPr>
          <a:xfrm>
            <a:off x="6970746" y="-46263"/>
            <a:ext cx="2173254" cy="71354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5" name="Picture 14"/>
          <p:cNvPicPr/>
          <p:nvPr/>
        </p:nvPicPr>
        <p:blipFill>
          <a:blip r:embed="rId4">
            <a:extLst>
              <a:ext uri="{28A0092B-C50C-407E-A947-70E740481C1C}">
                <a14:useLocalDpi xmlns:a14="http://schemas.microsoft.com/office/drawing/2010/main" val="0"/>
              </a:ext>
            </a:extLst>
          </a:blip>
          <a:srcRect/>
          <a:stretch>
            <a:fillRect/>
          </a:stretch>
        </p:blipFill>
        <p:spPr bwMode="auto">
          <a:xfrm>
            <a:off x="6565582" y="-46264"/>
            <a:ext cx="2578418" cy="666750"/>
          </a:xfrm>
          <a:prstGeom prst="rect">
            <a:avLst/>
          </a:prstGeom>
          <a:noFill/>
        </p:spPr>
      </p:pic>
      <p:sp>
        <p:nvSpPr>
          <p:cNvPr id="3" name="BJPseudoFooter">
            <a:extLst>
              <a:ext uri="{FF2B5EF4-FFF2-40B4-BE49-F238E27FC236}">
                <a16:creationId xmlns:a16="http://schemas.microsoft.com/office/drawing/2014/main" id="{24EC38E3-038D-4666-96C3-10E59AAE6CE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075069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Picture 15"/>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5" name="BJPseudoFooter">
            <a:extLst>
              <a:ext uri="{FF2B5EF4-FFF2-40B4-BE49-F238E27FC236}">
                <a16:creationId xmlns:a16="http://schemas.microsoft.com/office/drawing/2014/main" id="{2A9B38C2-DF34-4E9F-BDAE-0590FEA66D5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4" name="Title 1">
            <a:extLst>
              <a:ext uri="{FF2B5EF4-FFF2-40B4-BE49-F238E27FC236}">
                <a16:creationId xmlns:a16="http://schemas.microsoft.com/office/drawing/2014/main" id="{F1A7E06A-7D63-AD18-4381-8B8D09AC5AB3}"/>
              </a:ext>
            </a:extLst>
          </p:cNvPr>
          <p:cNvSpPr txBox="1">
            <a:spLocks/>
          </p:cNvSpPr>
          <p:nvPr/>
        </p:nvSpPr>
        <p:spPr>
          <a:xfrm>
            <a:off x="372436" y="337210"/>
            <a:ext cx="8229600" cy="54811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a:lstStyle>
          <a:p>
            <a:r>
              <a:rPr lang="en-US">
                <a:latin typeface="Museo Sans 900" panose="02000000000000000000" pitchFamily="50" charset="0"/>
                <a:ea typeface="Verdana" panose="020B0604030504040204" pitchFamily="34" charset="0"/>
                <a:cs typeface="Verdana" panose="020B0604030504040204" pitchFamily="34" charset="0"/>
              </a:rPr>
              <a:t>2.1 Scope</a:t>
            </a:r>
          </a:p>
        </p:txBody>
      </p:sp>
      <p:graphicFrame>
        <p:nvGraphicFramePr>
          <p:cNvPr id="13" name="Table 12">
            <a:extLst>
              <a:ext uri="{FF2B5EF4-FFF2-40B4-BE49-F238E27FC236}">
                <a16:creationId xmlns:a16="http://schemas.microsoft.com/office/drawing/2014/main" id="{4AA9EBE6-2062-5083-78A9-6649619F0417}"/>
              </a:ext>
            </a:extLst>
          </p:cNvPr>
          <p:cNvGraphicFramePr>
            <a:graphicFrameLocks noGrp="1"/>
          </p:cNvGraphicFramePr>
          <p:nvPr>
            <p:extLst>
              <p:ext uri="{D42A27DB-BD31-4B8C-83A1-F6EECF244321}">
                <p14:modId xmlns:p14="http://schemas.microsoft.com/office/powerpoint/2010/main" val="410623550"/>
              </p:ext>
            </p:extLst>
          </p:nvPr>
        </p:nvGraphicFramePr>
        <p:xfrm>
          <a:off x="404418" y="1132915"/>
          <a:ext cx="8187132" cy="1585410"/>
        </p:xfrm>
        <a:graphic>
          <a:graphicData uri="http://schemas.openxmlformats.org/drawingml/2006/table">
            <a:tbl>
              <a:tblPr>
                <a:tableStyleId>{5940675A-B579-460E-94D1-54222C63F5DA}</a:tableStyleId>
              </a:tblPr>
              <a:tblGrid>
                <a:gridCol w="700483">
                  <a:extLst>
                    <a:ext uri="{9D8B030D-6E8A-4147-A177-3AD203B41FA5}">
                      <a16:colId xmlns:a16="http://schemas.microsoft.com/office/drawing/2014/main" val="20000"/>
                    </a:ext>
                  </a:extLst>
                </a:gridCol>
                <a:gridCol w="7486649">
                  <a:extLst>
                    <a:ext uri="{9D8B030D-6E8A-4147-A177-3AD203B41FA5}">
                      <a16:colId xmlns:a16="http://schemas.microsoft.com/office/drawing/2014/main" val="20001"/>
                    </a:ext>
                  </a:extLst>
                </a:gridCol>
              </a:tblGrid>
              <a:tr h="382099">
                <a:tc>
                  <a:txBody>
                    <a:bodyPr/>
                    <a:lstStyle/>
                    <a:p>
                      <a:pPr algn="ctr" fontAlgn="t"/>
                      <a:r>
                        <a:rPr lang="en-PH" sz="1200" b="1" u="none" strike="noStrike">
                          <a:solidFill>
                            <a:schemeClr val="bg2"/>
                          </a:solidFill>
                          <a:effectLst/>
                          <a:latin typeface="Museo Sans 300"/>
                          <a:ea typeface="Verdana"/>
                          <a:cs typeface="Verdana" panose="020B0604030504040204" pitchFamily="34" charset="0"/>
                        </a:rPr>
                        <a:t>No</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tc>
                  <a:txBody>
                    <a:bodyPr/>
                    <a:lstStyle/>
                    <a:p>
                      <a:pPr algn="ctr" fontAlgn="t"/>
                      <a:r>
                        <a:rPr lang="en-PH" sz="1200" b="1" u="none" strike="noStrike" baseline="0">
                          <a:solidFill>
                            <a:schemeClr val="bg2"/>
                          </a:solidFill>
                          <a:effectLst/>
                          <a:latin typeface="Museo Sans 300"/>
                          <a:ea typeface="Verdana"/>
                          <a:cs typeface="Verdana" panose="020B0604030504040204" pitchFamily="34" charset="0"/>
                        </a:rPr>
                        <a:t>Scope</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extLst>
                  <a:ext uri="{0D108BD9-81ED-4DB2-BD59-A6C34878D82A}">
                    <a16:rowId xmlns:a16="http://schemas.microsoft.com/office/drawing/2014/main" val="10000"/>
                  </a:ext>
                </a:extLst>
              </a:tr>
              <a:tr h="380351">
                <a:tc>
                  <a:txBody>
                    <a:bodyPr/>
                    <a:lstStyle/>
                    <a:p>
                      <a:pPr algn="ctr" fontAlgn="t"/>
                      <a:r>
                        <a:rPr lang="en-US" sz="1200" u="none" strike="noStrike">
                          <a:effectLst/>
                          <a:latin typeface="Museo Sans 300"/>
                          <a:ea typeface="Verdana"/>
                          <a:cs typeface="Verdana" panose="020B0604030504040204" pitchFamily="34" charset="0"/>
                        </a:rPr>
                        <a:t>1</a:t>
                      </a:r>
                      <a:endParaRPr lang="en-US" sz="1200" b="0" i="0" u="none" strike="noStrike">
                        <a:solidFill>
                          <a:schemeClr val="tx1"/>
                        </a:solidFill>
                        <a:effectLst/>
                        <a:latin typeface="Museo Sans 300"/>
                        <a:ea typeface="Verdana"/>
                        <a:cs typeface="Verdana" panose="020B0604030504040204" pitchFamily="34" charset="0"/>
                      </a:endParaRPr>
                    </a:p>
                  </a:txBody>
                  <a:tcPr marL="34290" marR="34290" marT="34290" marB="34290" anchor="ctr"/>
                </a:tc>
                <a:tc>
                  <a:txBody>
                    <a:bodyPr/>
                    <a:lstStyle/>
                    <a:p>
                      <a:pPr marL="0" algn="just" rtl="0" eaLnBrk="1" fontAlgn="t" latinLnBrk="0" hangingPunct="1"/>
                      <a:r>
                        <a:rPr lang="en-US" sz="1200" kern="1200">
                          <a:solidFill>
                            <a:schemeClr val="tx1"/>
                          </a:solidFill>
                          <a:latin typeface="Museo Sans 300"/>
                          <a:ea typeface="Verdana"/>
                          <a:cs typeface="Verdana" panose="020B0604030504040204" pitchFamily="34" charset="0"/>
                        </a:rPr>
                        <a:t>To formalized PDU Managed Services between PDSB and UTDI 001</a:t>
                      </a:r>
                    </a:p>
                  </a:txBody>
                  <a:tcPr marL="34290" marR="34290" marT="34290" marB="34290" anchor="ctr"/>
                </a:tc>
                <a:extLst>
                  <a:ext uri="{0D108BD9-81ED-4DB2-BD59-A6C34878D82A}">
                    <a16:rowId xmlns:a16="http://schemas.microsoft.com/office/drawing/2014/main" val="10001"/>
                  </a:ext>
                </a:extLst>
              </a:tr>
              <a:tr h="388620">
                <a:tc>
                  <a:txBody>
                    <a:bodyPr/>
                    <a:lstStyle/>
                    <a:p>
                      <a:pPr algn="ctr" fontAlgn="t"/>
                      <a:r>
                        <a:rPr lang="en-US" sz="1200" b="0" i="0" u="none" strike="noStrike">
                          <a:solidFill>
                            <a:schemeClr val="tx1"/>
                          </a:solidFill>
                          <a:effectLst/>
                          <a:latin typeface="Museo Sans 300"/>
                          <a:ea typeface="Verdana"/>
                          <a:cs typeface="Verdana" panose="020B0604030504040204" pitchFamily="34" charset="0"/>
                        </a:rPr>
                        <a:t>2</a:t>
                      </a:r>
                    </a:p>
                  </a:txBody>
                  <a:tcPr marL="34290" marR="34290" marT="34290" marB="34290" anchor="ctr"/>
                </a:tc>
                <a:tc>
                  <a:txBody>
                    <a:bodyPr/>
                    <a:lstStyle/>
                    <a:p>
                      <a:pPr lvl="0" algn="just">
                        <a:lnSpc>
                          <a:spcPct val="100000"/>
                        </a:lnSpc>
                        <a:spcBef>
                          <a:spcPts val="0"/>
                        </a:spcBef>
                        <a:spcAft>
                          <a:spcPts val="0"/>
                        </a:spcAft>
                        <a:buNone/>
                      </a:pPr>
                      <a:r>
                        <a:rPr lang="en-GB" sz="1200" b="0" i="0" u="none" strike="noStrike" kern="1200" noProof="0">
                          <a:solidFill>
                            <a:schemeClr val="tx1"/>
                          </a:solidFill>
                          <a:latin typeface="Museo Sans 300"/>
                        </a:rPr>
                        <a:t>UTDI 001 will be invoiced once a year in 2025 (Lump for Q1-Q4)</a:t>
                      </a:r>
                      <a:endParaRPr lang="en-GB" sz="1200" b="0" i="0" u="none" strike="noStrike" kern="1200" noProof="0">
                        <a:solidFill>
                          <a:srgbClr val="000000"/>
                        </a:solidFill>
                        <a:latin typeface="Museo Sans 300"/>
                      </a:endParaRPr>
                    </a:p>
                  </a:txBody>
                  <a:tcPr marL="34290" marR="34290" marT="34290" marB="34290" anchor="ctr"/>
                </a:tc>
                <a:extLst>
                  <a:ext uri="{0D108BD9-81ED-4DB2-BD59-A6C34878D82A}">
                    <a16:rowId xmlns:a16="http://schemas.microsoft.com/office/drawing/2014/main" val="10002"/>
                  </a:ext>
                </a:extLst>
              </a:tr>
              <a:tr h="380351">
                <a:tc>
                  <a:txBody>
                    <a:bodyPr/>
                    <a:lstStyle/>
                    <a:p>
                      <a:pPr algn="ctr" fontAlgn="t"/>
                      <a:r>
                        <a:rPr lang="en-US" sz="1200" b="0" i="0" u="none" strike="noStrike">
                          <a:solidFill>
                            <a:schemeClr val="tx1"/>
                          </a:solidFill>
                          <a:effectLst/>
                          <a:latin typeface="Museo Sans 300"/>
                          <a:ea typeface="Verdana"/>
                          <a:cs typeface="Verdana" panose="020B0604030504040204" pitchFamily="34" charset="0"/>
                        </a:rPr>
                        <a:t>3</a:t>
                      </a:r>
                    </a:p>
                  </a:txBody>
                  <a:tcPr marL="34290" marR="34290" marT="34290" marB="34290" anchor="ctr"/>
                </a:tc>
                <a:tc>
                  <a:txBody>
                    <a:bodyPr/>
                    <a:lstStyle/>
                    <a:p>
                      <a:pPr marL="0" algn="just" defTabSz="914400" rtl="0" eaLnBrk="1" fontAlgn="t" latinLnBrk="0" hangingPunct="1"/>
                      <a:r>
                        <a:rPr lang="en-GB" sz="1200" kern="1200">
                          <a:solidFill>
                            <a:schemeClr val="tx1"/>
                          </a:solidFill>
                          <a:latin typeface="Museo Sans 300"/>
                          <a:ea typeface="Verdana"/>
                          <a:cs typeface="+mn-cs"/>
                        </a:rPr>
                        <a:t>PDU personnel will remain stationed at the Upstream Workspace/Premises to continue delivering services and support to the Upstream Business</a:t>
                      </a:r>
                      <a:endParaRPr lang="en-US" sz="1200" kern="1200">
                        <a:solidFill>
                          <a:schemeClr val="tx1"/>
                        </a:solidFill>
                        <a:latin typeface="Museo Sans 300"/>
                        <a:ea typeface="Verdana"/>
                        <a:cs typeface="Verdana" panose="020B0604030504040204" pitchFamily="34" charset="0"/>
                      </a:endParaRPr>
                    </a:p>
                  </a:txBody>
                  <a:tcPr marL="34290" marR="34290" marT="34290" marB="3429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1534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28CB5-0598-B00D-A380-6C716DF3E0A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DE14799B-8B39-63CA-02D7-BCD0D8A5287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5" name="BJPseudoFooter">
            <a:extLst>
              <a:ext uri="{FF2B5EF4-FFF2-40B4-BE49-F238E27FC236}">
                <a16:creationId xmlns:a16="http://schemas.microsoft.com/office/drawing/2014/main" id="{65B8FB9E-830D-F961-0C41-EA9380B2F99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4" name="Title 1">
            <a:extLst>
              <a:ext uri="{FF2B5EF4-FFF2-40B4-BE49-F238E27FC236}">
                <a16:creationId xmlns:a16="http://schemas.microsoft.com/office/drawing/2014/main" id="{4C824CFA-6143-C352-A6F4-69B7C5E6871B}"/>
              </a:ext>
            </a:extLst>
          </p:cNvPr>
          <p:cNvSpPr txBox="1">
            <a:spLocks/>
          </p:cNvSpPr>
          <p:nvPr/>
        </p:nvSpPr>
        <p:spPr>
          <a:xfrm>
            <a:off x="372436" y="337210"/>
            <a:ext cx="8229600" cy="54811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a:lstStyle>
          <a:p>
            <a:r>
              <a:rPr lang="en-US">
                <a:latin typeface="Museo Sans 900" panose="02000000000000000000" pitchFamily="50" charset="0"/>
                <a:ea typeface="Verdana" panose="020B0604030504040204" pitchFamily="34" charset="0"/>
                <a:cs typeface="Verdana" panose="020B0604030504040204" pitchFamily="34" charset="0"/>
              </a:rPr>
              <a:t>2.1 Scope</a:t>
            </a:r>
          </a:p>
        </p:txBody>
      </p:sp>
      <p:graphicFrame>
        <p:nvGraphicFramePr>
          <p:cNvPr id="13" name="Table 12">
            <a:extLst>
              <a:ext uri="{FF2B5EF4-FFF2-40B4-BE49-F238E27FC236}">
                <a16:creationId xmlns:a16="http://schemas.microsoft.com/office/drawing/2014/main" id="{A08360E2-F0AB-874B-0367-D7EDFAA28818}"/>
              </a:ext>
            </a:extLst>
          </p:cNvPr>
          <p:cNvGraphicFramePr>
            <a:graphicFrameLocks noGrp="1"/>
          </p:cNvGraphicFramePr>
          <p:nvPr>
            <p:extLst>
              <p:ext uri="{D42A27DB-BD31-4B8C-83A1-F6EECF244321}">
                <p14:modId xmlns:p14="http://schemas.microsoft.com/office/powerpoint/2010/main" val="553816191"/>
              </p:ext>
            </p:extLst>
          </p:nvPr>
        </p:nvGraphicFramePr>
        <p:xfrm>
          <a:off x="404418" y="1132914"/>
          <a:ext cx="8187132" cy="4218211"/>
        </p:xfrm>
        <a:graphic>
          <a:graphicData uri="http://schemas.openxmlformats.org/drawingml/2006/table">
            <a:tbl>
              <a:tblPr>
                <a:tableStyleId>{5940675A-B579-460E-94D1-54222C63F5DA}</a:tableStyleId>
              </a:tblPr>
              <a:tblGrid>
                <a:gridCol w="700483">
                  <a:extLst>
                    <a:ext uri="{9D8B030D-6E8A-4147-A177-3AD203B41FA5}">
                      <a16:colId xmlns:a16="http://schemas.microsoft.com/office/drawing/2014/main" val="20000"/>
                    </a:ext>
                  </a:extLst>
                </a:gridCol>
                <a:gridCol w="7486649">
                  <a:extLst>
                    <a:ext uri="{9D8B030D-6E8A-4147-A177-3AD203B41FA5}">
                      <a16:colId xmlns:a16="http://schemas.microsoft.com/office/drawing/2014/main" val="20001"/>
                    </a:ext>
                  </a:extLst>
                </a:gridCol>
              </a:tblGrid>
              <a:tr h="962531">
                <a:tc>
                  <a:txBody>
                    <a:bodyPr/>
                    <a:lstStyle/>
                    <a:p>
                      <a:pPr algn="ctr" fontAlgn="t"/>
                      <a:r>
                        <a:rPr lang="en-PH" sz="1200" b="1" u="none" strike="noStrike">
                          <a:solidFill>
                            <a:schemeClr val="bg2"/>
                          </a:solidFill>
                          <a:effectLst/>
                          <a:latin typeface="Museo Sans 300"/>
                          <a:ea typeface="Verdana"/>
                          <a:cs typeface="Verdana" panose="020B0604030504040204" pitchFamily="34" charset="0"/>
                        </a:rPr>
                        <a:t>No</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tc>
                  <a:txBody>
                    <a:bodyPr/>
                    <a:lstStyle/>
                    <a:p>
                      <a:pPr algn="ctr" fontAlgn="t"/>
                      <a:r>
                        <a:rPr lang="en-PH" sz="1200" b="1" u="none" strike="noStrike" baseline="0">
                          <a:solidFill>
                            <a:schemeClr val="bg2"/>
                          </a:solidFill>
                          <a:effectLst/>
                          <a:latin typeface="Museo Sans 300"/>
                          <a:ea typeface="Verdana"/>
                          <a:cs typeface="Verdana" panose="020B0604030504040204" pitchFamily="34" charset="0"/>
                        </a:rPr>
                        <a:t>Scope</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extLst>
                  <a:ext uri="{0D108BD9-81ED-4DB2-BD59-A6C34878D82A}">
                    <a16:rowId xmlns:a16="http://schemas.microsoft.com/office/drawing/2014/main" val="10000"/>
                  </a:ext>
                </a:extLst>
              </a:tr>
              <a:tr h="1094130">
                <a:tc>
                  <a:txBody>
                    <a:bodyPr/>
                    <a:lstStyle/>
                    <a:p>
                      <a:pPr algn="ctr" fontAlgn="t"/>
                      <a:r>
                        <a:rPr lang="en-US" sz="1200" u="none" strike="sngStrike" dirty="0">
                          <a:effectLst/>
                          <a:latin typeface="Museo Sans 300"/>
                          <a:ea typeface="Verdana"/>
                          <a:cs typeface="Verdana" panose="020B0604030504040204" pitchFamily="34" charset="0"/>
                        </a:rPr>
                        <a:t>1</a:t>
                      </a:r>
                      <a:endParaRPr lang="en-US" sz="1200" b="0" i="0" u="none" strike="sngStrike" dirty="0">
                        <a:solidFill>
                          <a:schemeClr val="tx1"/>
                        </a:solidFill>
                        <a:effectLst/>
                        <a:latin typeface="Museo Sans 300"/>
                        <a:ea typeface="Verdana"/>
                        <a:cs typeface="Verdana" panose="020B0604030504040204" pitchFamily="34" charset="0"/>
                      </a:endParaRPr>
                    </a:p>
                  </a:txBody>
                  <a:tcPr marL="34290" marR="34290" marT="34290" marB="34290" anchor="ctr"/>
                </a:tc>
                <a:tc>
                  <a:txBody>
                    <a:bodyPr/>
                    <a:lstStyle/>
                    <a:p>
                      <a:pPr marL="0" algn="just" rtl="0" eaLnBrk="1" fontAlgn="t" latinLnBrk="0" hangingPunct="1"/>
                      <a:r>
                        <a:rPr lang="en-US" sz="1200" strike="sngStrike" kern="1200" dirty="0">
                          <a:solidFill>
                            <a:schemeClr val="tx1"/>
                          </a:solidFill>
                          <a:latin typeface="Museo Sans 300"/>
                          <a:ea typeface="Verdana"/>
                          <a:cs typeface="Verdana" panose="020B0604030504040204" pitchFamily="34" charset="0"/>
                        </a:rPr>
                        <a:t>To support BDU’s Joint Agreement Development (JDA 1, 2, 3 and 4) initiatives, ensuring relevant artifacts are prepared based on Digital &amp; ICT Work process requirements with the accountability on BDU Solution Lead.</a:t>
                      </a:r>
                    </a:p>
                  </a:txBody>
                  <a:tcPr marL="34290" marR="34290" marT="34290" marB="34290" anchor="ctr"/>
                </a:tc>
                <a:extLst>
                  <a:ext uri="{0D108BD9-81ED-4DB2-BD59-A6C34878D82A}">
                    <a16:rowId xmlns:a16="http://schemas.microsoft.com/office/drawing/2014/main" val="10001"/>
                  </a:ext>
                </a:extLst>
              </a:tr>
              <a:tr h="1080775">
                <a:tc>
                  <a:txBody>
                    <a:bodyPr/>
                    <a:lstStyle/>
                    <a:p>
                      <a:pPr algn="ctr" fontAlgn="t"/>
                      <a:r>
                        <a:rPr lang="en-US" sz="1200" b="0" i="0" u="none" strike="noStrike">
                          <a:solidFill>
                            <a:schemeClr val="tx1"/>
                          </a:solidFill>
                          <a:effectLst/>
                          <a:latin typeface="Museo Sans 300"/>
                          <a:ea typeface="Verdana"/>
                          <a:cs typeface="Verdana" panose="020B0604030504040204" pitchFamily="34" charset="0"/>
                        </a:rPr>
                        <a:t>2</a:t>
                      </a:r>
                    </a:p>
                  </a:txBody>
                  <a:tcPr marL="34290" marR="34290" marT="34290" marB="34290" anchor="ctr"/>
                </a:tc>
                <a:tc>
                  <a:txBody>
                    <a:bodyPr/>
                    <a:lstStyle/>
                    <a:p>
                      <a:pPr lvl="0" algn="just">
                        <a:lnSpc>
                          <a:spcPct val="100000"/>
                        </a:lnSpc>
                        <a:spcBef>
                          <a:spcPts val="0"/>
                        </a:spcBef>
                        <a:spcAft>
                          <a:spcPts val="0"/>
                        </a:spcAft>
                        <a:buNone/>
                      </a:pPr>
                      <a:r>
                        <a:rPr lang="en-GB" sz="1200" b="0" i="0" u="none" strike="noStrike" kern="1200" noProof="0">
                          <a:solidFill>
                            <a:schemeClr val="tx1"/>
                          </a:solidFill>
                          <a:latin typeface="Museo Sans 300"/>
                        </a:rPr>
                        <a:t>To provide additional support to BDU Solution Leads in 2026/2027 requests Ideation &amp; Business Shaping tasks </a:t>
                      </a:r>
                      <a:r>
                        <a:rPr lang="en-US" sz="1200" kern="1200">
                          <a:solidFill>
                            <a:schemeClr val="tx1"/>
                          </a:solidFill>
                          <a:latin typeface="Museo Sans 300"/>
                          <a:ea typeface="Verdana"/>
                          <a:cs typeface="Verdana" panose="020B0604030504040204" pitchFamily="34" charset="0"/>
                        </a:rPr>
                        <a:t>focusing on Upstream Flagship and Non-Flagship initiatives. </a:t>
                      </a:r>
                      <a:r>
                        <a:rPr lang="en-US" sz="1200" kern="1200">
                          <a:solidFill>
                            <a:schemeClr val="tx1"/>
                          </a:solidFill>
                          <a:latin typeface="Museo Sans 300"/>
                          <a:ea typeface="Verdana"/>
                          <a:cs typeface="+mn-cs"/>
                        </a:rPr>
                        <a:t>(</a:t>
                      </a:r>
                      <a:r>
                        <a:rPr lang="en-US" sz="1200" kern="1200">
                          <a:solidFill>
                            <a:schemeClr val="tx1"/>
                          </a:solidFill>
                          <a:latin typeface="Museo Sans 300"/>
                          <a:ea typeface="Verdana"/>
                          <a:cs typeface="Verdana" panose="020B0604030504040204" pitchFamily="34" charset="0"/>
                        </a:rPr>
                        <a:t>Support &amp; Maintenance, Infra request, Technical Evaluation and Business Excellence requests) with the accountability on BDU Solution Lead.</a:t>
                      </a:r>
                    </a:p>
                  </a:txBody>
                  <a:tcPr marL="34290" marR="34290" marT="34290" marB="34290" anchor="ctr"/>
                </a:tc>
                <a:extLst>
                  <a:ext uri="{0D108BD9-81ED-4DB2-BD59-A6C34878D82A}">
                    <a16:rowId xmlns:a16="http://schemas.microsoft.com/office/drawing/2014/main" val="10002"/>
                  </a:ext>
                </a:extLst>
              </a:tr>
              <a:tr h="1080775">
                <a:tc>
                  <a:txBody>
                    <a:bodyPr/>
                    <a:lstStyle/>
                    <a:p>
                      <a:pPr algn="ctr" fontAlgn="t"/>
                      <a:r>
                        <a:rPr lang="en-US" sz="1200" b="0" i="0" u="none" strike="sngStrike" dirty="0">
                          <a:solidFill>
                            <a:schemeClr val="tx1"/>
                          </a:solidFill>
                          <a:effectLst/>
                          <a:latin typeface="Museo Sans 300"/>
                          <a:ea typeface="Verdana"/>
                          <a:cs typeface="Verdana" panose="020B0604030504040204" pitchFamily="34" charset="0"/>
                        </a:rPr>
                        <a:t>3</a:t>
                      </a:r>
                    </a:p>
                  </a:txBody>
                  <a:tcPr marL="34290" marR="34290" marT="34290" marB="3429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strike="sngStrike" kern="1200" dirty="0">
                          <a:solidFill>
                            <a:schemeClr val="tx1"/>
                          </a:solidFill>
                          <a:latin typeface="Museo Sans 300"/>
                          <a:ea typeface="Verdana"/>
                          <a:cs typeface="Verdana" panose="020B0604030504040204" pitchFamily="34" charset="0"/>
                        </a:rPr>
                        <a:t>To support BDU’s Joint Agreement Development (JDA 1, 2, 3 and 4) initiatives, ensuring PDSB Technical requirements are prepared based on EA </a:t>
                      </a:r>
                      <a:r>
                        <a:rPr lang="en-GB" sz="1200" strike="sngStrike" kern="1200" dirty="0">
                          <a:solidFill>
                            <a:schemeClr val="tx1"/>
                          </a:solidFill>
                          <a:latin typeface="Museo Sans 300"/>
                          <a:ea typeface="Verdana"/>
                          <a:cs typeface="+mn-cs"/>
                        </a:rPr>
                        <a:t>Technical Assessments​</a:t>
                      </a:r>
                      <a:r>
                        <a:rPr lang="en-US" sz="1200" strike="sngStrike" kern="1200" dirty="0">
                          <a:solidFill>
                            <a:schemeClr val="tx1"/>
                          </a:solidFill>
                          <a:latin typeface="Museo Sans 300"/>
                          <a:ea typeface="Verdana"/>
                          <a:cs typeface="+mn-cs"/>
                        </a:rPr>
                        <a:t> in preparation to scale the solutions, to be guided by PDSB Solution Architects.</a:t>
                      </a:r>
                      <a:endParaRPr lang="en-US" sz="1200" strike="sngStrike" kern="1200" dirty="0">
                        <a:solidFill>
                          <a:schemeClr val="tx1"/>
                        </a:solidFill>
                        <a:latin typeface="Museo Sans 300"/>
                        <a:ea typeface="Verdana"/>
                        <a:cs typeface="Verdana" panose="020B0604030504040204" pitchFamily="34" charset="0"/>
                      </a:endParaRPr>
                    </a:p>
                  </a:txBody>
                  <a:tcPr marL="34290" marR="34290" marT="34290" marB="34290" anchor="ctr"/>
                </a:tc>
                <a:extLst>
                  <a:ext uri="{0D108BD9-81ED-4DB2-BD59-A6C34878D82A}">
                    <a16:rowId xmlns:a16="http://schemas.microsoft.com/office/drawing/2014/main" val="105516461"/>
                  </a:ext>
                </a:extLst>
              </a:tr>
            </a:tbl>
          </a:graphicData>
        </a:graphic>
      </p:graphicFrame>
    </p:spTree>
    <p:extLst>
      <p:ext uri="{BB962C8B-B14F-4D97-AF65-F5344CB8AC3E}">
        <p14:creationId xmlns:p14="http://schemas.microsoft.com/office/powerpoint/2010/main" val="3419797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707CCA-8FCD-838E-15FC-F7C84456A3D5}"/>
              </a:ext>
            </a:extLst>
          </p:cNvPr>
          <p:cNvSpPr>
            <a:spLocks noGrp="1"/>
          </p:cNvSpPr>
          <p:nvPr>
            <p:ph type="title"/>
          </p:nvPr>
        </p:nvSpPr>
        <p:spPr/>
        <p:txBody>
          <a:bodyPr/>
          <a:lstStyle/>
          <a:p>
            <a:r>
              <a:rPr lang="en-GB"/>
              <a:t>Upstream 2026 Managed Service Cost</a:t>
            </a:r>
          </a:p>
        </p:txBody>
      </p:sp>
      <p:graphicFrame>
        <p:nvGraphicFramePr>
          <p:cNvPr id="7" name="Table 6">
            <a:extLst>
              <a:ext uri="{FF2B5EF4-FFF2-40B4-BE49-F238E27FC236}">
                <a16:creationId xmlns:a16="http://schemas.microsoft.com/office/drawing/2014/main" id="{1F67C664-AE81-CBA3-DA47-028E27144B9D}"/>
              </a:ext>
            </a:extLst>
          </p:cNvPr>
          <p:cNvGraphicFramePr>
            <a:graphicFrameLocks noGrp="1"/>
          </p:cNvGraphicFramePr>
          <p:nvPr>
            <p:extLst>
              <p:ext uri="{D42A27DB-BD31-4B8C-83A1-F6EECF244321}">
                <p14:modId xmlns:p14="http://schemas.microsoft.com/office/powerpoint/2010/main" val="2546324537"/>
              </p:ext>
            </p:extLst>
          </p:nvPr>
        </p:nvGraphicFramePr>
        <p:xfrm>
          <a:off x="392471" y="786632"/>
          <a:ext cx="8378662" cy="1943100"/>
        </p:xfrm>
        <a:graphic>
          <a:graphicData uri="http://schemas.openxmlformats.org/drawingml/2006/table">
            <a:tbl>
              <a:tblPr firstRow="1" bandRow="1">
                <a:tableStyleId>{5940675A-B579-460E-94D1-54222C63F5DA}</a:tableStyleId>
              </a:tblPr>
              <a:tblGrid>
                <a:gridCol w="3373843">
                  <a:extLst>
                    <a:ext uri="{9D8B030D-6E8A-4147-A177-3AD203B41FA5}">
                      <a16:colId xmlns:a16="http://schemas.microsoft.com/office/drawing/2014/main" val="4080331871"/>
                    </a:ext>
                  </a:extLst>
                </a:gridCol>
                <a:gridCol w="1770603">
                  <a:extLst>
                    <a:ext uri="{9D8B030D-6E8A-4147-A177-3AD203B41FA5}">
                      <a16:colId xmlns:a16="http://schemas.microsoft.com/office/drawing/2014/main" val="2915865299"/>
                    </a:ext>
                  </a:extLst>
                </a:gridCol>
                <a:gridCol w="1770603">
                  <a:extLst>
                    <a:ext uri="{9D8B030D-6E8A-4147-A177-3AD203B41FA5}">
                      <a16:colId xmlns:a16="http://schemas.microsoft.com/office/drawing/2014/main" val="1015239511"/>
                    </a:ext>
                  </a:extLst>
                </a:gridCol>
                <a:gridCol w="1463613">
                  <a:extLst>
                    <a:ext uri="{9D8B030D-6E8A-4147-A177-3AD203B41FA5}">
                      <a16:colId xmlns:a16="http://schemas.microsoft.com/office/drawing/2014/main" val="3737483314"/>
                    </a:ext>
                  </a:extLst>
                </a:gridCol>
              </a:tblGrid>
              <a:tr h="0">
                <a:tc gridSpan="4">
                  <a:txBody>
                    <a:bodyPr/>
                    <a:lstStyle/>
                    <a:p>
                      <a:pPr algn="ctr"/>
                      <a:r>
                        <a:rPr lang="en-GB" sz="1200" b="1" kern="1200" baseline="0">
                          <a:solidFill>
                            <a:schemeClr val="bg1"/>
                          </a:solidFill>
                          <a:latin typeface="Museo Sans 300"/>
                          <a:ea typeface="Verdana"/>
                        </a:rPr>
                        <a:t>Upstream Flagship initiatives cost (34 Demands)</a:t>
                      </a:r>
                      <a:endParaRPr lang="en-GB" sz="1200" b="1" kern="1200" baseline="0">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hMerge="1">
                  <a:txBody>
                    <a:bodyPr/>
                    <a:lstStyle/>
                    <a:p>
                      <a:pPr lvl="0" algn="ctr">
                        <a:buNone/>
                      </a:pP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hMerge="1">
                  <a:txBody>
                    <a:bodyPr/>
                    <a:lstStyle/>
                    <a:p>
                      <a:pPr lvl="0" algn="ctr">
                        <a:buNone/>
                      </a:pP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hMerge="1">
                  <a:txBody>
                    <a:bodyPr/>
                    <a:lstStyle/>
                    <a:p>
                      <a:pPr lvl="0" algn="ctr">
                        <a:buNone/>
                      </a:pPr>
                      <a:endParaRPr lang="en-US"/>
                    </a:p>
                  </a:txBody>
                  <a:tcPr marL="68580" marR="68580" marT="34290" marB="34290" anchor="ctr">
                    <a:solidFill>
                      <a:srgbClr val="00B1A9"/>
                    </a:solidFill>
                  </a:tcPr>
                </a:tc>
                <a:extLst>
                  <a:ext uri="{0D108BD9-81ED-4DB2-BD59-A6C34878D82A}">
                    <a16:rowId xmlns:a16="http://schemas.microsoft.com/office/drawing/2014/main" val="3013730702"/>
                  </a:ext>
                </a:extLst>
              </a:tr>
              <a:tr h="0">
                <a:tc>
                  <a:txBody>
                    <a:bodyPr/>
                    <a:lstStyle/>
                    <a:p>
                      <a:pPr algn="ctr"/>
                      <a:r>
                        <a:rPr lang="en-GB" sz="1200" b="1" baseline="0">
                          <a:solidFill>
                            <a:schemeClr val="bg1"/>
                          </a:solidFill>
                          <a:latin typeface="Museo Sans 300"/>
                          <a:ea typeface="Verdana"/>
                          <a:cs typeface="Verdana" panose="020B0604030504040204" pitchFamily="34" charset="0"/>
                        </a:rPr>
                        <a:t>Tribe</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lvl="0" algn="ctr">
                        <a:buNone/>
                      </a:pPr>
                      <a:r>
                        <a:rPr lang="en-GB" sz="1200" b="1">
                          <a:solidFill>
                            <a:schemeClr val="bg1"/>
                          </a:solidFill>
                          <a:latin typeface="Museo Sans 300"/>
                          <a:ea typeface="Verdana"/>
                          <a:cs typeface="Verdana" panose="020B0604030504040204" pitchFamily="34" charset="0"/>
                        </a:rPr>
                        <a:t>Flagship Count</a:t>
                      </a:r>
                    </a:p>
                  </a:txBody>
                  <a:tcPr marL="68580" marR="68580" marT="34290" marB="34290" anchor="ctr">
                    <a:solidFill>
                      <a:srgbClr val="00B1A9"/>
                    </a:solidFill>
                  </a:tcPr>
                </a:tc>
                <a:tc>
                  <a:txBody>
                    <a:bodyPr/>
                    <a:lstStyle/>
                    <a:p>
                      <a:pPr lvl="0" algn="ctr">
                        <a:buNone/>
                      </a:pPr>
                      <a:r>
                        <a:rPr lang="en-GB" sz="1200" b="1">
                          <a:solidFill>
                            <a:schemeClr val="bg1"/>
                          </a:solidFill>
                          <a:latin typeface="Museo Sans 300"/>
                          <a:ea typeface="Verdana"/>
                          <a:cs typeface="Verdana" panose="020B0604030504040204" pitchFamily="34" charset="0"/>
                        </a:rPr>
                        <a:t>Average FTE/Month</a:t>
                      </a:r>
                    </a:p>
                    <a:p>
                      <a:pPr lvl="0" algn="ctr">
                        <a:buNone/>
                      </a:pPr>
                      <a:r>
                        <a:rPr lang="en-GB" sz="1200" b="1">
                          <a:solidFill>
                            <a:schemeClr val="bg1"/>
                          </a:solidFill>
                          <a:latin typeface="Museo Sans 300"/>
                          <a:ea typeface="Verdana"/>
                          <a:cs typeface="Verdana" panose="020B0604030504040204" pitchFamily="34" charset="0"/>
                        </a:rPr>
                        <a:t>Jul - Dec</a:t>
                      </a:r>
                    </a:p>
                  </a:txBody>
                  <a:tcPr marL="68580" marR="68580" marT="34290" marB="34290" anchor="ctr">
                    <a:solidFill>
                      <a:srgbClr val="00B1A9"/>
                    </a:solidFill>
                  </a:tcPr>
                </a:tc>
                <a:tc>
                  <a:txBody>
                    <a:bodyPr/>
                    <a:lstStyle/>
                    <a:p>
                      <a:pPr lvl="0" algn="ctr">
                        <a:buNone/>
                      </a:pPr>
                      <a:r>
                        <a:rPr lang="en-US" sz="1200" b="1">
                          <a:solidFill>
                            <a:schemeClr val="bg1"/>
                          </a:solidFill>
                          <a:latin typeface="Museo Sans 300"/>
                          <a:ea typeface="Verdana"/>
                        </a:rPr>
                        <a:t>Total (RM)</a:t>
                      </a:r>
                      <a:endParaRPr lang="en-US"/>
                    </a:p>
                  </a:txBody>
                  <a:tcPr marL="68580" marR="68580" marT="34290" marB="34290" anchor="ctr">
                    <a:solidFill>
                      <a:srgbClr val="00B1A9"/>
                    </a:solidFill>
                  </a:tcPr>
                </a:tc>
                <a:extLst>
                  <a:ext uri="{0D108BD9-81ED-4DB2-BD59-A6C34878D82A}">
                    <a16:rowId xmlns:a16="http://schemas.microsoft.com/office/drawing/2014/main" val="162999524"/>
                  </a:ext>
                </a:extLst>
              </a:tr>
              <a:tr h="250173">
                <a:tc>
                  <a:txBody>
                    <a:bodyPr/>
                    <a:lstStyle/>
                    <a:p>
                      <a:pPr lvl="0" algn="ctr">
                        <a:buNone/>
                      </a:pPr>
                      <a:r>
                        <a:rPr lang="en-GB" sz="1100">
                          <a:latin typeface="Museo Sans 300"/>
                          <a:ea typeface="Verdana"/>
                          <a:cs typeface="Verdana" panose="020B0604030504040204" pitchFamily="34" charset="0"/>
                        </a:rPr>
                        <a:t>Decarbonisation &amp; Business Excellence</a:t>
                      </a:r>
                    </a:p>
                  </a:txBody>
                  <a:tcPr marL="68580" marR="68580" marT="34290" marB="34290"/>
                </a:tc>
                <a:tc>
                  <a:txBody>
                    <a:bodyPr/>
                    <a:lstStyle/>
                    <a:p>
                      <a:pPr lvl="0" algn="ctr">
                        <a:buNone/>
                      </a:pPr>
                      <a:r>
                        <a:rPr lang="en-GB" sz="1200" kern="1200">
                          <a:solidFill>
                            <a:schemeClr val="tx1"/>
                          </a:solidFill>
                          <a:latin typeface="Museo Sans 300"/>
                          <a:ea typeface="Verdana"/>
                          <a:cs typeface="+mn-cs"/>
                        </a:rPr>
                        <a:t>12</a:t>
                      </a:r>
                    </a:p>
                  </a:txBody>
                  <a:tcPr marL="68580" marR="68580" marT="34290" marB="34290"/>
                </a:tc>
                <a:tc>
                  <a:txBody>
                    <a:bodyPr/>
                    <a:lstStyle/>
                    <a:p>
                      <a:pPr lvl="0" algn="ctr">
                        <a:buNone/>
                      </a:pPr>
                      <a:r>
                        <a:rPr lang="en-GB" sz="1200" kern="1200">
                          <a:solidFill>
                            <a:schemeClr val="tx1"/>
                          </a:solidFill>
                          <a:latin typeface="Museo Sans 300"/>
                          <a:ea typeface="Verdana"/>
                          <a:cs typeface="+mn-cs"/>
                        </a:rPr>
                        <a:t>1.75</a:t>
                      </a:r>
                    </a:p>
                  </a:txBody>
                  <a:tcPr marL="68580" marR="68580" marT="34290" marB="34290"/>
                </a:tc>
                <a:tc>
                  <a:txBody>
                    <a:bodyPr/>
                    <a:lstStyle/>
                    <a:p>
                      <a:pPr lvl="0" algn="r">
                        <a:buNone/>
                      </a:pPr>
                      <a:r>
                        <a:rPr lang="en-GB" sz="1200" kern="1200">
                          <a:solidFill>
                            <a:schemeClr val="tx1"/>
                          </a:solidFill>
                          <a:latin typeface="Museo Sans 300"/>
                          <a:ea typeface="Verdana"/>
                          <a:cs typeface="+mn-cs"/>
                        </a:rPr>
                        <a:t>292,743</a:t>
                      </a:r>
                    </a:p>
                  </a:txBody>
                  <a:tcPr marL="68580" marR="68580" marT="34290" marB="34290"/>
                </a:tc>
                <a:extLst>
                  <a:ext uri="{0D108BD9-81ED-4DB2-BD59-A6C34878D82A}">
                    <a16:rowId xmlns:a16="http://schemas.microsoft.com/office/drawing/2014/main" val="3041232405"/>
                  </a:ext>
                </a:extLst>
              </a:tr>
              <a:tr h="250173">
                <a:tc>
                  <a:txBody>
                    <a:bodyPr/>
                    <a:lstStyle/>
                    <a:p>
                      <a:pPr lvl="0" algn="ctr">
                        <a:buNone/>
                      </a:pPr>
                      <a:r>
                        <a:rPr lang="en-GB" sz="1100">
                          <a:latin typeface="Museo Sans 300"/>
                          <a:ea typeface="Verdana"/>
                          <a:cs typeface="Verdana" panose="020B0604030504040204" pitchFamily="34" charset="0"/>
                        </a:rPr>
                        <a:t>Production</a:t>
                      </a:r>
                    </a:p>
                  </a:txBody>
                  <a:tcPr marL="68580" marR="68580" marT="34290" marB="34290"/>
                </a:tc>
                <a:tc>
                  <a:txBody>
                    <a:bodyPr/>
                    <a:lstStyle/>
                    <a:p>
                      <a:pPr lvl="0" algn="ctr">
                        <a:buNone/>
                      </a:pPr>
                      <a:r>
                        <a:rPr lang="en-GB" sz="1200" kern="1200">
                          <a:solidFill>
                            <a:schemeClr val="tx1"/>
                          </a:solidFill>
                          <a:latin typeface="Museo Sans 300"/>
                          <a:ea typeface="Verdana"/>
                          <a:cs typeface="+mn-cs"/>
                        </a:rPr>
                        <a:t>8</a:t>
                      </a:r>
                    </a:p>
                  </a:txBody>
                  <a:tcPr marL="68580" marR="68580" marT="34290" marB="34290"/>
                </a:tc>
                <a:tc>
                  <a:txBody>
                    <a:bodyPr/>
                    <a:lstStyle/>
                    <a:p>
                      <a:pPr lvl="0" algn="ctr">
                        <a:buNone/>
                      </a:pPr>
                      <a:r>
                        <a:rPr lang="en-GB" sz="1200" kern="1200">
                          <a:solidFill>
                            <a:schemeClr val="tx1"/>
                          </a:solidFill>
                          <a:latin typeface="Museo Sans 300"/>
                          <a:ea typeface="Verdana"/>
                          <a:cs typeface="+mn-cs"/>
                        </a:rPr>
                        <a:t>1</a:t>
                      </a:r>
                    </a:p>
                  </a:txBody>
                  <a:tcPr marL="68580" marR="68580" marT="34290" marB="34290"/>
                </a:tc>
                <a:tc>
                  <a:txBody>
                    <a:bodyPr/>
                    <a:lstStyle/>
                    <a:p>
                      <a:pPr lvl="0" algn="r">
                        <a:buNone/>
                      </a:pPr>
                      <a:r>
                        <a:rPr lang="en-GB" sz="1200" kern="1200">
                          <a:solidFill>
                            <a:schemeClr val="tx1"/>
                          </a:solidFill>
                          <a:latin typeface="Museo Sans 300"/>
                          <a:ea typeface="Verdana"/>
                          <a:cs typeface="+mn-cs"/>
                        </a:rPr>
                        <a:t>233,377</a:t>
                      </a:r>
                    </a:p>
                  </a:txBody>
                  <a:tcPr marL="68580" marR="68580" marT="34290" marB="34290"/>
                </a:tc>
                <a:extLst>
                  <a:ext uri="{0D108BD9-81ED-4DB2-BD59-A6C34878D82A}">
                    <a16:rowId xmlns:a16="http://schemas.microsoft.com/office/drawing/2014/main" val="348071379"/>
                  </a:ext>
                </a:extLst>
              </a:tr>
              <a:tr h="250173">
                <a:tc>
                  <a:txBody>
                    <a:bodyPr/>
                    <a:lstStyle/>
                    <a:p>
                      <a:pPr lvl="0" algn="ctr">
                        <a:buNone/>
                      </a:pPr>
                      <a:r>
                        <a:rPr lang="en-GB" sz="1100">
                          <a:latin typeface="Museo Sans 300"/>
                          <a:ea typeface="Verdana"/>
                          <a:cs typeface="Verdana" panose="020B0604030504040204" pitchFamily="34" charset="0"/>
                        </a:rPr>
                        <a:t>Exploration</a:t>
                      </a:r>
                    </a:p>
                  </a:txBody>
                  <a:tcPr marL="68580" marR="68580" marT="34290" marB="34290"/>
                </a:tc>
                <a:tc>
                  <a:txBody>
                    <a:bodyPr/>
                    <a:lstStyle/>
                    <a:p>
                      <a:pPr lvl="0" algn="ctr">
                        <a:buNone/>
                      </a:pPr>
                      <a:r>
                        <a:rPr lang="en-US" sz="1200" kern="1200">
                          <a:solidFill>
                            <a:schemeClr val="tx1"/>
                          </a:solidFill>
                          <a:latin typeface="Museo Sans 300"/>
                          <a:ea typeface="Verdana"/>
                          <a:cs typeface="+mn-cs"/>
                        </a:rPr>
                        <a:t>2</a:t>
                      </a:r>
                    </a:p>
                  </a:txBody>
                  <a:tcPr marL="68580" marR="68580" marT="34290" marB="34290"/>
                </a:tc>
                <a:tc>
                  <a:txBody>
                    <a:bodyPr/>
                    <a:lstStyle/>
                    <a:p>
                      <a:pPr lvl="0" algn="ctr">
                        <a:buNone/>
                      </a:pPr>
                      <a:r>
                        <a:rPr lang="en-GB" sz="1200" kern="1200">
                          <a:solidFill>
                            <a:schemeClr val="tx1"/>
                          </a:solidFill>
                          <a:latin typeface="Museo Sans 300"/>
                          <a:ea typeface="Verdana"/>
                          <a:cs typeface="+mn-cs"/>
                        </a:rPr>
                        <a:t>0.5</a:t>
                      </a:r>
                      <a:endParaRPr lang="en-US"/>
                    </a:p>
                  </a:txBody>
                  <a:tcPr marL="68580" marR="68580" marT="34290" marB="34290"/>
                </a:tc>
                <a:tc>
                  <a:txBody>
                    <a:bodyPr/>
                    <a:lstStyle/>
                    <a:p>
                      <a:pPr lvl="0" algn="r">
                        <a:buNone/>
                      </a:pPr>
                      <a:r>
                        <a:rPr lang="en-GB" sz="1200" kern="1200">
                          <a:solidFill>
                            <a:schemeClr val="tx1"/>
                          </a:solidFill>
                          <a:latin typeface="Museo Sans 300"/>
                          <a:ea typeface="Verdana"/>
                          <a:cs typeface="+mn-cs"/>
                        </a:rPr>
                        <a:t>94,347</a:t>
                      </a:r>
                    </a:p>
                  </a:txBody>
                  <a:tcPr marL="68580" marR="68580" marT="34290" marB="34290"/>
                </a:tc>
                <a:extLst>
                  <a:ext uri="{0D108BD9-81ED-4DB2-BD59-A6C34878D82A}">
                    <a16:rowId xmlns:a16="http://schemas.microsoft.com/office/drawing/2014/main" val="1218945788"/>
                  </a:ext>
                </a:extLst>
              </a:tr>
              <a:tr h="250173">
                <a:tc>
                  <a:txBody>
                    <a:bodyPr/>
                    <a:lstStyle/>
                    <a:p>
                      <a:pPr lvl="0" algn="ctr">
                        <a:buNone/>
                      </a:pPr>
                      <a:r>
                        <a:rPr lang="en-GB" sz="1100">
                          <a:latin typeface="Museo Sans 300"/>
                          <a:ea typeface="Verdana"/>
                          <a:cs typeface="Verdana" panose="020B0604030504040204" pitchFamily="34" charset="0"/>
                        </a:rPr>
                        <a:t>Development</a:t>
                      </a:r>
                    </a:p>
                  </a:txBody>
                  <a:tcPr marL="68580" marR="68580" marT="34290" marB="34290"/>
                </a:tc>
                <a:tc>
                  <a:txBody>
                    <a:bodyPr/>
                    <a:lstStyle/>
                    <a:p>
                      <a:pPr lvl="0" algn="ctr">
                        <a:buNone/>
                      </a:pPr>
                      <a:r>
                        <a:rPr lang="en-GB" sz="1200" kern="1200">
                          <a:solidFill>
                            <a:schemeClr val="tx1"/>
                          </a:solidFill>
                          <a:latin typeface="Museo Sans 300"/>
                          <a:ea typeface="Verdana"/>
                          <a:cs typeface="+mn-cs"/>
                        </a:rPr>
                        <a:t>12</a:t>
                      </a:r>
                    </a:p>
                  </a:txBody>
                  <a:tcPr marL="68580" marR="68580" marT="34290" marB="34290"/>
                </a:tc>
                <a:tc>
                  <a:txBody>
                    <a:bodyPr/>
                    <a:lstStyle/>
                    <a:p>
                      <a:pPr lvl="0" algn="ctr">
                        <a:buNone/>
                      </a:pPr>
                      <a:r>
                        <a:rPr lang="en-GB" sz="1200" kern="1200">
                          <a:solidFill>
                            <a:schemeClr val="tx1"/>
                          </a:solidFill>
                          <a:latin typeface="Museo Sans 300"/>
                          <a:ea typeface="Verdana"/>
                          <a:cs typeface="+mn-cs"/>
                        </a:rPr>
                        <a:t>1.75</a:t>
                      </a:r>
                    </a:p>
                  </a:txBody>
                  <a:tcPr marL="68580" marR="68580" marT="34290" marB="34290"/>
                </a:tc>
                <a:tc>
                  <a:txBody>
                    <a:bodyPr/>
                    <a:lstStyle/>
                    <a:p>
                      <a:pPr lvl="0" algn="r">
                        <a:buNone/>
                      </a:pPr>
                      <a:r>
                        <a:rPr lang="en-GB" sz="1200" kern="1200">
                          <a:solidFill>
                            <a:schemeClr val="tx1"/>
                          </a:solidFill>
                          <a:latin typeface="Museo Sans 300"/>
                          <a:ea typeface="Verdana"/>
                          <a:cs typeface="+mn-cs"/>
                        </a:rPr>
                        <a:t>292,743</a:t>
                      </a:r>
                    </a:p>
                  </a:txBody>
                  <a:tcPr marL="68580" marR="68580" marT="34290" marB="34290"/>
                </a:tc>
                <a:extLst>
                  <a:ext uri="{0D108BD9-81ED-4DB2-BD59-A6C34878D82A}">
                    <a16:rowId xmlns:a16="http://schemas.microsoft.com/office/drawing/2014/main" val="180257603"/>
                  </a:ext>
                </a:extLst>
              </a:tr>
              <a:tr h="0">
                <a:tc>
                  <a:txBody>
                    <a:bodyPr/>
                    <a:lstStyle/>
                    <a:p>
                      <a:pPr lvl="0" algn="r">
                        <a:lnSpc>
                          <a:spcPct val="100000"/>
                        </a:lnSpc>
                        <a:spcBef>
                          <a:spcPts val="0"/>
                        </a:spcBef>
                        <a:spcAft>
                          <a:spcPts val="0"/>
                        </a:spcAft>
                        <a:buNone/>
                      </a:pPr>
                      <a:r>
                        <a:rPr lang="en-GB" sz="1100" b="1" i="0" u="none" strike="noStrike" noProof="0">
                          <a:solidFill>
                            <a:srgbClr val="000000"/>
                          </a:solidFill>
                          <a:latin typeface="Museo Sans 300"/>
                        </a:rPr>
                        <a:t>Total</a:t>
                      </a:r>
                      <a:endParaRPr lang="en-GB" sz="1100" b="0" i="0" u="none" strike="noStrike" noProof="0">
                        <a:solidFill>
                          <a:srgbClr val="000000"/>
                        </a:solidFill>
                        <a:latin typeface="Museo Sans 300"/>
                      </a:endParaRPr>
                    </a:p>
                  </a:txBody>
                  <a:tcPr marL="68580" marR="68580" marT="34290" marB="34290">
                    <a:solidFill>
                      <a:schemeClr val="bg2">
                        <a:lumMod val="90000"/>
                      </a:schemeClr>
                    </a:solidFill>
                  </a:tcPr>
                </a:tc>
                <a:tc>
                  <a:txBody>
                    <a:bodyPr/>
                    <a:lstStyle/>
                    <a:p>
                      <a:pPr lvl="0" algn="ctr">
                        <a:buNone/>
                      </a:pPr>
                      <a:r>
                        <a:rPr lang="en-GB" sz="1200" kern="1200">
                          <a:solidFill>
                            <a:schemeClr val="tx1"/>
                          </a:solidFill>
                          <a:latin typeface="Museo Sans 300"/>
                          <a:ea typeface="Verdana"/>
                          <a:cs typeface="+mn-cs"/>
                        </a:rPr>
                        <a:t>34</a:t>
                      </a:r>
                    </a:p>
                  </a:txBody>
                  <a:tcPr marL="68580" marR="68580" marT="34290" marB="34290"/>
                </a:tc>
                <a:tc>
                  <a:txBody>
                    <a:bodyPr/>
                    <a:lstStyle/>
                    <a:p>
                      <a:pPr lvl="0" algn="ctr">
                        <a:buNone/>
                      </a:pPr>
                      <a:r>
                        <a:rPr lang="en-GB" sz="1200" kern="1200">
                          <a:solidFill>
                            <a:schemeClr val="tx1"/>
                          </a:solidFill>
                          <a:latin typeface="Museo Sans 300"/>
                          <a:ea typeface="Verdana"/>
                          <a:cs typeface="+mn-cs"/>
                        </a:rPr>
                        <a:t>5.0</a:t>
                      </a:r>
                    </a:p>
                  </a:txBody>
                  <a:tcPr marL="68580" marR="68580" marT="34290" marB="34290"/>
                </a:tc>
                <a:tc>
                  <a:txBody>
                    <a:bodyPr/>
                    <a:lstStyle/>
                    <a:p>
                      <a:pPr lvl="0" algn="r">
                        <a:lnSpc>
                          <a:spcPct val="100000"/>
                        </a:lnSpc>
                        <a:spcBef>
                          <a:spcPts val="0"/>
                        </a:spcBef>
                        <a:spcAft>
                          <a:spcPts val="0"/>
                        </a:spcAft>
                        <a:buNone/>
                      </a:pPr>
                      <a:r>
                        <a:rPr lang="en-GB" sz="1200" b="0" i="0" u="none" strike="noStrike" kern="1200" noProof="0">
                          <a:solidFill>
                            <a:schemeClr val="tx1"/>
                          </a:solidFill>
                          <a:latin typeface="Museo Sans 300"/>
                        </a:rPr>
                        <a:t>1,082,202</a:t>
                      </a:r>
                    </a:p>
                  </a:txBody>
                  <a:tcPr marL="68580" marR="68580" marT="34290" marB="34290"/>
                </a:tc>
                <a:extLst>
                  <a:ext uri="{0D108BD9-81ED-4DB2-BD59-A6C34878D82A}">
                    <a16:rowId xmlns:a16="http://schemas.microsoft.com/office/drawing/2014/main" val="3750777858"/>
                  </a:ext>
                </a:extLst>
              </a:tr>
            </a:tbl>
          </a:graphicData>
        </a:graphic>
      </p:graphicFrame>
      <p:graphicFrame>
        <p:nvGraphicFramePr>
          <p:cNvPr id="10" name="Table 9">
            <a:extLst>
              <a:ext uri="{FF2B5EF4-FFF2-40B4-BE49-F238E27FC236}">
                <a16:creationId xmlns:a16="http://schemas.microsoft.com/office/drawing/2014/main" id="{FF3B0172-8849-E0C5-C2E8-E530AC2969B8}"/>
              </a:ext>
            </a:extLst>
          </p:cNvPr>
          <p:cNvGraphicFramePr>
            <a:graphicFrameLocks noGrp="1"/>
          </p:cNvGraphicFramePr>
          <p:nvPr>
            <p:extLst>
              <p:ext uri="{D42A27DB-BD31-4B8C-83A1-F6EECF244321}">
                <p14:modId xmlns:p14="http://schemas.microsoft.com/office/powerpoint/2010/main" val="4134631412"/>
              </p:ext>
            </p:extLst>
          </p:nvPr>
        </p:nvGraphicFramePr>
        <p:xfrm>
          <a:off x="400759" y="3537828"/>
          <a:ext cx="8367955" cy="2194560"/>
        </p:xfrm>
        <a:graphic>
          <a:graphicData uri="http://schemas.openxmlformats.org/drawingml/2006/table">
            <a:tbl>
              <a:tblPr firstRow="1" bandRow="1">
                <a:tableStyleId>{5940675A-B579-460E-94D1-54222C63F5DA}</a:tableStyleId>
              </a:tblPr>
              <a:tblGrid>
                <a:gridCol w="5119147">
                  <a:extLst>
                    <a:ext uri="{9D8B030D-6E8A-4147-A177-3AD203B41FA5}">
                      <a16:colId xmlns:a16="http://schemas.microsoft.com/office/drawing/2014/main" val="4080331871"/>
                    </a:ext>
                  </a:extLst>
                </a:gridCol>
                <a:gridCol w="1785769">
                  <a:extLst>
                    <a:ext uri="{9D8B030D-6E8A-4147-A177-3AD203B41FA5}">
                      <a16:colId xmlns:a16="http://schemas.microsoft.com/office/drawing/2014/main" val="1015239511"/>
                    </a:ext>
                  </a:extLst>
                </a:gridCol>
                <a:gridCol w="1463039">
                  <a:extLst>
                    <a:ext uri="{9D8B030D-6E8A-4147-A177-3AD203B41FA5}">
                      <a16:colId xmlns:a16="http://schemas.microsoft.com/office/drawing/2014/main" val="3737483314"/>
                    </a:ext>
                  </a:extLst>
                </a:gridCol>
              </a:tblGrid>
              <a:tr h="0">
                <a:tc gridSpan="3">
                  <a:txBody>
                    <a:bodyPr/>
                    <a:lstStyle/>
                    <a:p>
                      <a:pPr algn="ctr"/>
                      <a:r>
                        <a:rPr lang="en-GB" sz="1200" b="1">
                          <a:solidFill>
                            <a:schemeClr val="bg1"/>
                          </a:solidFill>
                          <a:latin typeface="Museo Sans 300"/>
                          <a:ea typeface="Verdana"/>
                          <a:cs typeface="Verdana" panose="020B0604030504040204" pitchFamily="34" charset="0"/>
                        </a:rPr>
                        <a:t>Upstream Non-Flagship initiative cost (Remaining Demands)</a:t>
                      </a:r>
                    </a:p>
                  </a:txBody>
                  <a:tcPr marL="68580" marR="68580" marT="34290" marB="34290" anchor="ctr">
                    <a:solidFill>
                      <a:srgbClr val="00B1A9"/>
                    </a:solidFill>
                  </a:tcPr>
                </a:tc>
                <a:tc hMerge="1">
                  <a:txBody>
                    <a:bodyPr/>
                    <a:lstStyle/>
                    <a:p>
                      <a:pPr lvl="0" algn="ctr">
                        <a:buNone/>
                      </a:pP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hMerge="1">
                  <a:txBody>
                    <a:bodyPr/>
                    <a:lstStyle/>
                    <a:p>
                      <a:pPr lvl="0" algn="ctr">
                        <a:buNone/>
                      </a:pPr>
                      <a:endParaRPr lang="en-US"/>
                    </a:p>
                  </a:txBody>
                  <a:tcPr marL="68580" marR="68580" marT="34290" marB="34290" anchor="ctr">
                    <a:solidFill>
                      <a:srgbClr val="00B1A9"/>
                    </a:solidFill>
                  </a:tcPr>
                </a:tc>
                <a:extLst>
                  <a:ext uri="{0D108BD9-81ED-4DB2-BD59-A6C34878D82A}">
                    <a16:rowId xmlns:a16="http://schemas.microsoft.com/office/drawing/2014/main" val="2731967943"/>
                  </a:ext>
                </a:extLst>
              </a:tr>
              <a:tr h="0">
                <a:tc>
                  <a:txBody>
                    <a:bodyPr/>
                    <a:lstStyle/>
                    <a:p>
                      <a:pPr algn="ctr"/>
                      <a:r>
                        <a:rPr lang="en-GB" sz="1200" b="1" baseline="0">
                          <a:solidFill>
                            <a:schemeClr val="bg1"/>
                          </a:solidFill>
                          <a:latin typeface="Museo Sans 300"/>
                          <a:ea typeface="Verdana"/>
                          <a:cs typeface="Verdana" panose="020B0604030504040204" pitchFamily="34" charset="0"/>
                        </a:rPr>
                        <a:t>Tribe</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lvl="0" algn="ctr">
                        <a:buNone/>
                      </a:pPr>
                      <a:r>
                        <a:rPr lang="en-GB" sz="1200" b="1">
                          <a:solidFill>
                            <a:schemeClr val="bg1"/>
                          </a:solidFill>
                          <a:latin typeface="Museo Sans 300"/>
                          <a:ea typeface="Verdana"/>
                          <a:cs typeface="Verdana" panose="020B0604030504040204" pitchFamily="34" charset="0"/>
                        </a:rPr>
                        <a:t>Average FTE/Month</a:t>
                      </a:r>
                    </a:p>
                    <a:p>
                      <a:pPr lvl="0" algn="ctr">
                        <a:buNone/>
                      </a:pPr>
                      <a:r>
                        <a:rPr lang="en-GB" sz="1200" b="1">
                          <a:solidFill>
                            <a:schemeClr val="bg1"/>
                          </a:solidFill>
                          <a:latin typeface="Museo Sans 300"/>
                          <a:ea typeface="Verdana"/>
                          <a:cs typeface="Verdana" panose="020B0604030504040204" pitchFamily="34" charset="0"/>
                        </a:rPr>
                        <a:t>Jul - Dec</a:t>
                      </a:r>
                    </a:p>
                  </a:txBody>
                  <a:tcPr marL="68580" marR="68580" marT="34290" marB="34290" anchor="ctr">
                    <a:solidFill>
                      <a:srgbClr val="00B1A9"/>
                    </a:solidFill>
                  </a:tcPr>
                </a:tc>
                <a:tc>
                  <a:txBody>
                    <a:bodyPr/>
                    <a:lstStyle/>
                    <a:p>
                      <a:pPr lvl="0" algn="ctr">
                        <a:buNone/>
                      </a:pPr>
                      <a:r>
                        <a:rPr lang="en-US" sz="1200" b="1">
                          <a:solidFill>
                            <a:schemeClr val="bg1"/>
                          </a:solidFill>
                          <a:latin typeface="Museo Sans 300"/>
                          <a:ea typeface="Verdana"/>
                        </a:rPr>
                        <a:t>Total (RM)</a:t>
                      </a:r>
                      <a:endParaRPr lang="en-US"/>
                    </a:p>
                  </a:txBody>
                  <a:tcPr marL="68580" marR="68580" marT="34290" marB="34290" anchor="ctr">
                    <a:solidFill>
                      <a:srgbClr val="00B1A9"/>
                    </a:solidFill>
                  </a:tcPr>
                </a:tc>
                <a:extLst>
                  <a:ext uri="{0D108BD9-81ED-4DB2-BD59-A6C34878D82A}">
                    <a16:rowId xmlns:a16="http://schemas.microsoft.com/office/drawing/2014/main" val="162999524"/>
                  </a:ext>
                </a:extLst>
              </a:tr>
              <a:tr h="250173">
                <a:tc>
                  <a:txBody>
                    <a:bodyPr/>
                    <a:lstStyle/>
                    <a:p>
                      <a:pPr lvl="0" algn="ctr">
                        <a:buNone/>
                      </a:pPr>
                      <a:r>
                        <a:rPr lang="en-GB" sz="1100">
                          <a:latin typeface="Museo Sans 300"/>
                          <a:ea typeface="Verdana"/>
                          <a:cs typeface="Verdana" panose="020B0604030504040204" pitchFamily="34" charset="0"/>
                        </a:rPr>
                        <a:t>Decarbonisation &amp; Business Excellence</a:t>
                      </a:r>
                    </a:p>
                  </a:txBody>
                  <a:tcPr marL="68580" marR="68580" marT="34290" marB="34290"/>
                </a:tc>
                <a:tc>
                  <a:txBody>
                    <a:bodyPr/>
                    <a:lstStyle/>
                    <a:p>
                      <a:pPr marL="0" lvl="0" algn="ctr" defTabSz="914400" rtl="0" eaLnBrk="1" latinLnBrk="0" hangingPunct="1">
                        <a:buNone/>
                      </a:pPr>
                      <a:r>
                        <a:rPr lang="en-GB" sz="1200" kern="1200">
                          <a:solidFill>
                            <a:schemeClr val="tx1"/>
                          </a:solidFill>
                          <a:latin typeface="Museo Sans 300"/>
                          <a:ea typeface="Verdana"/>
                          <a:cs typeface="+mn-cs"/>
                        </a:rPr>
                        <a:t>3.5</a:t>
                      </a:r>
                    </a:p>
                  </a:txBody>
                  <a:tcPr marL="68580" marR="68580" marT="34290" marB="34290"/>
                </a:tc>
                <a:tc>
                  <a:txBody>
                    <a:bodyPr/>
                    <a:lstStyle/>
                    <a:p>
                      <a:pPr lvl="0" algn="r">
                        <a:buNone/>
                      </a:pPr>
                      <a:r>
                        <a:rPr lang="en-GB" sz="1200" kern="1200">
                          <a:solidFill>
                            <a:schemeClr val="tx1"/>
                          </a:solidFill>
                          <a:latin typeface="Museo Sans 300"/>
                          <a:ea typeface="Verdana"/>
                          <a:cs typeface="+mn-cs"/>
                        </a:rPr>
                        <a:t>585,468</a:t>
                      </a:r>
                    </a:p>
                  </a:txBody>
                  <a:tcPr marL="68580" marR="68580" marT="34290" marB="34290"/>
                </a:tc>
                <a:extLst>
                  <a:ext uri="{0D108BD9-81ED-4DB2-BD59-A6C34878D82A}">
                    <a16:rowId xmlns:a16="http://schemas.microsoft.com/office/drawing/2014/main" val="3041232405"/>
                  </a:ext>
                </a:extLst>
              </a:tr>
              <a:tr h="250173">
                <a:tc>
                  <a:txBody>
                    <a:bodyPr/>
                    <a:lstStyle/>
                    <a:p>
                      <a:pPr lvl="0" algn="ctr">
                        <a:buNone/>
                      </a:pPr>
                      <a:r>
                        <a:rPr lang="en-GB" sz="1100">
                          <a:latin typeface="Museo Sans 300"/>
                          <a:ea typeface="Verdana"/>
                          <a:cs typeface="Verdana" panose="020B0604030504040204" pitchFamily="34" charset="0"/>
                        </a:rPr>
                        <a:t>Production</a:t>
                      </a:r>
                    </a:p>
                  </a:txBody>
                  <a:tcPr marL="68580" marR="68580" marT="34290" marB="34290"/>
                </a:tc>
                <a:tc>
                  <a:txBody>
                    <a:bodyPr/>
                    <a:lstStyle/>
                    <a:p>
                      <a:pPr marL="0" lvl="0" algn="ctr" defTabSz="914400" rtl="0" eaLnBrk="1" latinLnBrk="0" hangingPunct="1">
                        <a:buNone/>
                      </a:pPr>
                      <a:r>
                        <a:rPr lang="en-GB" sz="1200" kern="1200">
                          <a:solidFill>
                            <a:schemeClr val="tx1"/>
                          </a:solidFill>
                          <a:latin typeface="Museo Sans 300"/>
                          <a:ea typeface="Verdana"/>
                          <a:cs typeface="+mn-cs"/>
                        </a:rPr>
                        <a:t>2.5</a:t>
                      </a:r>
                    </a:p>
                  </a:txBody>
                  <a:tcPr marL="68580" marR="68580" marT="34290" marB="34290"/>
                </a:tc>
                <a:tc>
                  <a:txBody>
                    <a:bodyPr/>
                    <a:lstStyle/>
                    <a:p>
                      <a:pPr lvl="0" algn="r">
                        <a:buNone/>
                      </a:pPr>
                      <a:r>
                        <a:rPr lang="en-GB" sz="1200" kern="1200">
                          <a:solidFill>
                            <a:schemeClr val="tx1"/>
                          </a:solidFill>
                          <a:latin typeface="Museo Sans 300"/>
                          <a:ea typeface="Verdana"/>
                          <a:cs typeface="+mn-cs"/>
                        </a:rPr>
                        <a:t>396,792</a:t>
                      </a:r>
                    </a:p>
                  </a:txBody>
                  <a:tcPr marL="68580" marR="68580" marT="34290" marB="34290"/>
                </a:tc>
                <a:extLst>
                  <a:ext uri="{0D108BD9-81ED-4DB2-BD59-A6C34878D82A}">
                    <a16:rowId xmlns:a16="http://schemas.microsoft.com/office/drawing/2014/main" val="348071379"/>
                  </a:ext>
                </a:extLst>
              </a:tr>
              <a:tr h="250173">
                <a:tc>
                  <a:txBody>
                    <a:bodyPr/>
                    <a:lstStyle/>
                    <a:p>
                      <a:pPr lvl="0" algn="ctr">
                        <a:buNone/>
                      </a:pPr>
                      <a:r>
                        <a:rPr lang="en-GB" sz="1100">
                          <a:latin typeface="Museo Sans 300"/>
                          <a:ea typeface="Verdana"/>
                          <a:cs typeface="Verdana" panose="020B0604030504040204" pitchFamily="34" charset="0"/>
                        </a:rPr>
                        <a:t>Exploration</a:t>
                      </a:r>
                    </a:p>
                  </a:txBody>
                  <a:tcPr marL="68580" marR="68580" marT="34290" marB="34290"/>
                </a:tc>
                <a:tc>
                  <a:txBody>
                    <a:bodyPr/>
                    <a:lstStyle/>
                    <a:p>
                      <a:pPr marL="0" lvl="0" algn="ctr" defTabSz="914400" rtl="0" eaLnBrk="1" latinLnBrk="0" hangingPunct="1">
                        <a:buNone/>
                      </a:pPr>
                      <a:r>
                        <a:rPr lang="en-US" sz="1200" kern="1200">
                          <a:solidFill>
                            <a:schemeClr val="tx1"/>
                          </a:solidFill>
                          <a:latin typeface="Museo Sans 300"/>
                          <a:ea typeface="Verdana"/>
                          <a:cs typeface="+mn-cs"/>
                        </a:rPr>
                        <a:t>1.5</a:t>
                      </a:r>
                    </a:p>
                  </a:txBody>
                  <a:tcPr marL="68580" marR="68580" marT="34290" marB="34290"/>
                </a:tc>
                <a:tc>
                  <a:txBody>
                    <a:bodyPr/>
                    <a:lstStyle/>
                    <a:p>
                      <a:pPr lvl="0" algn="r">
                        <a:buNone/>
                      </a:pPr>
                      <a:r>
                        <a:rPr lang="en-GB" sz="1200" kern="1200">
                          <a:solidFill>
                            <a:schemeClr val="tx1"/>
                          </a:solidFill>
                          <a:latin typeface="Museo Sans 300"/>
                          <a:ea typeface="Verdana"/>
                          <a:cs typeface="+mn-cs"/>
                        </a:rPr>
                        <a:t>188,694</a:t>
                      </a:r>
                    </a:p>
                  </a:txBody>
                  <a:tcPr marL="68580" marR="68580" marT="34290" marB="34290"/>
                </a:tc>
                <a:extLst>
                  <a:ext uri="{0D108BD9-81ED-4DB2-BD59-A6C34878D82A}">
                    <a16:rowId xmlns:a16="http://schemas.microsoft.com/office/drawing/2014/main" val="1218945788"/>
                  </a:ext>
                </a:extLst>
              </a:tr>
              <a:tr h="250173">
                <a:tc>
                  <a:txBody>
                    <a:bodyPr/>
                    <a:lstStyle/>
                    <a:p>
                      <a:pPr lvl="0" algn="ctr">
                        <a:buNone/>
                      </a:pPr>
                      <a:r>
                        <a:rPr lang="en-GB" sz="1100">
                          <a:latin typeface="Museo Sans 300"/>
                          <a:ea typeface="Verdana"/>
                          <a:cs typeface="Verdana" panose="020B0604030504040204" pitchFamily="34" charset="0"/>
                        </a:rPr>
                        <a:t>Development</a:t>
                      </a:r>
                    </a:p>
                  </a:txBody>
                  <a:tcPr marL="68580" marR="68580" marT="34290" marB="34290"/>
                </a:tc>
                <a:tc>
                  <a:txBody>
                    <a:bodyPr/>
                    <a:lstStyle/>
                    <a:p>
                      <a:pPr marL="0" lvl="0" algn="ctr" defTabSz="914400" rtl="0" eaLnBrk="1" latinLnBrk="0" hangingPunct="1">
                        <a:buNone/>
                      </a:pPr>
                      <a:r>
                        <a:rPr lang="en-GB" sz="1200" kern="1200">
                          <a:solidFill>
                            <a:schemeClr val="tx1"/>
                          </a:solidFill>
                          <a:latin typeface="Museo Sans 300"/>
                          <a:ea typeface="Verdana"/>
                          <a:cs typeface="+mn-cs"/>
                        </a:rPr>
                        <a:t>1</a:t>
                      </a:r>
                    </a:p>
                  </a:txBody>
                  <a:tcPr marL="68580" marR="68580" marT="34290" marB="34290"/>
                </a:tc>
                <a:tc>
                  <a:txBody>
                    <a:bodyPr/>
                    <a:lstStyle/>
                    <a:p>
                      <a:pPr lvl="0" algn="r">
                        <a:buNone/>
                      </a:pPr>
                      <a:r>
                        <a:rPr lang="en-GB" sz="1200" kern="1200">
                          <a:solidFill>
                            <a:schemeClr val="tx1"/>
                          </a:solidFill>
                          <a:latin typeface="Museo Sans 300"/>
                          <a:ea typeface="Verdana"/>
                          <a:cs typeface="+mn-cs"/>
                        </a:rPr>
                        <a:t>446,754</a:t>
                      </a:r>
                    </a:p>
                  </a:txBody>
                  <a:tcPr marL="68580" marR="68580" marT="34290" marB="34290"/>
                </a:tc>
                <a:extLst>
                  <a:ext uri="{0D108BD9-81ED-4DB2-BD59-A6C34878D82A}">
                    <a16:rowId xmlns:a16="http://schemas.microsoft.com/office/drawing/2014/main" val="180257603"/>
                  </a:ext>
                </a:extLst>
              </a:tr>
              <a:tr h="2501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0" i="0" u="none" strike="noStrike" noProof="0">
                          <a:solidFill>
                            <a:srgbClr val="000000"/>
                          </a:solidFill>
                          <a:latin typeface="Museo Sans 300"/>
                        </a:rPr>
                        <a:t>Solution Architect</a:t>
                      </a:r>
                    </a:p>
                  </a:txBody>
                  <a:tcPr marL="68580" marR="68580" marT="34290" marB="34290">
                    <a:noFill/>
                  </a:tcPr>
                </a:tc>
                <a:tc>
                  <a:txBody>
                    <a:bodyPr/>
                    <a:lstStyle/>
                    <a:p>
                      <a:pPr lvl="0" algn="ctr">
                        <a:buNone/>
                      </a:pPr>
                      <a:r>
                        <a:rPr lang="en-GB" sz="1200" kern="1200">
                          <a:solidFill>
                            <a:schemeClr val="tx1"/>
                          </a:solidFill>
                          <a:latin typeface="Museo Sans 300"/>
                          <a:ea typeface="Verdana"/>
                          <a:cs typeface="+mn-cs"/>
                        </a:rPr>
                        <a:t>1.5</a:t>
                      </a:r>
                    </a:p>
                  </a:txBody>
                  <a:tcPr marL="68580" marR="68580" marT="34290" marB="34290">
                    <a:noFill/>
                  </a:tcPr>
                </a:tc>
                <a:tc>
                  <a:txBody>
                    <a:bodyPr/>
                    <a:lstStyle/>
                    <a:p>
                      <a:pPr lvl="0" algn="r">
                        <a:lnSpc>
                          <a:spcPct val="100000"/>
                        </a:lnSpc>
                        <a:spcBef>
                          <a:spcPts val="0"/>
                        </a:spcBef>
                        <a:spcAft>
                          <a:spcPts val="0"/>
                        </a:spcAft>
                        <a:buNone/>
                      </a:pPr>
                      <a:r>
                        <a:rPr lang="en-GB" sz="1200" b="0" i="0" u="none" strike="noStrike" kern="1200" noProof="0">
                          <a:solidFill>
                            <a:schemeClr val="tx1"/>
                          </a:solidFill>
                          <a:latin typeface="Museo Sans 300"/>
                        </a:rPr>
                        <a:t>178,992</a:t>
                      </a:r>
                    </a:p>
                  </a:txBody>
                  <a:tcPr marL="68580" marR="68580" marT="34290" marB="34290">
                    <a:noFill/>
                  </a:tcPr>
                </a:tc>
                <a:extLst>
                  <a:ext uri="{0D108BD9-81ED-4DB2-BD59-A6C34878D82A}">
                    <a16:rowId xmlns:a16="http://schemas.microsoft.com/office/drawing/2014/main" val="106306614"/>
                  </a:ext>
                </a:extLst>
              </a:tr>
              <a:tr h="250173">
                <a:tc>
                  <a:txBody>
                    <a:bodyPr/>
                    <a:lstStyle/>
                    <a:p>
                      <a:pPr lvl="0" algn="r">
                        <a:lnSpc>
                          <a:spcPct val="100000"/>
                        </a:lnSpc>
                        <a:spcBef>
                          <a:spcPts val="0"/>
                        </a:spcBef>
                        <a:spcAft>
                          <a:spcPts val="0"/>
                        </a:spcAft>
                        <a:buNone/>
                      </a:pPr>
                      <a:r>
                        <a:rPr lang="en-GB" sz="1100" b="1" i="0" u="none" strike="noStrike" noProof="0">
                          <a:solidFill>
                            <a:srgbClr val="000000"/>
                          </a:solidFill>
                          <a:latin typeface="Museo Sans 300"/>
                        </a:rPr>
                        <a:t>Total</a:t>
                      </a:r>
                      <a:endParaRPr lang="en-GB" sz="1100" b="0" i="0" u="none" strike="noStrike" noProof="0">
                        <a:solidFill>
                          <a:srgbClr val="000000"/>
                        </a:solidFill>
                        <a:latin typeface="Museo Sans 300"/>
                      </a:endParaRPr>
                    </a:p>
                  </a:txBody>
                  <a:tcPr marL="68580" marR="68580" marT="34290" marB="34290">
                    <a:solidFill>
                      <a:schemeClr val="bg2">
                        <a:lumMod val="90000"/>
                      </a:schemeClr>
                    </a:solidFill>
                  </a:tcPr>
                </a:tc>
                <a:tc>
                  <a:txBody>
                    <a:bodyPr/>
                    <a:lstStyle/>
                    <a:p>
                      <a:pPr lvl="0" algn="ctr">
                        <a:buNone/>
                      </a:pPr>
                      <a:r>
                        <a:rPr lang="en-GB" sz="1200" kern="1200">
                          <a:solidFill>
                            <a:schemeClr val="tx1"/>
                          </a:solidFill>
                          <a:latin typeface="Museo Sans 300"/>
                          <a:ea typeface="Verdana"/>
                          <a:cs typeface="+mn-cs"/>
                        </a:rPr>
                        <a:t>8.5</a:t>
                      </a:r>
                    </a:p>
                  </a:txBody>
                  <a:tcPr marL="68580" marR="68580" marT="34290" marB="34290"/>
                </a:tc>
                <a:tc>
                  <a:txBody>
                    <a:bodyPr/>
                    <a:lstStyle/>
                    <a:p>
                      <a:pPr lvl="0" algn="r">
                        <a:lnSpc>
                          <a:spcPct val="100000"/>
                        </a:lnSpc>
                        <a:spcBef>
                          <a:spcPts val="0"/>
                        </a:spcBef>
                        <a:spcAft>
                          <a:spcPts val="0"/>
                        </a:spcAft>
                        <a:buNone/>
                      </a:pPr>
                      <a:r>
                        <a:rPr lang="en-GB" sz="1200" b="0" i="0" u="none" strike="noStrike" kern="1200" noProof="0">
                          <a:solidFill>
                            <a:schemeClr val="tx1"/>
                          </a:solidFill>
                          <a:latin typeface="Museo Sans 300"/>
                        </a:rPr>
                        <a:t>1,796,700</a:t>
                      </a:r>
                    </a:p>
                  </a:txBody>
                  <a:tcPr marL="68580" marR="68580" marT="34290" marB="34290"/>
                </a:tc>
                <a:extLst>
                  <a:ext uri="{0D108BD9-81ED-4DB2-BD59-A6C34878D82A}">
                    <a16:rowId xmlns:a16="http://schemas.microsoft.com/office/drawing/2014/main" val="3750777858"/>
                  </a:ext>
                </a:extLst>
              </a:tr>
            </a:tbl>
          </a:graphicData>
        </a:graphic>
      </p:graphicFrame>
      <p:sp>
        <p:nvSpPr>
          <p:cNvPr id="11" name="TextBox 10">
            <a:extLst>
              <a:ext uri="{FF2B5EF4-FFF2-40B4-BE49-F238E27FC236}">
                <a16:creationId xmlns:a16="http://schemas.microsoft.com/office/drawing/2014/main" id="{C6184C8C-B594-6837-D317-14CD9A56F110}"/>
              </a:ext>
            </a:extLst>
          </p:cNvPr>
          <p:cNvSpPr txBox="1"/>
          <p:nvPr/>
        </p:nvSpPr>
        <p:spPr>
          <a:xfrm>
            <a:off x="6564742" y="6416152"/>
            <a:ext cx="2279085" cy="307777"/>
          </a:xfrm>
          <a:prstGeom prst="rect">
            <a:avLst/>
          </a:prstGeom>
          <a:noFill/>
        </p:spPr>
        <p:txBody>
          <a:bodyPr wrap="none" rtlCol="0">
            <a:spAutoFit/>
          </a:bodyPr>
          <a:lstStyle/>
          <a:p>
            <a:r>
              <a:rPr lang="en-GB" sz="1400"/>
              <a:t>Grand Total RM 2,699,928</a:t>
            </a:r>
          </a:p>
        </p:txBody>
      </p:sp>
      <p:sp>
        <p:nvSpPr>
          <p:cNvPr id="12" name="TextBox 11">
            <a:extLst>
              <a:ext uri="{FF2B5EF4-FFF2-40B4-BE49-F238E27FC236}">
                <a16:creationId xmlns:a16="http://schemas.microsoft.com/office/drawing/2014/main" id="{7085EF5F-D868-8213-A99F-87E725EE51A2}"/>
              </a:ext>
            </a:extLst>
          </p:cNvPr>
          <p:cNvSpPr txBox="1"/>
          <p:nvPr/>
        </p:nvSpPr>
        <p:spPr>
          <a:xfrm>
            <a:off x="381114" y="5780442"/>
            <a:ext cx="8524762" cy="646331"/>
          </a:xfrm>
          <a:prstGeom prst="rect">
            <a:avLst/>
          </a:prstGeom>
          <a:noFill/>
        </p:spPr>
        <p:txBody>
          <a:bodyPr wrap="square" rtlCol="0">
            <a:spAutoFit/>
          </a:bodyPr>
          <a:lstStyle/>
          <a:p>
            <a:r>
              <a:rPr lang="en-GB" sz="1200" b="1">
                <a:latin typeface="Museo Sans 300"/>
                <a:ea typeface="Verdana"/>
                <a:cs typeface="Verdana" panose="020B0604030504040204" pitchFamily="34" charset="0"/>
              </a:rPr>
              <a:t>Upstream Non-Flagship initiative cost (Remaining Demands)</a:t>
            </a:r>
          </a:p>
          <a:p>
            <a:pPr marL="285750" indent="-285750">
              <a:buFont typeface="Arial" panose="020B0604020202020204" pitchFamily="34" charset="0"/>
              <a:buChar char="•"/>
            </a:pPr>
            <a:r>
              <a:rPr lang="en-GB" sz="1200"/>
              <a:t>Proposed resources are to completed the tasks as per Digital Work &amp; ICT Process for Non Flagship related SRs, Support Services Request or Infra Requests with Solution Lead in line of sight.</a:t>
            </a:r>
          </a:p>
        </p:txBody>
      </p:sp>
      <p:sp>
        <p:nvSpPr>
          <p:cNvPr id="4" name="TextBox 3">
            <a:extLst>
              <a:ext uri="{FF2B5EF4-FFF2-40B4-BE49-F238E27FC236}">
                <a16:creationId xmlns:a16="http://schemas.microsoft.com/office/drawing/2014/main" id="{118D14CE-0572-52ED-F91A-983325F340A6}"/>
              </a:ext>
            </a:extLst>
          </p:cNvPr>
          <p:cNvSpPr txBox="1"/>
          <p:nvPr/>
        </p:nvSpPr>
        <p:spPr>
          <a:xfrm>
            <a:off x="390524" y="2761773"/>
            <a:ext cx="8372475" cy="461665"/>
          </a:xfrm>
          <a:prstGeom prst="rect">
            <a:avLst/>
          </a:prstGeom>
          <a:noFill/>
        </p:spPr>
        <p:txBody>
          <a:bodyPr wrap="square">
            <a:spAutoFit/>
          </a:bodyPr>
          <a:lstStyle/>
          <a:p>
            <a:r>
              <a:rPr lang="en-GB" sz="1200" b="1">
                <a:latin typeface="Museo Sans 300"/>
                <a:ea typeface="Verdana"/>
              </a:rPr>
              <a:t>Upstream Flagship initiatives cost (34 Demands)</a:t>
            </a:r>
            <a:endParaRPr lang="en-GB" sz="1200" b="1">
              <a:latin typeface="Museo Sans 300"/>
              <a:ea typeface="Verdana"/>
              <a:cs typeface="Verdana" panose="020B0604030504040204" pitchFamily="34" charset="0"/>
            </a:endParaRPr>
          </a:p>
          <a:p>
            <a:pPr marL="285750" indent="-285750">
              <a:buFont typeface="Arial" panose="020B0604020202020204" pitchFamily="34" charset="0"/>
              <a:buChar char="•"/>
            </a:pPr>
            <a:r>
              <a:rPr lang="en-GB" sz="1200"/>
              <a:t>Proposed resources are to provide additional support to assist Solution Leads as per Digital Work &amp; ICT Process </a:t>
            </a:r>
          </a:p>
        </p:txBody>
      </p:sp>
    </p:spTree>
    <p:extLst>
      <p:ext uri="{BB962C8B-B14F-4D97-AF65-F5344CB8AC3E}">
        <p14:creationId xmlns:p14="http://schemas.microsoft.com/office/powerpoint/2010/main" val="3290377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215FE8F-BD3B-98F7-A85E-05BD6FC0E193}"/>
              </a:ext>
            </a:extLst>
          </p:cNvPr>
          <p:cNvSpPr/>
          <p:nvPr/>
        </p:nvSpPr>
        <p:spPr>
          <a:xfrm>
            <a:off x="128024" y="2876564"/>
            <a:ext cx="1100138" cy="464344"/>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a:solidFill>
                  <a:schemeClr val="tx1"/>
                </a:solidFill>
                <a:latin typeface="Aptos" panose="02110004020202020204"/>
              </a:rPr>
              <a:t>Request Tier</a:t>
            </a:r>
          </a:p>
        </p:txBody>
      </p:sp>
      <p:cxnSp>
        <p:nvCxnSpPr>
          <p:cNvPr id="8" name="Connector: Elbow 7">
            <a:extLst>
              <a:ext uri="{FF2B5EF4-FFF2-40B4-BE49-F238E27FC236}">
                <a16:creationId xmlns:a16="http://schemas.microsoft.com/office/drawing/2014/main" id="{C369EE5D-106C-77B8-BAAC-CD3D32D13905}"/>
              </a:ext>
            </a:extLst>
          </p:cNvPr>
          <p:cNvCxnSpPr>
            <a:cxnSpLocks/>
            <a:stCxn id="6" idx="6"/>
            <a:endCxn id="51" idx="0"/>
          </p:cNvCxnSpPr>
          <p:nvPr/>
        </p:nvCxnSpPr>
        <p:spPr>
          <a:xfrm flipV="1">
            <a:off x="1228162" y="2129342"/>
            <a:ext cx="2608508" cy="979394"/>
          </a:xfrm>
          <a:prstGeom prst="bentConnector4">
            <a:avLst>
              <a:gd name="adj1" fmla="val 13119"/>
              <a:gd name="adj2" fmla="val 16905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0448E78-DDCD-4A8C-1BF3-979102B75462}"/>
              </a:ext>
            </a:extLst>
          </p:cNvPr>
          <p:cNvSpPr txBox="1"/>
          <p:nvPr/>
        </p:nvSpPr>
        <p:spPr>
          <a:xfrm>
            <a:off x="1581106" y="1211498"/>
            <a:ext cx="1929809" cy="230832"/>
          </a:xfrm>
          <a:prstGeom prst="rect">
            <a:avLst/>
          </a:prstGeom>
          <a:noFill/>
        </p:spPr>
        <p:txBody>
          <a:bodyPr wrap="square" rtlCol="0">
            <a:spAutoFit/>
          </a:bodyPr>
          <a:lstStyle/>
          <a:p>
            <a:pPr defTabSz="685800"/>
            <a:r>
              <a:rPr lang="en-GB" sz="900">
                <a:solidFill>
                  <a:prstClr val="black"/>
                </a:solidFill>
                <a:latin typeface="Aptos" panose="02110004020202020204"/>
              </a:rPr>
              <a:t>Tier 1, 2, 3 Flagship Demands</a:t>
            </a:r>
          </a:p>
        </p:txBody>
      </p:sp>
      <p:sp>
        <p:nvSpPr>
          <p:cNvPr id="21" name="Rectangle: Rounded Corners 20">
            <a:extLst>
              <a:ext uri="{FF2B5EF4-FFF2-40B4-BE49-F238E27FC236}">
                <a16:creationId xmlns:a16="http://schemas.microsoft.com/office/drawing/2014/main" id="{D24E47AF-B4C3-8C7D-2532-D41BB920A1AA}"/>
              </a:ext>
            </a:extLst>
          </p:cNvPr>
          <p:cNvSpPr/>
          <p:nvPr/>
        </p:nvSpPr>
        <p:spPr>
          <a:xfrm>
            <a:off x="5924723" y="1229119"/>
            <a:ext cx="2504902" cy="6858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schemeClr val="tx1"/>
                </a:solidFill>
                <a:latin typeface="Aptos" panose="02110004020202020204"/>
              </a:rPr>
              <a:t>RACI</a:t>
            </a:r>
          </a:p>
          <a:p>
            <a:pPr algn="ctr" defTabSz="685800"/>
            <a:r>
              <a:rPr lang="en-GB" sz="900">
                <a:solidFill>
                  <a:schemeClr val="tx1"/>
                </a:solidFill>
                <a:latin typeface="Aptos" panose="02110004020202020204"/>
              </a:rPr>
              <a:t>Solution Lead – Accountable</a:t>
            </a:r>
          </a:p>
          <a:p>
            <a:pPr algn="ctr" defTabSz="685800"/>
            <a:r>
              <a:rPr lang="en-GB" sz="900">
                <a:solidFill>
                  <a:schemeClr val="tx1"/>
                </a:solidFill>
                <a:latin typeface="Aptos" panose="02110004020202020204"/>
              </a:rPr>
              <a:t>Business Domain Analyst - Responsible</a:t>
            </a:r>
          </a:p>
          <a:p>
            <a:pPr algn="ctr" defTabSz="685800"/>
            <a:endParaRPr lang="en-GB" sz="900">
              <a:solidFill>
                <a:prstClr val="white"/>
              </a:solidFill>
              <a:latin typeface="Aptos" panose="02110004020202020204"/>
            </a:endParaRPr>
          </a:p>
        </p:txBody>
      </p:sp>
      <p:cxnSp>
        <p:nvCxnSpPr>
          <p:cNvPr id="33" name="Connector: Elbow 32">
            <a:extLst>
              <a:ext uri="{FF2B5EF4-FFF2-40B4-BE49-F238E27FC236}">
                <a16:creationId xmlns:a16="http://schemas.microsoft.com/office/drawing/2014/main" id="{0645436B-76A5-D3AF-0D20-4E925FD4FAD4}"/>
              </a:ext>
            </a:extLst>
          </p:cNvPr>
          <p:cNvCxnSpPr>
            <a:cxnSpLocks/>
            <a:stCxn id="6" idx="6"/>
            <a:endCxn id="51" idx="1"/>
          </p:cNvCxnSpPr>
          <p:nvPr/>
        </p:nvCxnSpPr>
        <p:spPr>
          <a:xfrm>
            <a:off x="1228162" y="3108736"/>
            <a:ext cx="1537898"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8D61BB7F-7C3A-E9C5-8E3F-F44889E47950}"/>
              </a:ext>
            </a:extLst>
          </p:cNvPr>
          <p:cNvSpPr txBox="1"/>
          <p:nvPr/>
        </p:nvSpPr>
        <p:spPr>
          <a:xfrm>
            <a:off x="3523817" y="2679041"/>
            <a:ext cx="662361" cy="230832"/>
          </a:xfrm>
          <a:prstGeom prst="rect">
            <a:avLst/>
          </a:prstGeom>
          <a:noFill/>
        </p:spPr>
        <p:txBody>
          <a:bodyPr wrap="none" rtlCol="0">
            <a:spAutoFit/>
          </a:bodyPr>
          <a:lstStyle/>
          <a:p>
            <a:pPr defTabSz="685800"/>
            <a:r>
              <a:rPr lang="en-GB" sz="900">
                <a:solidFill>
                  <a:prstClr val="black"/>
                </a:solidFill>
                <a:latin typeface="Aptos" panose="02110004020202020204"/>
              </a:rPr>
              <a:t>Tier 2 or 3</a:t>
            </a:r>
          </a:p>
        </p:txBody>
      </p:sp>
      <p:cxnSp>
        <p:nvCxnSpPr>
          <p:cNvPr id="49" name="Connector: Elbow 48">
            <a:extLst>
              <a:ext uri="{FF2B5EF4-FFF2-40B4-BE49-F238E27FC236}">
                <a16:creationId xmlns:a16="http://schemas.microsoft.com/office/drawing/2014/main" id="{077BAD7A-CE4A-E051-B832-15B453AA4D60}"/>
              </a:ext>
            </a:extLst>
          </p:cNvPr>
          <p:cNvCxnSpPr>
            <a:cxnSpLocks/>
            <a:stCxn id="51" idx="3"/>
            <a:endCxn id="53" idx="4"/>
          </p:cNvCxnSpPr>
          <p:nvPr/>
        </p:nvCxnSpPr>
        <p:spPr>
          <a:xfrm flipV="1">
            <a:off x="4907280" y="1910715"/>
            <a:ext cx="521212" cy="119802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EEDFED8-5B36-3094-37A0-83403C2A414B}"/>
              </a:ext>
            </a:extLst>
          </p:cNvPr>
          <p:cNvSpPr txBox="1"/>
          <p:nvPr/>
        </p:nvSpPr>
        <p:spPr>
          <a:xfrm>
            <a:off x="4954799" y="3169520"/>
            <a:ext cx="1747594" cy="369332"/>
          </a:xfrm>
          <a:prstGeom prst="rect">
            <a:avLst/>
          </a:prstGeom>
          <a:noFill/>
        </p:spPr>
        <p:txBody>
          <a:bodyPr wrap="none" rtlCol="0">
            <a:spAutoFit/>
          </a:bodyPr>
          <a:lstStyle/>
          <a:p>
            <a:pPr algn="ctr" defTabSz="685800"/>
            <a:r>
              <a:rPr lang="en-GB" sz="900">
                <a:solidFill>
                  <a:prstClr val="black"/>
                </a:solidFill>
                <a:latin typeface="Aptos" panose="02110004020202020204"/>
              </a:rPr>
              <a:t>Identified as Flagship Demands</a:t>
            </a:r>
          </a:p>
          <a:p>
            <a:pPr algn="ctr" defTabSz="685800"/>
            <a:endParaRPr lang="en-GB" sz="900">
              <a:solidFill>
                <a:prstClr val="black"/>
              </a:solidFill>
              <a:latin typeface="Aptos" panose="02110004020202020204"/>
            </a:endParaRPr>
          </a:p>
        </p:txBody>
      </p:sp>
      <p:sp>
        <p:nvSpPr>
          <p:cNvPr id="51" name="Diamond 50">
            <a:extLst>
              <a:ext uri="{FF2B5EF4-FFF2-40B4-BE49-F238E27FC236}">
                <a16:creationId xmlns:a16="http://schemas.microsoft.com/office/drawing/2014/main" id="{84EC7DF0-28F9-1ABD-E17D-C7366D503CE3}"/>
              </a:ext>
            </a:extLst>
          </p:cNvPr>
          <p:cNvSpPr/>
          <p:nvPr/>
        </p:nvSpPr>
        <p:spPr>
          <a:xfrm>
            <a:off x="2766060" y="2129341"/>
            <a:ext cx="2141220" cy="1958789"/>
          </a:xfrm>
          <a:prstGeom prst="diamond">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prstClr val="white"/>
                </a:solidFill>
                <a:latin typeface="Aptos" panose="02110004020202020204"/>
              </a:rPr>
              <a:t>Request Type</a:t>
            </a:r>
          </a:p>
          <a:p>
            <a:pPr marL="128588" indent="-128588" algn="ctr" defTabSz="685800">
              <a:buFont typeface="Arial" panose="020B0604020202020204" pitchFamily="34" charset="0"/>
              <a:buChar char="•"/>
            </a:pPr>
            <a:r>
              <a:rPr lang="en-GB" sz="900">
                <a:solidFill>
                  <a:prstClr val="white"/>
                </a:solidFill>
                <a:latin typeface="Aptos" panose="02110004020202020204"/>
              </a:rPr>
              <a:t>Exploration</a:t>
            </a:r>
          </a:p>
          <a:p>
            <a:pPr marL="128588" indent="-128588" algn="ctr" defTabSz="685800">
              <a:buFont typeface="Arial" panose="020B0604020202020204" pitchFamily="34" charset="0"/>
              <a:buChar char="•"/>
            </a:pPr>
            <a:r>
              <a:rPr lang="en-GB" sz="900">
                <a:solidFill>
                  <a:prstClr val="white"/>
                </a:solidFill>
                <a:latin typeface="Aptos" panose="02110004020202020204"/>
              </a:rPr>
              <a:t>Development</a:t>
            </a:r>
          </a:p>
          <a:p>
            <a:pPr marL="128588" indent="-128588" algn="ctr" defTabSz="685800">
              <a:buFont typeface="Arial" panose="020B0604020202020204" pitchFamily="34" charset="0"/>
              <a:buChar char="•"/>
            </a:pPr>
            <a:r>
              <a:rPr lang="en-GB" sz="900">
                <a:solidFill>
                  <a:prstClr val="white"/>
                </a:solidFill>
                <a:latin typeface="Aptos" panose="02110004020202020204"/>
              </a:rPr>
              <a:t>Production</a:t>
            </a:r>
          </a:p>
          <a:p>
            <a:pPr marL="128588" indent="-128588" algn="ctr" defTabSz="685800">
              <a:buFont typeface="Arial" panose="020B0604020202020204" pitchFamily="34" charset="0"/>
              <a:buChar char="•"/>
            </a:pPr>
            <a:r>
              <a:rPr lang="en-GB" sz="900">
                <a:solidFill>
                  <a:prstClr val="white"/>
                </a:solidFill>
                <a:latin typeface="Aptos" panose="02110004020202020204"/>
              </a:rPr>
              <a:t>Decarb &amp; Business Excellence</a:t>
            </a:r>
          </a:p>
        </p:txBody>
      </p:sp>
      <p:cxnSp>
        <p:nvCxnSpPr>
          <p:cNvPr id="77" name="Connector: Elbow 76">
            <a:extLst>
              <a:ext uri="{FF2B5EF4-FFF2-40B4-BE49-F238E27FC236}">
                <a16:creationId xmlns:a16="http://schemas.microsoft.com/office/drawing/2014/main" id="{CECDCBD7-6610-9259-401B-4B3DF65894FB}"/>
              </a:ext>
            </a:extLst>
          </p:cNvPr>
          <p:cNvCxnSpPr>
            <a:cxnSpLocks/>
            <a:stCxn id="51" idx="2"/>
            <a:endCxn id="59" idx="0"/>
          </p:cNvCxnSpPr>
          <p:nvPr/>
        </p:nvCxnSpPr>
        <p:spPr>
          <a:xfrm rot="16200000" flipH="1">
            <a:off x="4365501" y="3559299"/>
            <a:ext cx="640840" cy="169850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2D6368E2-7A2A-A31B-B9C2-2F3CDC61693A}"/>
              </a:ext>
            </a:extLst>
          </p:cNvPr>
          <p:cNvCxnSpPr>
            <a:cxnSpLocks/>
            <a:stCxn id="6" idx="6"/>
            <a:endCxn id="59" idx="4"/>
          </p:cNvCxnSpPr>
          <p:nvPr/>
        </p:nvCxnSpPr>
        <p:spPr>
          <a:xfrm>
            <a:off x="1228162" y="3108736"/>
            <a:ext cx="4307010" cy="2282414"/>
          </a:xfrm>
          <a:prstGeom prst="bentConnector4">
            <a:avLst>
              <a:gd name="adj1" fmla="val 7752"/>
              <a:gd name="adj2" fmla="val 10751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or: Elbow 87">
            <a:extLst>
              <a:ext uri="{FF2B5EF4-FFF2-40B4-BE49-F238E27FC236}">
                <a16:creationId xmlns:a16="http://schemas.microsoft.com/office/drawing/2014/main" id="{7C48C990-9349-A6F1-9378-EEE256DBBB25}"/>
              </a:ext>
            </a:extLst>
          </p:cNvPr>
          <p:cNvCxnSpPr>
            <a:cxnSpLocks/>
            <a:stCxn id="6" idx="6"/>
            <a:endCxn id="59" idx="2"/>
          </p:cNvCxnSpPr>
          <p:nvPr/>
        </p:nvCxnSpPr>
        <p:spPr>
          <a:xfrm>
            <a:off x="1228162" y="3108736"/>
            <a:ext cx="3654742" cy="1951325"/>
          </a:xfrm>
          <a:prstGeom prst="bentConnector3">
            <a:avLst>
              <a:gd name="adj1" fmla="val 9135"/>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F93F3CF6-2C39-9123-3F7C-F787F578B60F}"/>
              </a:ext>
            </a:extLst>
          </p:cNvPr>
          <p:cNvSpPr txBox="1"/>
          <p:nvPr/>
        </p:nvSpPr>
        <p:spPr>
          <a:xfrm>
            <a:off x="1615483" y="4783589"/>
            <a:ext cx="2146742" cy="230832"/>
          </a:xfrm>
          <a:prstGeom prst="rect">
            <a:avLst/>
          </a:prstGeom>
          <a:noFill/>
        </p:spPr>
        <p:txBody>
          <a:bodyPr wrap="none" rtlCol="0">
            <a:spAutoFit/>
          </a:bodyPr>
          <a:lstStyle/>
          <a:p>
            <a:pPr defTabSz="685800"/>
            <a:r>
              <a:rPr lang="en-GB" sz="900">
                <a:solidFill>
                  <a:prstClr val="black"/>
                </a:solidFill>
                <a:latin typeface="Aptos" panose="02110004020202020204"/>
              </a:rPr>
              <a:t>Support &amp; Maintenance / Infra Demand </a:t>
            </a:r>
          </a:p>
        </p:txBody>
      </p:sp>
      <p:sp>
        <p:nvSpPr>
          <p:cNvPr id="91" name="TextBox 90">
            <a:extLst>
              <a:ext uri="{FF2B5EF4-FFF2-40B4-BE49-F238E27FC236}">
                <a16:creationId xmlns:a16="http://schemas.microsoft.com/office/drawing/2014/main" id="{D5E5EB8B-C352-342D-BCAA-E8AB5CFD7574}"/>
              </a:ext>
            </a:extLst>
          </p:cNvPr>
          <p:cNvSpPr txBox="1"/>
          <p:nvPr/>
        </p:nvSpPr>
        <p:spPr>
          <a:xfrm>
            <a:off x="1609291" y="5342707"/>
            <a:ext cx="1248209" cy="230832"/>
          </a:xfrm>
          <a:prstGeom prst="rect">
            <a:avLst/>
          </a:prstGeom>
          <a:noFill/>
        </p:spPr>
        <p:txBody>
          <a:bodyPr wrap="square" rtlCol="0">
            <a:spAutoFit/>
          </a:bodyPr>
          <a:lstStyle/>
          <a:p>
            <a:pPr defTabSz="685800"/>
            <a:r>
              <a:rPr lang="en-GB" sz="900">
                <a:solidFill>
                  <a:prstClr val="black"/>
                </a:solidFill>
                <a:latin typeface="Aptos" panose="02110004020202020204"/>
              </a:rPr>
              <a:t>TEV Request</a:t>
            </a:r>
          </a:p>
        </p:txBody>
      </p:sp>
      <p:sp>
        <p:nvSpPr>
          <p:cNvPr id="24" name="TextBox 23">
            <a:extLst>
              <a:ext uri="{FF2B5EF4-FFF2-40B4-BE49-F238E27FC236}">
                <a16:creationId xmlns:a16="http://schemas.microsoft.com/office/drawing/2014/main" id="{21B4B56E-DE1C-2CF8-4874-07583D5C4473}"/>
              </a:ext>
            </a:extLst>
          </p:cNvPr>
          <p:cNvSpPr txBox="1"/>
          <p:nvPr/>
        </p:nvSpPr>
        <p:spPr>
          <a:xfrm>
            <a:off x="1590632" y="2872658"/>
            <a:ext cx="976549" cy="230832"/>
          </a:xfrm>
          <a:prstGeom prst="rect">
            <a:avLst/>
          </a:prstGeom>
          <a:noFill/>
        </p:spPr>
        <p:txBody>
          <a:bodyPr wrap="none" rtlCol="0">
            <a:spAutoFit/>
          </a:bodyPr>
          <a:lstStyle/>
          <a:p>
            <a:pPr defTabSz="685800"/>
            <a:r>
              <a:rPr lang="en-GB" sz="900">
                <a:solidFill>
                  <a:prstClr val="black"/>
                </a:solidFill>
                <a:latin typeface="Aptos" panose="02110004020202020204"/>
              </a:rPr>
              <a:t>Other Demands</a:t>
            </a:r>
          </a:p>
        </p:txBody>
      </p:sp>
      <p:sp>
        <p:nvSpPr>
          <p:cNvPr id="53" name="Oval 52">
            <a:extLst>
              <a:ext uri="{FF2B5EF4-FFF2-40B4-BE49-F238E27FC236}">
                <a16:creationId xmlns:a16="http://schemas.microsoft.com/office/drawing/2014/main" id="{B0FEC476-1AE4-2D41-9512-5198F15E9533}"/>
              </a:ext>
            </a:extLst>
          </p:cNvPr>
          <p:cNvSpPr/>
          <p:nvPr/>
        </p:nvSpPr>
        <p:spPr>
          <a:xfrm>
            <a:off x="4776224" y="1248535"/>
            <a:ext cx="1304536" cy="66218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a:solidFill>
                  <a:prstClr val="white"/>
                </a:solidFill>
                <a:latin typeface="Aptos" panose="02110004020202020204"/>
              </a:rPr>
              <a:t>Ideation &amp; Biz Shaping</a:t>
            </a:r>
          </a:p>
        </p:txBody>
      </p:sp>
      <p:sp>
        <p:nvSpPr>
          <p:cNvPr id="76" name="TextBox 75">
            <a:extLst>
              <a:ext uri="{FF2B5EF4-FFF2-40B4-BE49-F238E27FC236}">
                <a16:creationId xmlns:a16="http://schemas.microsoft.com/office/drawing/2014/main" id="{BA5527A8-D13A-0681-686D-91C51AC4EEF8}"/>
              </a:ext>
            </a:extLst>
          </p:cNvPr>
          <p:cNvSpPr txBox="1"/>
          <p:nvPr/>
        </p:nvSpPr>
        <p:spPr>
          <a:xfrm>
            <a:off x="3857644" y="4142340"/>
            <a:ext cx="1361271" cy="369332"/>
          </a:xfrm>
          <a:prstGeom prst="rect">
            <a:avLst/>
          </a:prstGeom>
          <a:noFill/>
        </p:spPr>
        <p:txBody>
          <a:bodyPr wrap="none" rtlCol="0">
            <a:spAutoFit/>
          </a:bodyPr>
          <a:lstStyle/>
          <a:p>
            <a:pPr algn="ctr" defTabSz="685800"/>
            <a:r>
              <a:rPr lang="en-GB" sz="900">
                <a:solidFill>
                  <a:prstClr val="black"/>
                </a:solidFill>
                <a:latin typeface="Aptos" panose="02110004020202020204"/>
              </a:rPr>
              <a:t>Non-Flagship Demands</a:t>
            </a:r>
          </a:p>
          <a:p>
            <a:pPr algn="ctr" defTabSz="685800"/>
            <a:endParaRPr lang="en-GB" sz="900">
              <a:solidFill>
                <a:prstClr val="black"/>
              </a:solidFill>
              <a:latin typeface="Aptos" panose="02110004020202020204"/>
            </a:endParaRPr>
          </a:p>
        </p:txBody>
      </p:sp>
      <p:pic>
        <p:nvPicPr>
          <p:cNvPr id="118" name="Picture 117">
            <a:hlinkClick r:id="rId3" action="ppaction://hlinksldjump"/>
            <a:extLst>
              <a:ext uri="{FF2B5EF4-FFF2-40B4-BE49-F238E27FC236}">
                <a16:creationId xmlns:a16="http://schemas.microsoft.com/office/drawing/2014/main" id="{C3C8BA7C-979B-C3E7-D9BC-4F9C1193D6E8}"/>
              </a:ext>
            </a:extLst>
          </p:cNvPr>
          <p:cNvPicPr>
            <a:picLocks noChangeAspect="1"/>
          </p:cNvPicPr>
          <p:nvPr/>
        </p:nvPicPr>
        <p:blipFill>
          <a:blip r:embed="rId4"/>
          <a:stretch>
            <a:fillRect/>
          </a:stretch>
        </p:blipFill>
        <p:spPr>
          <a:xfrm>
            <a:off x="6909492" y="1971675"/>
            <a:ext cx="2032579" cy="1532883"/>
          </a:xfrm>
          <a:prstGeom prst="rect">
            <a:avLst/>
          </a:prstGeom>
        </p:spPr>
      </p:pic>
      <p:sp>
        <p:nvSpPr>
          <p:cNvPr id="2" name="Title 2">
            <a:extLst>
              <a:ext uri="{FF2B5EF4-FFF2-40B4-BE49-F238E27FC236}">
                <a16:creationId xmlns:a16="http://schemas.microsoft.com/office/drawing/2014/main" id="{7F9BD050-DC43-07A5-A950-BF2C1303117B}"/>
              </a:ext>
            </a:extLst>
          </p:cNvPr>
          <p:cNvSpPr txBox="1">
            <a:spLocks/>
          </p:cNvSpPr>
          <p:nvPr/>
        </p:nvSpPr>
        <p:spPr>
          <a:xfrm>
            <a:off x="457200" y="381000"/>
            <a:ext cx="8229600" cy="53340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defTabSz="914400">
              <a:lnSpc>
                <a:spcPct val="110000"/>
              </a:lnSpc>
            </a:pPr>
            <a:r>
              <a:rPr lang="en-GB" sz="2400" b="1">
                <a:solidFill>
                  <a:srgbClr val="00B1A9"/>
                </a:solidFill>
                <a:latin typeface="Arial" panose="020B0604020202020204" pitchFamily="34" charset="0"/>
                <a:cs typeface="Arial" panose="020B0604020202020204" pitchFamily="34" charset="0"/>
              </a:rPr>
              <a:t>Ideation &amp; Business Shaping</a:t>
            </a:r>
          </a:p>
        </p:txBody>
      </p:sp>
      <p:sp>
        <p:nvSpPr>
          <p:cNvPr id="7" name="Rectangle: Rounded Corners 6">
            <a:extLst>
              <a:ext uri="{FF2B5EF4-FFF2-40B4-BE49-F238E27FC236}">
                <a16:creationId xmlns:a16="http://schemas.microsoft.com/office/drawing/2014/main" id="{8454D333-8388-980E-A85C-63F2E4008386}"/>
              </a:ext>
            </a:extLst>
          </p:cNvPr>
          <p:cNvSpPr/>
          <p:nvPr/>
        </p:nvSpPr>
        <p:spPr>
          <a:xfrm>
            <a:off x="5943773" y="4705744"/>
            <a:ext cx="2504902" cy="6858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schemeClr val="tx1"/>
                </a:solidFill>
                <a:latin typeface="Aptos" panose="02110004020202020204"/>
              </a:rPr>
              <a:t>RACI</a:t>
            </a:r>
          </a:p>
          <a:p>
            <a:pPr algn="ctr" defTabSz="685800"/>
            <a:r>
              <a:rPr lang="en-GB" sz="900">
                <a:solidFill>
                  <a:schemeClr val="tx1"/>
                </a:solidFill>
                <a:latin typeface="Aptos" panose="02110004020202020204"/>
              </a:rPr>
              <a:t>Solution Lead – Informed/Consult</a:t>
            </a:r>
          </a:p>
          <a:p>
            <a:pPr algn="ctr" defTabSz="685800"/>
            <a:r>
              <a:rPr lang="en-GB" sz="900">
                <a:solidFill>
                  <a:schemeClr val="tx1"/>
                </a:solidFill>
                <a:latin typeface="Aptos" panose="02110004020202020204"/>
              </a:rPr>
              <a:t>Business Domain Analyst – Accountable/Responsible</a:t>
            </a:r>
          </a:p>
          <a:p>
            <a:pPr algn="ctr" defTabSz="685800"/>
            <a:endParaRPr lang="en-GB" sz="900">
              <a:solidFill>
                <a:prstClr val="white"/>
              </a:solidFill>
              <a:latin typeface="Aptos" panose="02110004020202020204"/>
            </a:endParaRPr>
          </a:p>
        </p:txBody>
      </p:sp>
      <p:pic>
        <p:nvPicPr>
          <p:cNvPr id="11" name="Picture 10">
            <a:hlinkClick r:id="rId5" action="ppaction://hlinksldjump"/>
            <a:extLst>
              <a:ext uri="{FF2B5EF4-FFF2-40B4-BE49-F238E27FC236}">
                <a16:creationId xmlns:a16="http://schemas.microsoft.com/office/drawing/2014/main" id="{85768203-9746-AEE1-4CA4-2376A3CDFE81}"/>
              </a:ext>
            </a:extLst>
          </p:cNvPr>
          <p:cNvPicPr>
            <a:picLocks noChangeAspect="1"/>
          </p:cNvPicPr>
          <p:nvPr/>
        </p:nvPicPr>
        <p:blipFill>
          <a:blip r:embed="rId6"/>
          <a:stretch>
            <a:fillRect/>
          </a:stretch>
        </p:blipFill>
        <p:spPr>
          <a:xfrm>
            <a:off x="6753897" y="5416969"/>
            <a:ext cx="2266277" cy="936206"/>
          </a:xfrm>
          <a:prstGeom prst="rect">
            <a:avLst/>
          </a:prstGeom>
        </p:spPr>
      </p:pic>
      <p:sp>
        <p:nvSpPr>
          <p:cNvPr id="59" name="Oval 58">
            <a:extLst>
              <a:ext uri="{FF2B5EF4-FFF2-40B4-BE49-F238E27FC236}">
                <a16:creationId xmlns:a16="http://schemas.microsoft.com/office/drawing/2014/main" id="{9BA51403-AE30-0C6F-9207-8226015E8F35}"/>
              </a:ext>
            </a:extLst>
          </p:cNvPr>
          <p:cNvSpPr/>
          <p:nvPr/>
        </p:nvSpPr>
        <p:spPr>
          <a:xfrm>
            <a:off x="4882904" y="4728970"/>
            <a:ext cx="1304536" cy="66218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a:solidFill>
                  <a:prstClr val="white"/>
                </a:solidFill>
              </a:rPr>
              <a:t>Ideation &amp; Biz Shaping</a:t>
            </a:r>
          </a:p>
        </p:txBody>
      </p:sp>
      <p:sp>
        <p:nvSpPr>
          <p:cNvPr id="3" name="TextBox 2">
            <a:extLst>
              <a:ext uri="{FF2B5EF4-FFF2-40B4-BE49-F238E27FC236}">
                <a16:creationId xmlns:a16="http://schemas.microsoft.com/office/drawing/2014/main" id="{38E78D21-F3C6-0F17-CEB2-BFE11393DBDE}"/>
              </a:ext>
            </a:extLst>
          </p:cNvPr>
          <p:cNvSpPr txBox="1"/>
          <p:nvPr/>
        </p:nvSpPr>
        <p:spPr>
          <a:xfrm>
            <a:off x="5274030" y="6319520"/>
            <a:ext cx="3869970" cy="369332"/>
          </a:xfrm>
          <a:prstGeom prst="rect">
            <a:avLst/>
          </a:prstGeom>
          <a:noFill/>
        </p:spPr>
        <p:txBody>
          <a:bodyPr wrap="none" rtlCol="0">
            <a:spAutoFit/>
          </a:bodyPr>
          <a:lstStyle/>
          <a:p>
            <a:r>
              <a:rPr lang="en-GB"/>
              <a:t>*</a:t>
            </a:r>
            <a:r>
              <a:rPr lang="en-GB" sz="900">
                <a:latin typeface="Aptos" panose="02110004020202020204"/>
              </a:rPr>
              <a:t>Including FY2027 demands approx. 150 SCBs to be produced in Q4 2026</a:t>
            </a:r>
          </a:p>
        </p:txBody>
      </p:sp>
    </p:spTree>
    <p:extLst>
      <p:ext uri="{BB962C8B-B14F-4D97-AF65-F5344CB8AC3E}">
        <p14:creationId xmlns:p14="http://schemas.microsoft.com/office/powerpoint/2010/main" val="1538530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E3976-C9BC-E870-7A74-A190312BB329}"/>
            </a:ext>
          </a:extLst>
        </p:cNvPr>
        <p:cNvGrpSpPr/>
        <p:nvPr/>
      </p:nvGrpSpPr>
      <p:grpSpPr>
        <a:xfrm>
          <a:off x="0" y="0"/>
          <a:ext cx="0" cy="0"/>
          <a:chOff x="0" y="0"/>
          <a:chExt cx="0" cy="0"/>
        </a:xfrm>
      </p:grpSpPr>
      <p:sp>
        <p:nvSpPr>
          <p:cNvPr id="8" name="Title 2">
            <a:extLst>
              <a:ext uri="{FF2B5EF4-FFF2-40B4-BE49-F238E27FC236}">
                <a16:creationId xmlns:a16="http://schemas.microsoft.com/office/drawing/2014/main" id="{9621849F-ED42-73FA-27CB-6D0261B0A51F}"/>
              </a:ext>
            </a:extLst>
          </p:cNvPr>
          <p:cNvSpPr txBox="1">
            <a:spLocks/>
          </p:cNvSpPr>
          <p:nvPr/>
        </p:nvSpPr>
        <p:spPr>
          <a:xfrm>
            <a:off x="457200" y="381000"/>
            <a:ext cx="8229600" cy="53340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defTabSz="914400">
              <a:lnSpc>
                <a:spcPct val="110000"/>
              </a:lnSpc>
            </a:pPr>
            <a:r>
              <a:rPr lang="en-GB" sz="2400" b="1">
                <a:solidFill>
                  <a:srgbClr val="00B1A9"/>
                </a:solidFill>
                <a:latin typeface="Arial" panose="020B0604020202020204" pitchFamily="34" charset="0"/>
                <a:cs typeface="Arial" panose="020B0604020202020204" pitchFamily="34" charset="0"/>
              </a:rPr>
              <a:t>Flagship Demands</a:t>
            </a:r>
          </a:p>
        </p:txBody>
      </p:sp>
      <p:sp>
        <p:nvSpPr>
          <p:cNvPr id="12" name="Isosceles Triangle 11">
            <a:extLst>
              <a:ext uri="{FF2B5EF4-FFF2-40B4-BE49-F238E27FC236}">
                <a16:creationId xmlns:a16="http://schemas.microsoft.com/office/drawing/2014/main" id="{9FCBEFA6-9611-5104-D22D-453871190169}"/>
              </a:ext>
            </a:extLst>
          </p:cNvPr>
          <p:cNvSpPr/>
          <p:nvPr/>
        </p:nvSpPr>
        <p:spPr>
          <a:xfrm>
            <a:off x="6196159" y="2233752"/>
            <a:ext cx="357052" cy="3483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Isosceles Triangle 12">
            <a:extLst>
              <a:ext uri="{FF2B5EF4-FFF2-40B4-BE49-F238E27FC236}">
                <a16:creationId xmlns:a16="http://schemas.microsoft.com/office/drawing/2014/main" id="{6EF287BC-C5E0-87DA-CCE1-9D6024BFE27B}"/>
              </a:ext>
            </a:extLst>
          </p:cNvPr>
          <p:cNvSpPr/>
          <p:nvPr/>
        </p:nvSpPr>
        <p:spPr>
          <a:xfrm>
            <a:off x="7363107" y="2251167"/>
            <a:ext cx="357052" cy="3483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4" name="Table 13">
            <a:extLst>
              <a:ext uri="{FF2B5EF4-FFF2-40B4-BE49-F238E27FC236}">
                <a16:creationId xmlns:a16="http://schemas.microsoft.com/office/drawing/2014/main" id="{4EBC3A36-D471-798B-4B18-869F90EBF42D}"/>
              </a:ext>
            </a:extLst>
          </p:cNvPr>
          <p:cNvGraphicFramePr>
            <a:graphicFrameLocks noGrp="1"/>
          </p:cNvGraphicFramePr>
          <p:nvPr>
            <p:extLst>
              <p:ext uri="{D42A27DB-BD31-4B8C-83A1-F6EECF244321}">
                <p14:modId xmlns:p14="http://schemas.microsoft.com/office/powerpoint/2010/main" val="2145952424"/>
              </p:ext>
            </p:extLst>
          </p:nvPr>
        </p:nvGraphicFramePr>
        <p:xfrm>
          <a:off x="1445627" y="2816499"/>
          <a:ext cx="6165665" cy="2844800"/>
        </p:xfrm>
        <a:graphic>
          <a:graphicData uri="http://schemas.openxmlformats.org/drawingml/2006/table">
            <a:tbl>
              <a:tblPr firstRow="1" bandRow="1">
                <a:tableStyleId>{5C22544A-7EE6-4342-B048-85BDC9FD1C3A}</a:tableStyleId>
              </a:tblPr>
              <a:tblGrid>
                <a:gridCol w="1233133">
                  <a:extLst>
                    <a:ext uri="{9D8B030D-6E8A-4147-A177-3AD203B41FA5}">
                      <a16:colId xmlns:a16="http://schemas.microsoft.com/office/drawing/2014/main" val="786564851"/>
                    </a:ext>
                  </a:extLst>
                </a:gridCol>
                <a:gridCol w="1233133">
                  <a:extLst>
                    <a:ext uri="{9D8B030D-6E8A-4147-A177-3AD203B41FA5}">
                      <a16:colId xmlns:a16="http://schemas.microsoft.com/office/drawing/2014/main" val="3255150017"/>
                    </a:ext>
                  </a:extLst>
                </a:gridCol>
                <a:gridCol w="1233133">
                  <a:extLst>
                    <a:ext uri="{9D8B030D-6E8A-4147-A177-3AD203B41FA5}">
                      <a16:colId xmlns:a16="http://schemas.microsoft.com/office/drawing/2014/main" val="4061535941"/>
                    </a:ext>
                  </a:extLst>
                </a:gridCol>
                <a:gridCol w="1233133">
                  <a:extLst>
                    <a:ext uri="{9D8B030D-6E8A-4147-A177-3AD203B41FA5}">
                      <a16:colId xmlns:a16="http://schemas.microsoft.com/office/drawing/2014/main" val="325439666"/>
                    </a:ext>
                  </a:extLst>
                </a:gridCol>
                <a:gridCol w="1233133">
                  <a:extLst>
                    <a:ext uri="{9D8B030D-6E8A-4147-A177-3AD203B41FA5}">
                      <a16:colId xmlns:a16="http://schemas.microsoft.com/office/drawing/2014/main" val="1580611446"/>
                    </a:ext>
                  </a:extLst>
                </a:gridCol>
              </a:tblGrid>
              <a:tr h="370840">
                <a:tc>
                  <a:txBody>
                    <a:bodyPr/>
                    <a:lstStyle/>
                    <a:p>
                      <a:endParaRPr lang="en-GB" sz="1050"/>
                    </a:p>
                  </a:txBody>
                  <a:tcPr>
                    <a:solidFill>
                      <a:srgbClr val="00B1A9"/>
                    </a:solidFill>
                  </a:tcPr>
                </a:tc>
                <a:tc gridSpan="4">
                  <a:txBody>
                    <a:bodyPr/>
                    <a:lstStyle/>
                    <a:p>
                      <a:pPr algn="ctr"/>
                      <a:r>
                        <a:rPr lang="en-GB" sz="1050"/>
                        <a:t>Stage</a:t>
                      </a:r>
                    </a:p>
                  </a:txBody>
                  <a:tcPr>
                    <a:solidFill>
                      <a:srgbClr val="00B1A9"/>
                    </a:solidFill>
                  </a:tcPr>
                </a:tc>
                <a:tc hMerge="1">
                  <a:txBody>
                    <a:bodyPr/>
                    <a:lstStyle/>
                    <a:p>
                      <a:pPr marL="171450" indent="-171450" algn="l">
                        <a:buFont typeface="Arial" panose="020B0604020202020204" pitchFamily="34" charset="0"/>
                        <a:buChar char="•"/>
                      </a:pPr>
                      <a:endParaRPr lang="en-GB" sz="1050"/>
                    </a:p>
                  </a:txBody>
                  <a:tcPr>
                    <a:solidFill>
                      <a:srgbClr val="00B1A9"/>
                    </a:solidFill>
                  </a:tcPr>
                </a:tc>
                <a:tc hMerge="1">
                  <a:txBody>
                    <a:bodyPr/>
                    <a:lstStyle/>
                    <a:p>
                      <a:pPr algn="ctr"/>
                      <a:endParaRPr lang="en-GB" sz="1050"/>
                    </a:p>
                  </a:txBody>
                  <a:tcPr>
                    <a:solidFill>
                      <a:srgbClr val="00B1A9"/>
                    </a:solidFill>
                  </a:tcPr>
                </a:tc>
                <a:tc hMerge="1">
                  <a:txBody>
                    <a:bodyPr/>
                    <a:lstStyle/>
                    <a:p>
                      <a:pPr algn="ctr"/>
                      <a:endParaRPr lang="en-GB" sz="1050"/>
                    </a:p>
                  </a:txBody>
                  <a:tcPr>
                    <a:solidFill>
                      <a:srgbClr val="00B1A9"/>
                    </a:solidFill>
                  </a:tcPr>
                </a:tc>
                <a:extLst>
                  <a:ext uri="{0D108BD9-81ED-4DB2-BD59-A6C34878D82A}">
                    <a16:rowId xmlns:a16="http://schemas.microsoft.com/office/drawing/2014/main" val="804719440"/>
                  </a:ext>
                </a:extLst>
              </a:tr>
              <a:tr h="370840">
                <a:tc>
                  <a:txBody>
                    <a:bodyPr/>
                    <a:lstStyle/>
                    <a:p>
                      <a:r>
                        <a:rPr lang="en-GB" sz="1050"/>
                        <a:t>Role</a:t>
                      </a:r>
                    </a:p>
                  </a:txBody>
                  <a:tcPr>
                    <a:solidFill>
                      <a:srgbClr val="00B1A9"/>
                    </a:solidFill>
                  </a:tcPr>
                </a:tc>
                <a:tc>
                  <a:txBody>
                    <a:bodyPr/>
                    <a:lstStyle/>
                    <a:p>
                      <a:pPr algn="ctr"/>
                      <a:r>
                        <a:rPr lang="en-GB" sz="1050"/>
                        <a:t>PGR 1 Stakeholder Endorsement</a:t>
                      </a:r>
                    </a:p>
                  </a:txBody>
                  <a:tcPr>
                    <a:solidFill>
                      <a:srgbClr val="00B1A9"/>
                    </a:solidFill>
                  </a:tcPr>
                </a:tc>
                <a:tc>
                  <a:txBody>
                    <a:bodyPr/>
                    <a:lstStyle/>
                    <a:p>
                      <a:pPr marL="171450" indent="-171450" algn="l">
                        <a:buFont typeface="Arial" panose="020B0604020202020204" pitchFamily="34" charset="0"/>
                        <a:buChar char="•"/>
                      </a:pPr>
                      <a:r>
                        <a:rPr lang="en-GB" sz="1050"/>
                        <a:t>Idea intake (Shaping)</a:t>
                      </a:r>
                    </a:p>
                    <a:p>
                      <a:pPr marL="171450" indent="-171450" algn="l">
                        <a:buFont typeface="Arial" panose="020B0604020202020204" pitchFamily="34" charset="0"/>
                        <a:buChar char="•"/>
                      </a:pPr>
                      <a:endParaRPr lang="en-GB" sz="1050"/>
                    </a:p>
                    <a:p>
                      <a:pPr marL="171450" indent="-171450" algn="l">
                        <a:buFont typeface="Arial" panose="020B0604020202020204" pitchFamily="34" charset="0"/>
                        <a:buChar char="•"/>
                      </a:pPr>
                      <a:r>
                        <a:rPr lang="en-GB" sz="1050"/>
                        <a:t>Solution alignment Assessment</a:t>
                      </a:r>
                    </a:p>
                    <a:p>
                      <a:pPr marL="171450" indent="-171450" algn="l">
                        <a:buFont typeface="Arial" panose="020B0604020202020204" pitchFamily="34" charset="0"/>
                        <a:buChar char="•"/>
                      </a:pPr>
                      <a:endParaRPr lang="en-GB" sz="1050"/>
                    </a:p>
                    <a:p>
                      <a:pPr marL="171450" indent="-171450" algn="l">
                        <a:buFont typeface="Arial" panose="020B0604020202020204" pitchFamily="34" charset="0"/>
                        <a:buChar char="•"/>
                      </a:pPr>
                      <a:r>
                        <a:rPr lang="en-GB" sz="1050"/>
                        <a:t>Solution Concept Brief (SCB)</a:t>
                      </a:r>
                    </a:p>
                  </a:txBody>
                  <a:tcPr>
                    <a:solidFill>
                      <a:srgbClr val="00B1A9"/>
                    </a:solidFill>
                  </a:tcPr>
                </a:tc>
                <a:tc>
                  <a:txBody>
                    <a:bodyPr/>
                    <a:lstStyle/>
                    <a:p>
                      <a:pPr algn="ctr"/>
                      <a:r>
                        <a:rPr lang="en-GB" sz="1050"/>
                        <a:t>PGR 2</a:t>
                      </a:r>
                    </a:p>
                    <a:p>
                      <a:pPr algn="ctr"/>
                      <a:r>
                        <a:rPr lang="en-GB" sz="1050"/>
                        <a:t>Cadence + Technical Assessment</a:t>
                      </a:r>
                    </a:p>
                  </a:txBody>
                  <a:tcPr>
                    <a:solidFill>
                      <a:srgbClr val="00B1A9"/>
                    </a:solidFill>
                  </a:tcPr>
                </a:tc>
                <a:tc>
                  <a:txBody>
                    <a:bodyPr/>
                    <a:lstStyle/>
                    <a:p>
                      <a:pPr algn="ctr"/>
                      <a:r>
                        <a:rPr lang="en-GB" sz="1050"/>
                        <a:t>PGR 3</a:t>
                      </a:r>
                    </a:p>
                    <a:p>
                      <a:pPr algn="ctr"/>
                      <a:r>
                        <a:rPr lang="en-GB" sz="1050"/>
                        <a:t>Sanction Memo by AA</a:t>
                      </a:r>
                    </a:p>
                  </a:txBody>
                  <a:tcPr>
                    <a:solidFill>
                      <a:srgbClr val="00B1A9"/>
                    </a:solidFill>
                  </a:tcPr>
                </a:tc>
                <a:extLst>
                  <a:ext uri="{0D108BD9-81ED-4DB2-BD59-A6C34878D82A}">
                    <a16:rowId xmlns:a16="http://schemas.microsoft.com/office/drawing/2014/main" val="4165490116"/>
                  </a:ext>
                </a:extLst>
              </a:tr>
              <a:tr h="370840">
                <a:tc>
                  <a:txBody>
                    <a:bodyPr/>
                    <a:lstStyle/>
                    <a:p>
                      <a:r>
                        <a:rPr lang="en-GB" sz="1050"/>
                        <a:t>Solution Lead</a:t>
                      </a:r>
                    </a:p>
                  </a:txBody>
                  <a:tcPr/>
                </a:tc>
                <a:tc>
                  <a:txBody>
                    <a:bodyPr/>
                    <a:lstStyle/>
                    <a:p>
                      <a:r>
                        <a:rPr lang="en-GB" sz="1050"/>
                        <a:t>Accountable</a:t>
                      </a:r>
                    </a:p>
                  </a:txBody>
                  <a:tcPr/>
                </a:tc>
                <a:tc>
                  <a:txBody>
                    <a:bodyPr/>
                    <a:lstStyle/>
                    <a:p>
                      <a:r>
                        <a:rPr lang="en-GB" sz="1050"/>
                        <a:t>Accountable</a:t>
                      </a:r>
                    </a:p>
                  </a:txBody>
                  <a:tcPr/>
                </a:tc>
                <a:tc>
                  <a:txBody>
                    <a:bodyPr/>
                    <a:lstStyle/>
                    <a:p>
                      <a:r>
                        <a:rPr lang="en-GB" sz="1050"/>
                        <a:t>Accountable</a:t>
                      </a:r>
                    </a:p>
                  </a:txBody>
                  <a:tcPr/>
                </a:tc>
                <a:tc>
                  <a:txBody>
                    <a:bodyPr/>
                    <a:lstStyle/>
                    <a:p>
                      <a:r>
                        <a:rPr lang="en-GB" sz="1050"/>
                        <a:t>Accountable</a:t>
                      </a:r>
                    </a:p>
                  </a:txBody>
                  <a:tcPr/>
                </a:tc>
                <a:extLst>
                  <a:ext uri="{0D108BD9-81ED-4DB2-BD59-A6C34878D82A}">
                    <a16:rowId xmlns:a16="http://schemas.microsoft.com/office/drawing/2014/main" val="1659240550"/>
                  </a:ext>
                </a:extLst>
              </a:tr>
              <a:tr h="370840">
                <a:tc>
                  <a:txBody>
                    <a:bodyPr/>
                    <a:lstStyle/>
                    <a:p>
                      <a:r>
                        <a:rPr lang="en-GB" sz="1050"/>
                        <a:t>Business Domain Analyst</a:t>
                      </a:r>
                    </a:p>
                  </a:txBody>
                  <a:tcPr/>
                </a:tc>
                <a:tc>
                  <a:txBody>
                    <a:bodyPr/>
                    <a:lstStyle/>
                    <a:p>
                      <a:r>
                        <a:rPr lang="en-GB" sz="1050"/>
                        <a:t>Responsible</a:t>
                      </a:r>
                    </a:p>
                  </a:txBody>
                  <a:tcPr/>
                </a:tc>
                <a:tc>
                  <a:txBody>
                    <a:bodyPr/>
                    <a:lstStyle/>
                    <a:p>
                      <a:r>
                        <a:rPr lang="en-GB" sz="1050"/>
                        <a:t>Responsible</a:t>
                      </a:r>
                    </a:p>
                  </a:txBody>
                  <a:tcPr/>
                </a:tc>
                <a:tc>
                  <a:txBody>
                    <a:bodyPr/>
                    <a:lstStyle/>
                    <a:p>
                      <a:r>
                        <a:rPr lang="en-GB" sz="1050"/>
                        <a:t>Responsible</a:t>
                      </a:r>
                    </a:p>
                  </a:txBody>
                  <a:tcPr/>
                </a:tc>
                <a:tc>
                  <a:txBody>
                    <a:bodyPr/>
                    <a:lstStyle/>
                    <a:p>
                      <a:r>
                        <a:rPr lang="en-GB" sz="1050"/>
                        <a:t>Consult</a:t>
                      </a:r>
                    </a:p>
                  </a:txBody>
                  <a:tcPr/>
                </a:tc>
                <a:extLst>
                  <a:ext uri="{0D108BD9-81ED-4DB2-BD59-A6C34878D82A}">
                    <a16:rowId xmlns:a16="http://schemas.microsoft.com/office/drawing/2014/main" val="3002691434"/>
                  </a:ext>
                </a:extLst>
              </a:tr>
            </a:tbl>
          </a:graphicData>
        </a:graphic>
      </p:graphicFrame>
      <p:sp>
        <p:nvSpPr>
          <p:cNvPr id="18" name="TextBox 17">
            <a:extLst>
              <a:ext uri="{FF2B5EF4-FFF2-40B4-BE49-F238E27FC236}">
                <a16:creationId xmlns:a16="http://schemas.microsoft.com/office/drawing/2014/main" id="{B3059298-7891-4287-94DC-2E3E7680DFFA}"/>
              </a:ext>
            </a:extLst>
          </p:cNvPr>
          <p:cNvSpPr txBox="1"/>
          <p:nvPr/>
        </p:nvSpPr>
        <p:spPr>
          <a:xfrm>
            <a:off x="3664952" y="1419772"/>
            <a:ext cx="1912703" cy="261610"/>
          </a:xfrm>
          <a:prstGeom prst="rect">
            <a:avLst/>
          </a:prstGeom>
          <a:noFill/>
        </p:spPr>
        <p:txBody>
          <a:bodyPr wrap="none" rtlCol="0">
            <a:spAutoFit/>
          </a:bodyPr>
          <a:lstStyle/>
          <a:p>
            <a:r>
              <a:rPr lang="en-GB" sz="1100"/>
              <a:t>Ideation &amp; Business Shaping</a:t>
            </a:r>
          </a:p>
        </p:txBody>
      </p:sp>
      <p:sp>
        <p:nvSpPr>
          <p:cNvPr id="20" name="Left Brace 19">
            <a:extLst>
              <a:ext uri="{FF2B5EF4-FFF2-40B4-BE49-F238E27FC236}">
                <a16:creationId xmlns:a16="http://schemas.microsoft.com/office/drawing/2014/main" id="{B4B71697-A228-2077-D872-30B3D7757896}"/>
              </a:ext>
            </a:extLst>
          </p:cNvPr>
          <p:cNvSpPr/>
          <p:nvPr/>
        </p:nvSpPr>
        <p:spPr>
          <a:xfrm rot="5400000">
            <a:off x="6834378" y="1256541"/>
            <a:ext cx="221418" cy="107115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2" name="TextBox 21">
            <a:extLst>
              <a:ext uri="{FF2B5EF4-FFF2-40B4-BE49-F238E27FC236}">
                <a16:creationId xmlns:a16="http://schemas.microsoft.com/office/drawing/2014/main" id="{77B43F20-DBC8-0DF1-FA83-7DEF3E2F0F86}"/>
              </a:ext>
            </a:extLst>
          </p:cNvPr>
          <p:cNvSpPr txBox="1"/>
          <p:nvPr/>
        </p:nvSpPr>
        <p:spPr>
          <a:xfrm>
            <a:off x="6448701" y="1319350"/>
            <a:ext cx="1298753" cy="261610"/>
          </a:xfrm>
          <a:prstGeom prst="rect">
            <a:avLst/>
          </a:prstGeom>
          <a:noFill/>
        </p:spPr>
        <p:txBody>
          <a:bodyPr wrap="none" rtlCol="0">
            <a:spAutoFit/>
          </a:bodyPr>
          <a:lstStyle/>
          <a:p>
            <a:r>
              <a:rPr lang="en-GB" sz="1100"/>
              <a:t>Technical Shaping</a:t>
            </a:r>
          </a:p>
        </p:txBody>
      </p:sp>
      <p:sp>
        <p:nvSpPr>
          <p:cNvPr id="24" name="Isosceles Triangle 23">
            <a:extLst>
              <a:ext uri="{FF2B5EF4-FFF2-40B4-BE49-F238E27FC236}">
                <a16:creationId xmlns:a16="http://schemas.microsoft.com/office/drawing/2014/main" id="{89C2B7F4-5F32-FD2D-C7F0-DAAC7632CAF6}"/>
              </a:ext>
            </a:extLst>
          </p:cNvPr>
          <p:cNvSpPr/>
          <p:nvPr/>
        </p:nvSpPr>
        <p:spPr>
          <a:xfrm>
            <a:off x="2599246" y="2269130"/>
            <a:ext cx="357052" cy="3483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Straight Connector 24">
            <a:extLst>
              <a:ext uri="{FF2B5EF4-FFF2-40B4-BE49-F238E27FC236}">
                <a16:creationId xmlns:a16="http://schemas.microsoft.com/office/drawing/2014/main" id="{B9E90472-493C-6CD5-4E9B-9E96C5609F75}"/>
              </a:ext>
            </a:extLst>
          </p:cNvPr>
          <p:cNvCxnSpPr>
            <a:cxnSpLocks/>
          </p:cNvCxnSpPr>
          <p:nvPr/>
        </p:nvCxnSpPr>
        <p:spPr>
          <a:xfrm>
            <a:off x="2800350" y="2124893"/>
            <a:ext cx="4689026" cy="0"/>
          </a:xfrm>
          <a:prstGeom prst="line">
            <a:avLst/>
          </a:prstGeom>
        </p:spPr>
        <p:style>
          <a:lnRef idx="2">
            <a:schemeClr val="accent1"/>
          </a:lnRef>
          <a:fillRef idx="0">
            <a:schemeClr val="accent1"/>
          </a:fillRef>
          <a:effectRef idx="1">
            <a:schemeClr val="accent1"/>
          </a:effectRef>
          <a:fontRef idx="minor">
            <a:schemeClr val="tx1"/>
          </a:fontRef>
        </p:style>
      </p:cxnSp>
      <p:sp>
        <p:nvSpPr>
          <p:cNvPr id="26" name="Left Brace 25">
            <a:extLst>
              <a:ext uri="{FF2B5EF4-FFF2-40B4-BE49-F238E27FC236}">
                <a16:creationId xmlns:a16="http://schemas.microsoft.com/office/drawing/2014/main" id="{3D64ABF5-484F-EE05-CE5E-E02B3C840B6E}"/>
              </a:ext>
            </a:extLst>
          </p:cNvPr>
          <p:cNvSpPr/>
          <p:nvPr/>
        </p:nvSpPr>
        <p:spPr>
          <a:xfrm rot="5400000">
            <a:off x="4478712" y="35162"/>
            <a:ext cx="181952" cy="353867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7" name="Rectangle: Rounded Corners 26">
            <a:extLst>
              <a:ext uri="{FF2B5EF4-FFF2-40B4-BE49-F238E27FC236}">
                <a16:creationId xmlns:a16="http://schemas.microsoft.com/office/drawing/2014/main" id="{BE978B0B-3495-3AF9-0561-57911974FCCE}"/>
              </a:ext>
            </a:extLst>
          </p:cNvPr>
          <p:cNvSpPr/>
          <p:nvPr/>
        </p:nvSpPr>
        <p:spPr>
          <a:xfrm>
            <a:off x="5248448" y="5848744"/>
            <a:ext cx="2504902" cy="6858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schemeClr val="tx1"/>
                </a:solidFill>
                <a:latin typeface="Aptos" panose="02110004020202020204"/>
              </a:rPr>
              <a:t>RACI</a:t>
            </a:r>
          </a:p>
          <a:p>
            <a:pPr algn="ctr" defTabSz="685800"/>
            <a:r>
              <a:rPr lang="en-GB" sz="900">
                <a:solidFill>
                  <a:schemeClr val="tx1"/>
                </a:solidFill>
                <a:latin typeface="Aptos" panose="02110004020202020204"/>
              </a:rPr>
              <a:t>Solution Lead – Accountable</a:t>
            </a:r>
          </a:p>
          <a:p>
            <a:pPr algn="ctr" defTabSz="685800"/>
            <a:r>
              <a:rPr lang="en-GB" sz="900">
                <a:solidFill>
                  <a:schemeClr val="tx1"/>
                </a:solidFill>
                <a:latin typeface="Aptos" panose="02110004020202020204"/>
              </a:rPr>
              <a:t>Business Domain Analyst - Responsible</a:t>
            </a:r>
          </a:p>
          <a:p>
            <a:pPr algn="ctr" defTabSz="685800"/>
            <a:endParaRPr lang="en-GB" sz="900">
              <a:solidFill>
                <a:prstClr val="white"/>
              </a:solidFill>
              <a:latin typeface="Aptos" panose="02110004020202020204"/>
            </a:endParaRPr>
          </a:p>
        </p:txBody>
      </p:sp>
    </p:spTree>
    <p:extLst>
      <p:ext uri="{BB962C8B-B14F-4D97-AF65-F5344CB8AC3E}">
        <p14:creationId xmlns:p14="http://schemas.microsoft.com/office/powerpoint/2010/main" val="1611326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EFA0C-352A-CC5F-C63D-A3FF96E16A09}"/>
            </a:ext>
          </a:extLst>
        </p:cNvPr>
        <p:cNvGrpSpPr/>
        <p:nvPr/>
      </p:nvGrpSpPr>
      <p:grpSpPr>
        <a:xfrm>
          <a:off x="0" y="0"/>
          <a:ext cx="0" cy="0"/>
          <a:chOff x="0" y="0"/>
          <a:chExt cx="0" cy="0"/>
        </a:xfrm>
      </p:grpSpPr>
      <p:sp>
        <p:nvSpPr>
          <p:cNvPr id="8" name="Title 2">
            <a:extLst>
              <a:ext uri="{FF2B5EF4-FFF2-40B4-BE49-F238E27FC236}">
                <a16:creationId xmlns:a16="http://schemas.microsoft.com/office/drawing/2014/main" id="{AE71F487-81C3-EEA5-3CF3-98A8B0272CC8}"/>
              </a:ext>
            </a:extLst>
          </p:cNvPr>
          <p:cNvSpPr txBox="1">
            <a:spLocks/>
          </p:cNvSpPr>
          <p:nvPr/>
        </p:nvSpPr>
        <p:spPr>
          <a:xfrm>
            <a:off x="457200" y="381000"/>
            <a:ext cx="8229600" cy="53340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defTabSz="914400">
              <a:lnSpc>
                <a:spcPct val="110000"/>
              </a:lnSpc>
            </a:pPr>
            <a:r>
              <a:rPr lang="en-GB" sz="2400" b="1">
                <a:solidFill>
                  <a:srgbClr val="00B1A9"/>
                </a:solidFill>
                <a:latin typeface="Arial" panose="020B0604020202020204" pitchFamily="34" charset="0"/>
                <a:cs typeface="Arial" panose="020B0604020202020204" pitchFamily="34" charset="0"/>
              </a:rPr>
              <a:t>Non-Flagship Demands</a:t>
            </a:r>
          </a:p>
        </p:txBody>
      </p:sp>
      <p:cxnSp>
        <p:nvCxnSpPr>
          <p:cNvPr id="3" name="Straight Connector 2">
            <a:extLst>
              <a:ext uri="{FF2B5EF4-FFF2-40B4-BE49-F238E27FC236}">
                <a16:creationId xmlns:a16="http://schemas.microsoft.com/office/drawing/2014/main" id="{DC33D933-A9D5-F923-F65B-355EE636B9C6}"/>
              </a:ext>
            </a:extLst>
          </p:cNvPr>
          <p:cNvCxnSpPr>
            <a:cxnSpLocks/>
          </p:cNvCxnSpPr>
          <p:nvPr/>
        </p:nvCxnSpPr>
        <p:spPr>
          <a:xfrm>
            <a:off x="2800350" y="2124893"/>
            <a:ext cx="4689026"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Isosceles Triangle 3">
            <a:extLst>
              <a:ext uri="{FF2B5EF4-FFF2-40B4-BE49-F238E27FC236}">
                <a16:creationId xmlns:a16="http://schemas.microsoft.com/office/drawing/2014/main" id="{EC6C6A78-CF86-2EF1-51AA-FA9920C1ACB6}"/>
              </a:ext>
            </a:extLst>
          </p:cNvPr>
          <p:cNvSpPr/>
          <p:nvPr/>
        </p:nvSpPr>
        <p:spPr>
          <a:xfrm>
            <a:off x="2599246" y="2269130"/>
            <a:ext cx="357052" cy="3483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Isosceles Triangle 11">
            <a:extLst>
              <a:ext uri="{FF2B5EF4-FFF2-40B4-BE49-F238E27FC236}">
                <a16:creationId xmlns:a16="http://schemas.microsoft.com/office/drawing/2014/main" id="{0BA2ADD6-188E-5D4D-4187-6C9578EFCFAC}"/>
              </a:ext>
            </a:extLst>
          </p:cNvPr>
          <p:cNvSpPr/>
          <p:nvPr/>
        </p:nvSpPr>
        <p:spPr>
          <a:xfrm>
            <a:off x="6196159" y="2233752"/>
            <a:ext cx="357052" cy="3483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Isosceles Triangle 12">
            <a:extLst>
              <a:ext uri="{FF2B5EF4-FFF2-40B4-BE49-F238E27FC236}">
                <a16:creationId xmlns:a16="http://schemas.microsoft.com/office/drawing/2014/main" id="{B1B6C09F-9182-A343-6FA4-65C597060B3A}"/>
              </a:ext>
            </a:extLst>
          </p:cNvPr>
          <p:cNvSpPr/>
          <p:nvPr/>
        </p:nvSpPr>
        <p:spPr>
          <a:xfrm>
            <a:off x="7363107" y="2251167"/>
            <a:ext cx="357052" cy="3483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4" name="Table 13">
            <a:extLst>
              <a:ext uri="{FF2B5EF4-FFF2-40B4-BE49-F238E27FC236}">
                <a16:creationId xmlns:a16="http://schemas.microsoft.com/office/drawing/2014/main" id="{03B38682-1E49-97B5-4541-4756C4CB8320}"/>
              </a:ext>
            </a:extLst>
          </p:cNvPr>
          <p:cNvGraphicFramePr>
            <a:graphicFrameLocks noGrp="1"/>
          </p:cNvGraphicFramePr>
          <p:nvPr>
            <p:extLst>
              <p:ext uri="{D42A27DB-BD31-4B8C-83A1-F6EECF244321}">
                <p14:modId xmlns:p14="http://schemas.microsoft.com/office/powerpoint/2010/main" val="986646583"/>
              </p:ext>
            </p:extLst>
          </p:nvPr>
        </p:nvGraphicFramePr>
        <p:xfrm>
          <a:off x="1445627" y="2816499"/>
          <a:ext cx="6165665" cy="2844800"/>
        </p:xfrm>
        <a:graphic>
          <a:graphicData uri="http://schemas.openxmlformats.org/drawingml/2006/table">
            <a:tbl>
              <a:tblPr firstRow="1" bandRow="1">
                <a:tableStyleId>{5C22544A-7EE6-4342-B048-85BDC9FD1C3A}</a:tableStyleId>
              </a:tblPr>
              <a:tblGrid>
                <a:gridCol w="1233133">
                  <a:extLst>
                    <a:ext uri="{9D8B030D-6E8A-4147-A177-3AD203B41FA5}">
                      <a16:colId xmlns:a16="http://schemas.microsoft.com/office/drawing/2014/main" val="786564851"/>
                    </a:ext>
                  </a:extLst>
                </a:gridCol>
                <a:gridCol w="1233133">
                  <a:extLst>
                    <a:ext uri="{9D8B030D-6E8A-4147-A177-3AD203B41FA5}">
                      <a16:colId xmlns:a16="http://schemas.microsoft.com/office/drawing/2014/main" val="3255150017"/>
                    </a:ext>
                  </a:extLst>
                </a:gridCol>
                <a:gridCol w="1233133">
                  <a:extLst>
                    <a:ext uri="{9D8B030D-6E8A-4147-A177-3AD203B41FA5}">
                      <a16:colId xmlns:a16="http://schemas.microsoft.com/office/drawing/2014/main" val="4061535941"/>
                    </a:ext>
                  </a:extLst>
                </a:gridCol>
                <a:gridCol w="1233133">
                  <a:extLst>
                    <a:ext uri="{9D8B030D-6E8A-4147-A177-3AD203B41FA5}">
                      <a16:colId xmlns:a16="http://schemas.microsoft.com/office/drawing/2014/main" val="325439666"/>
                    </a:ext>
                  </a:extLst>
                </a:gridCol>
                <a:gridCol w="1233133">
                  <a:extLst>
                    <a:ext uri="{9D8B030D-6E8A-4147-A177-3AD203B41FA5}">
                      <a16:colId xmlns:a16="http://schemas.microsoft.com/office/drawing/2014/main" val="1580611446"/>
                    </a:ext>
                  </a:extLst>
                </a:gridCol>
              </a:tblGrid>
              <a:tr h="370840">
                <a:tc>
                  <a:txBody>
                    <a:bodyPr/>
                    <a:lstStyle/>
                    <a:p>
                      <a:endParaRPr lang="en-GB" sz="1050"/>
                    </a:p>
                  </a:txBody>
                  <a:tcPr>
                    <a:solidFill>
                      <a:srgbClr val="00B1A9"/>
                    </a:solidFill>
                  </a:tcPr>
                </a:tc>
                <a:tc gridSpan="4">
                  <a:txBody>
                    <a:bodyPr/>
                    <a:lstStyle/>
                    <a:p>
                      <a:pPr algn="ctr"/>
                      <a:r>
                        <a:rPr lang="en-GB" sz="1050"/>
                        <a:t>Stage</a:t>
                      </a:r>
                    </a:p>
                  </a:txBody>
                  <a:tcPr>
                    <a:solidFill>
                      <a:srgbClr val="00B1A9"/>
                    </a:solidFill>
                  </a:tcPr>
                </a:tc>
                <a:tc hMerge="1">
                  <a:txBody>
                    <a:bodyPr/>
                    <a:lstStyle/>
                    <a:p>
                      <a:pPr marL="171450" indent="-171450" algn="l">
                        <a:buFont typeface="Arial" panose="020B0604020202020204" pitchFamily="34" charset="0"/>
                        <a:buChar char="•"/>
                      </a:pPr>
                      <a:endParaRPr lang="en-GB" sz="1050"/>
                    </a:p>
                  </a:txBody>
                  <a:tcPr>
                    <a:solidFill>
                      <a:srgbClr val="00B1A9"/>
                    </a:solidFill>
                  </a:tcPr>
                </a:tc>
                <a:tc hMerge="1">
                  <a:txBody>
                    <a:bodyPr/>
                    <a:lstStyle/>
                    <a:p>
                      <a:pPr algn="ctr"/>
                      <a:endParaRPr lang="en-GB" sz="1050"/>
                    </a:p>
                  </a:txBody>
                  <a:tcPr>
                    <a:solidFill>
                      <a:srgbClr val="00B1A9"/>
                    </a:solidFill>
                  </a:tcPr>
                </a:tc>
                <a:tc hMerge="1">
                  <a:txBody>
                    <a:bodyPr/>
                    <a:lstStyle/>
                    <a:p>
                      <a:pPr algn="ctr"/>
                      <a:endParaRPr lang="en-GB" sz="1050"/>
                    </a:p>
                  </a:txBody>
                  <a:tcPr>
                    <a:solidFill>
                      <a:srgbClr val="00B1A9"/>
                    </a:solidFill>
                  </a:tcPr>
                </a:tc>
                <a:extLst>
                  <a:ext uri="{0D108BD9-81ED-4DB2-BD59-A6C34878D82A}">
                    <a16:rowId xmlns:a16="http://schemas.microsoft.com/office/drawing/2014/main" val="1461269328"/>
                  </a:ext>
                </a:extLst>
              </a:tr>
              <a:tr h="370840">
                <a:tc>
                  <a:txBody>
                    <a:bodyPr/>
                    <a:lstStyle/>
                    <a:p>
                      <a:r>
                        <a:rPr lang="en-GB" sz="1050"/>
                        <a:t>Role</a:t>
                      </a:r>
                    </a:p>
                  </a:txBody>
                  <a:tcPr>
                    <a:solidFill>
                      <a:srgbClr val="00B1A9"/>
                    </a:solidFill>
                  </a:tcPr>
                </a:tc>
                <a:tc>
                  <a:txBody>
                    <a:bodyPr/>
                    <a:lstStyle/>
                    <a:p>
                      <a:pPr algn="ctr"/>
                      <a:r>
                        <a:rPr lang="en-GB" sz="1050"/>
                        <a:t>PGR 1 Stakeholder Endorsement</a:t>
                      </a:r>
                    </a:p>
                  </a:txBody>
                  <a:tcPr>
                    <a:solidFill>
                      <a:srgbClr val="00B1A9"/>
                    </a:solidFill>
                  </a:tcPr>
                </a:tc>
                <a:tc>
                  <a:txBody>
                    <a:bodyPr/>
                    <a:lstStyle/>
                    <a:p>
                      <a:pPr marL="171450" indent="-171450" algn="l">
                        <a:buFont typeface="Arial" panose="020B0604020202020204" pitchFamily="34" charset="0"/>
                        <a:buChar char="•"/>
                      </a:pPr>
                      <a:r>
                        <a:rPr lang="en-GB" sz="1050"/>
                        <a:t>Idea intake (Shaping)</a:t>
                      </a:r>
                    </a:p>
                    <a:p>
                      <a:pPr marL="171450" indent="-171450" algn="l">
                        <a:buFont typeface="Arial" panose="020B0604020202020204" pitchFamily="34" charset="0"/>
                        <a:buChar char="•"/>
                      </a:pPr>
                      <a:endParaRPr lang="en-GB" sz="1050"/>
                    </a:p>
                    <a:p>
                      <a:pPr marL="171450" indent="-171450" algn="l">
                        <a:buFont typeface="Arial" panose="020B0604020202020204" pitchFamily="34" charset="0"/>
                        <a:buChar char="•"/>
                      </a:pPr>
                      <a:r>
                        <a:rPr lang="en-GB" sz="1050"/>
                        <a:t>Solution alignment Assessment</a:t>
                      </a:r>
                    </a:p>
                    <a:p>
                      <a:pPr marL="171450" indent="-171450" algn="l">
                        <a:buFont typeface="Arial" panose="020B0604020202020204" pitchFamily="34" charset="0"/>
                        <a:buChar char="•"/>
                      </a:pPr>
                      <a:endParaRPr lang="en-GB" sz="1050"/>
                    </a:p>
                    <a:p>
                      <a:pPr marL="171450" indent="-171450" algn="l">
                        <a:buFont typeface="Arial" panose="020B0604020202020204" pitchFamily="34" charset="0"/>
                        <a:buChar char="•"/>
                      </a:pPr>
                      <a:r>
                        <a:rPr lang="en-GB" sz="1050"/>
                        <a:t>Solution Concept Brief (SCB)</a:t>
                      </a:r>
                    </a:p>
                  </a:txBody>
                  <a:tcPr>
                    <a:solidFill>
                      <a:srgbClr val="00B1A9"/>
                    </a:solidFill>
                  </a:tcPr>
                </a:tc>
                <a:tc>
                  <a:txBody>
                    <a:bodyPr/>
                    <a:lstStyle/>
                    <a:p>
                      <a:pPr algn="ctr"/>
                      <a:r>
                        <a:rPr lang="en-GB" sz="1050"/>
                        <a:t>PGR 2</a:t>
                      </a:r>
                    </a:p>
                    <a:p>
                      <a:pPr algn="ctr"/>
                      <a:r>
                        <a:rPr lang="en-GB" sz="1050"/>
                        <a:t>Cadence + Technical Assessment</a:t>
                      </a:r>
                    </a:p>
                  </a:txBody>
                  <a:tcPr>
                    <a:solidFill>
                      <a:srgbClr val="00B1A9"/>
                    </a:solidFill>
                  </a:tcPr>
                </a:tc>
                <a:tc>
                  <a:txBody>
                    <a:bodyPr/>
                    <a:lstStyle/>
                    <a:p>
                      <a:pPr algn="ctr"/>
                      <a:r>
                        <a:rPr lang="en-GB" sz="1050"/>
                        <a:t>PGR 3</a:t>
                      </a:r>
                    </a:p>
                    <a:p>
                      <a:pPr algn="ctr"/>
                      <a:r>
                        <a:rPr lang="en-GB" sz="1050"/>
                        <a:t>Sanction Memo by AA</a:t>
                      </a:r>
                    </a:p>
                  </a:txBody>
                  <a:tcPr>
                    <a:solidFill>
                      <a:srgbClr val="00B1A9"/>
                    </a:solidFill>
                  </a:tcPr>
                </a:tc>
                <a:extLst>
                  <a:ext uri="{0D108BD9-81ED-4DB2-BD59-A6C34878D82A}">
                    <a16:rowId xmlns:a16="http://schemas.microsoft.com/office/drawing/2014/main" val="4165490116"/>
                  </a:ext>
                </a:extLst>
              </a:tr>
              <a:tr h="370840">
                <a:tc>
                  <a:txBody>
                    <a:bodyPr/>
                    <a:lstStyle/>
                    <a:p>
                      <a:r>
                        <a:rPr lang="en-GB" sz="1050"/>
                        <a:t>Solution Lead</a:t>
                      </a:r>
                    </a:p>
                  </a:txBody>
                  <a:tcPr/>
                </a:tc>
                <a:tc>
                  <a:txBody>
                    <a:bodyPr/>
                    <a:lstStyle/>
                    <a:p>
                      <a:r>
                        <a:rPr lang="en-GB" sz="1050"/>
                        <a:t>Informed/Consult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Aptos" panose="02110004020202020204"/>
                          <a:ea typeface="+mn-ea"/>
                          <a:cs typeface="+mn-cs"/>
                        </a:rPr>
                        <a:t>Informed/Consult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Aptos" panose="02110004020202020204"/>
                          <a:ea typeface="+mn-ea"/>
                          <a:cs typeface="+mn-cs"/>
                        </a:rPr>
                        <a:t>Informed/Consult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Aptos" panose="02110004020202020204"/>
                          <a:ea typeface="+mn-ea"/>
                          <a:cs typeface="+mn-cs"/>
                        </a:rPr>
                        <a:t>Informed/Consult</a:t>
                      </a:r>
                    </a:p>
                  </a:txBody>
                  <a:tcPr/>
                </a:tc>
                <a:extLst>
                  <a:ext uri="{0D108BD9-81ED-4DB2-BD59-A6C34878D82A}">
                    <a16:rowId xmlns:a16="http://schemas.microsoft.com/office/drawing/2014/main" val="1659240550"/>
                  </a:ext>
                </a:extLst>
              </a:tr>
              <a:tr h="370840">
                <a:tc>
                  <a:txBody>
                    <a:bodyPr/>
                    <a:lstStyle/>
                    <a:p>
                      <a:r>
                        <a:rPr lang="en-GB" sz="1050"/>
                        <a:t>Business Domain Analyst</a:t>
                      </a:r>
                    </a:p>
                  </a:txBody>
                  <a:tcPr/>
                </a:tc>
                <a:tc>
                  <a:txBody>
                    <a:bodyPr/>
                    <a:lstStyle/>
                    <a:p>
                      <a:r>
                        <a:rPr lang="en-GB" sz="1050"/>
                        <a:t>Accountable</a:t>
                      </a:r>
                    </a:p>
                  </a:txBody>
                  <a:tcPr/>
                </a:tc>
                <a:tc>
                  <a:txBody>
                    <a:bodyPr/>
                    <a:lstStyle/>
                    <a:p>
                      <a:r>
                        <a:rPr lang="en-GB" sz="1050"/>
                        <a:t>Accountable</a:t>
                      </a:r>
                    </a:p>
                  </a:txBody>
                  <a:tcPr/>
                </a:tc>
                <a:tc>
                  <a:txBody>
                    <a:bodyPr/>
                    <a:lstStyle/>
                    <a:p>
                      <a:r>
                        <a:rPr lang="en-GB" sz="1050"/>
                        <a:t>Accountable</a:t>
                      </a:r>
                    </a:p>
                  </a:txBody>
                  <a:tcPr/>
                </a:tc>
                <a:tc>
                  <a:txBody>
                    <a:bodyPr/>
                    <a:lstStyle/>
                    <a:p>
                      <a:r>
                        <a:rPr lang="en-GB" sz="1050"/>
                        <a:t>Accountable</a:t>
                      </a:r>
                    </a:p>
                  </a:txBody>
                  <a:tcPr/>
                </a:tc>
                <a:extLst>
                  <a:ext uri="{0D108BD9-81ED-4DB2-BD59-A6C34878D82A}">
                    <a16:rowId xmlns:a16="http://schemas.microsoft.com/office/drawing/2014/main" val="3002691434"/>
                  </a:ext>
                </a:extLst>
              </a:tr>
            </a:tbl>
          </a:graphicData>
        </a:graphic>
      </p:graphicFrame>
      <p:sp>
        <p:nvSpPr>
          <p:cNvPr id="17" name="Left Brace 16">
            <a:extLst>
              <a:ext uri="{FF2B5EF4-FFF2-40B4-BE49-F238E27FC236}">
                <a16:creationId xmlns:a16="http://schemas.microsoft.com/office/drawing/2014/main" id="{F135B13A-E3F3-8A1F-CEB5-29438EE0BB96}"/>
              </a:ext>
            </a:extLst>
          </p:cNvPr>
          <p:cNvSpPr/>
          <p:nvPr/>
        </p:nvSpPr>
        <p:spPr>
          <a:xfrm rot="5400000">
            <a:off x="4488237" y="35162"/>
            <a:ext cx="181952" cy="353867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TextBox 17">
            <a:extLst>
              <a:ext uri="{FF2B5EF4-FFF2-40B4-BE49-F238E27FC236}">
                <a16:creationId xmlns:a16="http://schemas.microsoft.com/office/drawing/2014/main" id="{D7C96AF2-9E50-A35F-294E-79B3549F8272}"/>
              </a:ext>
            </a:extLst>
          </p:cNvPr>
          <p:cNvSpPr txBox="1"/>
          <p:nvPr/>
        </p:nvSpPr>
        <p:spPr>
          <a:xfrm>
            <a:off x="3664952" y="1419772"/>
            <a:ext cx="1912703" cy="261610"/>
          </a:xfrm>
          <a:prstGeom prst="rect">
            <a:avLst/>
          </a:prstGeom>
          <a:noFill/>
        </p:spPr>
        <p:txBody>
          <a:bodyPr wrap="none" rtlCol="0">
            <a:spAutoFit/>
          </a:bodyPr>
          <a:lstStyle/>
          <a:p>
            <a:r>
              <a:rPr lang="en-GB" sz="1100"/>
              <a:t>Ideation &amp; Business Shaping</a:t>
            </a:r>
          </a:p>
        </p:txBody>
      </p:sp>
      <p:sp>
        <p:nvSpPr>
          <p:cNvPr id="20" name="Left Brace 19">
            <a:extLst>
              <a:ext uri="{FF2B5EF4-FFF2-40B4-BE49-F238E27FC236}">
                <a16:creationId xmlns:a16="http://schemas.microsoft.com/office/drawing/2014/main" id="{5A565A8F-8348-AF85-4CD5-95D07B6B32B0}"/>
              </a:ext>
            </a:extLst>
          </p:cNvPr>
          <p:cNvSpPr/>
          <p:nvPr/>
        </p:nvSpPr>
        <p:spPr>
          <a:xfrm rot="5400000">
            <a:off x="6834378" y="1256541"/>
            <a:ext cx="221418" cy="107115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2" name="TextBox 21">
            <a:extLst>
              <a:ext uri="{FF2B5EF4-FFF2-40B4-BE49-F238E27FC236}">
                <a16:creationId xmlns:a16="http://schemas.microsoft.com/office/drawing/2014/main" id="{55B79B58-2AAD-0E38-77AA-AF48258EFE45}"/>
              </a:ext>
            </a:extLst>
          </p:cNvPr>
          <p:cNvSpPr txBox="1"/>
          <p:nvPr/>
        </p:nvSpPr>
        <p:spPr>
          <a:xfrm>
            <a:off x="6448701" y="1319350"/>
            <a:ext cx="1298753" cy="261610"/>
          </a:xfrm>
          <a:prstGeom prst="rect">
            <a:avLst/>
          </a:prstGeom>
          <a:noFill/>
        </p:spPr>
        <p:txBody>
          <a:bodyPr wrap="none" rtlCol="0">
            <a:spAutoFit/>
          </a:bodyPr>
          <a:lstStyle/>
          <a:p>
            <a:r>
              <a:rPr lang="en-GB" sz="1100"/>
              <a:t>Technical Shaping</a:t>
            </a:r>
          </a:p>
        </p:txBody>
      </p:sp>
      <p:sp>
        <p:nvSpPr>
          <p:cNvPr id="5" name="TextBox 4">
            <a:extLst>
              <a:ext uri="{FF2B5EF4-FFF2-40B4-BE49-F238E27FC236}">
                <a16:creationId xmlns:a16="http://schemas.microsoft.com/office/drawing/2014/main" id="{20D32DEC-8B2A-F889-1137-CA35058EB604}"/>
              </a:ext>
            </a:extLst>
          </p:cNvPr>
          <p:cNvSpPr txBox="1"/>
          <p:nvPr/>
        </p:nvSpPr>
        <p:spPr>
          <a:xfrm>
            <a:off x="5248275" y="5657850"/>
            <a:ext cx="2393604" cy="253916"/>
          </a:xfrm>
          <a:prstGeom prst="rect">
            <a:avLst/>
          </a:prstGeom>
          <a:noFill/>
        </p:spPr>
        <p:txBody>
          <a:bodyPr wrap="none" rtlCol="0">
            <a:spAutoFit/>
          </a:bodyPr>
          <a:lstStyle/>
          <a:p>
            <a:r>
              <a:rPr lang="en-GB" sz="1050">
                <a:solidFill>
                  <a:schemeClr val="dk1"/>
                </a:solidFill>
              </a:rPr>
              <a:t>*With line of sight from Solution Leads</a:t>
            </a:r>
          </a:p>
        </p:txBody>
      </p:sp>
      <p:sp>
        <p:nvSpPr>
          <p:cNvPr id="6" name="Rectangle: Rounded Corners 5">
            <a:extLst>
              <a:ext uri="{FF2B5EF4-FFF2-40B4-BE49-F238E27FC236}">
                <a16:creationId xmlns:a16="http://schemas.microsoft.com/office/drawing/2014/main" id="{FDD470DB-EC10-17B5-4ED0-B88E995141A9}"/>
              </a:ext>
            </a:extLst>
          </p:cNvPr>
          <p:cNvSpPr/>
          <p:nvPr/>
        </p:nvSpPr>
        <p:spPr>
          <a:xfrm>
            <a:off x="5296073" y="5924944"/>
            <a:ext cx="2504902" cy="6858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schemeClr val="tx1"/>
                </a:solidFill>
                <a:latin typeface="Aptos" panose="02110004020202020204"/>
              </a:rPr>
              <a:t>RACI</a:t>
            </a:r>
          </a:p>
          <a:p>
            <a:pPr algn="ctr" defTabSz="685800"/>
            <a:r>
              <a:rPr lang="en-GB" sz="900">
                <a:solidFill>
                  <a:schemeClr val="tx1"/>
                </a:solidFill>
                <a:latin typeface="Aptos" panose="02110004020202020204"/>
              </a:rPr>
              <a:t>Solution Lead – Informed/Consult</a:t>
            </a:r>
          </a:p>
          <a:p>
            <a:pPr algn="ctr" defTabSz="685800"/>
            <a:r>
              <a:rPr lang="en-GB" sz="900">
                <a:solidFill>
                  <a:schemeClr val="tx1"/>
                </a:solidFill>
                <a:latin typeface="Aptos" panose="02110004020202020204"/>
              </a:rPr>
              <a:t>Business Domain Analyst – Accountable/Responsible</a:t>
            </a:r>
          </a:p>
          <a:p>
            <a:pPr algn="ctr" defTabSz="685800"/>
            <a:endParaRPr lang="en-GB" sz="900">
              <a:solidFill>
                <a:prstClr val="white"/>
              </a:solidFill>
              <a:latin typeface="Aptos" panose="02110004020202020204"/>
            </a:endParaRPr>
          </a:p>
        </p:txBody>
      </p:sp>
    </p:spTree>
    <p:extLst>
      <p:ext uri="{BB962C8B-B14F-4D97-AF65-F5344CB8AC3E}">
        <p14:creationId xmlns:p14="http://schemas.microsoft.com/office/powerpoint/2010/main" val="933121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485C-D2E4-CDFD-4F66-761E63AC685C}"/>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DBFBB75D-31C0-4C85-CBC3-61521356B308}"/>
              </a:ext>
            </a:extLst>
          </p:cNvPr>
          <p:cNvSpPr/>
          <p:nvPr/>
        </p:nvSpPr>
        <p:spPr>
          <a:xfrm>
            <a:off x="6705367" y="802198"/>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333333"/>
                </a:solidFill>
                <a:latin typeface="Verdana" panose="020B0604030504040204" pitchFamily="34" charset="0"/>
                <a:ea typeface="Verdana" panose="020B0604030504040204" pitchFamily="34" charset="0"/>
                <a:cs typeface="Verdana" panose="020B0604030504040204" pitchFamily="34" charset="0"/>
              </a:rPr>
              <a:t>Business Project Sponsor</a:t>
            </a:r>
          </a:p>
          <a:p>
            <a:pPr algn="ctr"/>
            <a:r>
              <a:rPr lang="en-US" sz="1050">
                <a:solidFill>
                  <a:srgbClr val="333333"/>
                </a:solidFill>
                <a:latin typeface="Verdana" panose="020B0604030504040204" pitchFamily="34" charset="0"/>
                <a:ea typeface="Verdana" panose="020B0604030504040204" pitchFamily="34" charset="0"/>
              </a:rPr>
              <a:t>Head of U-ACE</a:t>
            </a:r>
          </a:p>
          <a:p>
            <a:r>
              <a:rPr lang="en-GB" sz="1050">
                <a:solidFill>
                  <a:srgbClr val="333333"/>
                </a:solidFill>
                <a:latin typeface="Verdana" panose="020B0604030504040204" pitchFamily="34" charset="0"/>
                <a:ea typeface="Verdana" panose="020B0604030504040204" pitchFamily="34" charset="0"/>
              </a:rPr>
              <a:t>Ina Czarina </a:t>
            </a:r>
            <a:r>
              <a:rPr lang="en-GB" sz="1050" err="1">
                <a:solidFill>
                  <a:srgbClr val="333333"/>
                </a:solidFill>
                <a:latin typeface="Verdana" panose="020B0604030504040204" pitchFamily="34" charset="0"/>
                <a:ea typeface="Verdana" panose="020B0604030504040204" pitchFamily="34" charset="0"/>
              </a:rPr>
              <a:t>Bt</a:t>
            </a:r>
            <a:r>
              <a:rPr lang="en-GB" sz="1050">
                <a:solidFill>
                  <a:srgbClr val="333333"/>
                </a:solidFill>
                <a:latin typeface="Verdana" panose="020B0604030504040204" pitchFamily="34" charset="0"/>
                <a:ea typeface="Verdana" panose="020B0604030504040204" pitchFamily="34" charset="0"/>
              </a:rPr>
              <a:t> Arief Tham</a:t>
            </a:r>
          </a:p>
        </p:txBody>
      </p:sp>
      <p:sp>
        <p:nvSpPr>
          <p:cNvPr id="164" name="Rectangle 163">
            <a:extLst>
              <a:ext uri="{FF2B5EF4-FFF2-40B4-BE49-F238E27FC236}">
                <a16:creationId xmlns:a16="http://schemas.microsoft.com/office/drawing/2014/main" id="{6DADE0EB-D394-F6B4-A23F-1906747A5439}"/>
              </a:ext>
            </a:extLst>
          </p:cNvPr>
          <p:cNvSpPr/>
          <p:nvPr/>
        </p:nvSpPr>
        <p:spPr>
          <a:xfrm>
            <a:off x="575773" y="869792"/>
            <a:ext cx="2351668" cy="699473"/>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Business Delivery – Upstream</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Head of BDUM</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Faizal Zainol Alam</a:t>
            </a:r>
          </a:p>
        </p:txBody>
      </p:sp>
      <p:sp>
        <p:nvSpPr>
          <p:cNvPr id="168" name="Rectangle 167">
            <a:extLst>
              <a:ext uri="{FF2B5EF4-FFF2-40B4-BE49-F238E27FC236}">
                <a16:creationId xmlns:a16="http://schemas.microsoft.com/office/drawing/2014/main" id="{A769625D-E57C-08DD-600A-25E127BAE7FE}"/>
              </a:ext>
            </a:extLst>
          </p:cNvPr>
          <p:cNvSpPr/>
          <p:nvPr/>
        </p:nvSpPr>
        <p:spPr>
          <a:xfrm>
            <a:off x="7996619" y="6090329"/>
            <a:ext cx="687731" cy="207057"/>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rgbClr val="FFFFFF"/>
                </a:solidFill>
                <a:latin typeface="Verdana" panose="020B0604030504040204" pitchFamily="34" charset="0"/>
                <a:ea typeface="Verdana" panose="020B0604030504040204" pitchFamily="34" charset="0"/>
                <a:cs typeface="Verdana" panose="020B0604030504040204" pitchFamily="34" charset="0"/>
              </a:rPr>
              <a:t>PETRONAS Digital</a:t>
            </a:r>
          </a:p>
        </p:txBody>
      </p:sp>
      <p:sp>
        <p:nvSpPr>
          <p:cNvPr id="175" name="Rectangle 174">
            <a:extLst>
              <a:ext uri="{FF2B5EF4-FFF2-40B4-BE49-F238E27FC236}">
                <a16:creationId xmlns:a16="http://schemas.microsoft.com/office/drawing/2014/main" id="{D531B277-53EC-C62F-61BB-9D59FBFF6CE4}"/>
              </a:ext>
            </a:extLst>
          </p:cNvPr>
          <p:cNvSpPr/>
          <p:nvPr/>
        </p:nvSpPr>
        <p:spPr>
          <a:xfrm>
            <a:off x="7977569" y="6309404"/>
            <a:ext cx="706781" cy="23563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rgbClr val="333333"/>
                </a:solidFill>
                <a:latin typeface="Verdana" panose="020B0604030504040204" pitchFamily="34" charset="0"/>
                <a:ea typeface="Verdana" panose="020B0604030504040204" pitchFamily="34" charset="0"/>
                <a:cs typeface="Verdana" panose="020B0604030504040204" pitchFamily="34" charset="0"/>
              </a:rPr>
              <a:t>Business</a:t>
            </a:r>
            <a:endParaRPr lang="en-US" sz="600">
              <a:solidFill>
                <a:srgbClr val="333333"/>
              </a:solidFill>
            </a:endParaRPr>
          </a:p>
        </p:txBody>
      </p:sp>
      <p:sp>
        <p:nvSpPr>
          <p:cNvPr id="24" name="TextBox 23">
            <a:extLst>
              <a:ext uri="{FF2B5EF4-FFF2-40B4-BE49-F238E27FC236}">
                <a16:creationId xmlns:a16="http://schemas.microsoft.com/office/drawing/2014/main" id="{8DDB7959-7106-4650-041C-0DC4BCDE7B9A}"/>
              </a:ext>
            </a:extLst>
          </p:cNvPr>
          <p:cNvSpPr txBox="1"/>
          <p:nvPr/>
        </p:nvSpPr>
        <p:spPr>
          <a:xfrm>
            <a:off x="7996620" y="5863933"/>
            <a:ext cx="731381" cy="230832"/>
          </a:xfrm>
          <a:prstGeom prst="rect">
            <a:avLst/>
          </a:prstGeom>
          <a:noFill/>
        </p:spPr>
        <p:txBody>
          <a:bodyPr wrap="square" rtlCol="0">
            <a:spAutoFit/>
          </a:bodyPr>
          <a:lstStyle/>
          <a:p>
            <a:r>
              <a:rPr lang="en-US" sz="900" b="1" u="sng">
                <a:solidFill>
                  <a:srgbClr val="333333"/>
                </a:solidFill>
                <a:latin typeface="Verdana" panose="020B0604030504040204" pitchFamily="34" charset="0"/>
                <a:ea typeface="Verdana" panose="020B0604030504040204" pitchFamily="34" charset="0"/>
                <a:cs typeface="Verdana" panose="020B0604030504040204" pitchFamily="34" charset="0"/>
              </a:rPr>
              <a:t>Legend:</a:t>
            </a:r>
          </a:p>
        </p:txBody>
      </p:sp>
      <p:sp>
        <p:nvSpPr>
          <p:cNvPr id="363" name="Title 1">
            <a:extLst>
              <a:ext uri="{FF2B5EF4-FFF2-40B4-BE49-F238E27FC236}">
                <a16:creationId xmlns:a16="http://schemas.microsoft.com/office/drawing/2014/main" id="{618CD5AD-A14B-3318-2415-D8CA2A158B54}"/>
              </a:ext>
            </a:extLst>
          </p:cNvPr>
          <p:cNvSpPr>
            <a:spLocks noGrp="1"/>
          </p:cNvSpPr>
          <p:nvPr>
            <p:ph type="title"/>
          </p:nvPr>
        </p:nvSpPr>
        <p:spPr>
          <a:xfrm>
            <a:off x="276316" y="137894"/>
            <a:ext cx="8213244"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2.5 Team Structure</a:t>
            </a:r>
          </a:p>
        </p:txBody>
      </p:sp>
      <p:sp>
        <p:nvSpPr>
          <p:cNvPr id="6" name="Rectangle 5">
            <a:extLst>
              <a:ext uri="{FF2B5EF4-FFF2-40B4-BE49-F238E27FC236}">
                <a16:creationId xmlns:a16="http://schemas.microsoft.com/office/drawing/2014/main" id="{28D1DA07-F484-F95E-EC9C-942787D490FD}"/>
              </a:ext>
            </a:extLst>
          </p:cNvPr>
          <p:cNvSpPr/>
          <p:nvPr/>
        </p:nvSpPr>
        <p:spPr>
          <a:xfrm>
            <a:off x="470450" y="714375"/>
            <a:ext cx="8330649" cy="6008642"/>
          </a:xfrm>
          <a:prstGeom prst="rect">
            <a:avLst/>
          </a:prstGeom>
          <a:no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pic>
        <p:nvPicPr>
          <p:cNvPr id="98" name="Picture 97">
            <a:extLst>
              <a:ext uri="{FF2B5EF4-FFF2-40B4-BE49-F238E27FC236}">
                <a16:creationId xmlns:a16="http://schemas.microsoft.com/office/drawing/2014/main" id="{68146984-EA24-A73B-B285-827E929488E5}"/>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44124" y="1"/>
            <a:ext cx="2570321" cy="669131"/>
          </a:xfrm>
          <a:prstGeom prst="rect">
            <a:avLst/>
          </a:prstGeom>
          <a:noFill/>
        </p:spPr>
      </p:pic>
      <p:sp>
        <p:nvSpPr>
          <p:cNvPr id="43" name="Rectangle 42">
            <a:extLst>
              <a:ext uri="{FF2B5EF4-FFF2-40B4-BE49-F238E27FC236}">
                <a16:creationId xmlns:a16="http://schemas.microsoft.com/office/drawing/2014/main" id="{BAF2D1CC-DFEF-4233-EFF2-93C97F5C6D22}"/>
              </a:ext>
            </a:extLst>
          </p:cNvPr>
          <p:cNvSpPr/>
          <p:nvPr/>
        </p:nvSpPr>
        <p:spPr>
          <a:xfrm>
            <a:off x="2066054" y="2473165"/>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Development Tribe Lead</a:t>
            </a:r>
          </a:p>
          <a:p>
            <a:pPr algn="ctr"/>
            <a:r>
              <a:rPr lang="en-US" sz="1050">
                <a:solidFill>
                  <a:srgbClr val="FFFFFF"/>
                </a:solidFill>
                <a:latin typeface="Verdana" panose="020B0604030504040204" pitchFamily="34" charset="0"/>
                <a:ea typeface="Verdana" panose="020B0604030504040204" pitchFamily="34" charset="0"/>
              </a:rPr>
              <a:t>Nur Shida Che Zakaria</a:t>
            </a:r>
          </a:p>
        </p:txBody>
      </p:sp>
      <p:sp>
        <p:nvSpPr>
          <p:cNvPr id="2" name="BJPseudoFooter">
            <a:extLst>
              <a:ext uri="{FF2B5EF4-FFF2-40B4-BE49-F238E27FC236}">
                <a16:creationId xmlns:a16="http://schemas.microsoft.com/office/drawing/2014/main" id="{BF218438-653E-70E5-944A-BEE2097D547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7" name="Rectangle 6">
            <a:extLst>
              <a:ext uri="{FF2B5EF4-FFF2-40B4-BE49-F238E27FC236}">
                <a16:creationId xmlns:a16="http://schemas.microsoft.com/office/drawing/2014/main" id="{4F7AE3D8-8404-131D-DB2D-4DD6B85A282D}"/>
              </a:ext>
            </a:extLst>
          </p:cNvPr>
          <p:cNvSpPr/>
          <p:nvPr/>
        </p:nvSpPr>
        <p:spPr>
          <a:xfrm>
            <a:off x="5387100" y="4126183"/>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 4</a:t>
            </a:r>
            <a:endParaRPr lang="en-GB" sz="1050">
              <a:solidFill>
                <a:srgbClr val="333333"/>
              </a:solidFill>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46B9E916-0188-7FAF-46D1-4B42E89F4A62}"/>
              </a:ext>
            </a:extLst>
          </p:cNvPr>
          <p:cNvSpPr/>
          <p:nvPr/>
        </p:nvSpPr>
        <p:spPr>
          <a:xfrm>
            <a:off x="5387100" y="1635431"/>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 1</a:t>
            </a:r>
            <a:endParaRPr lang="en-GB" sz="1050">
              <a:solidFill>
                <a:srgbClr val="333333"/>
              </a:solidFill>
              <a:latin typeface="Verdana" panose="020B0604030504040204" pitchFamily="34" charset="0"/>
              <a:ea typeface="Verdana" panose="020B0604030504040204" pitchFamily="34" charset="0"/>
            </a:endParaRPr>
          </a:p>
        </p:txBody>
      </p:sp>
      <p:sp>
        <p:nvSpPr>
          <p:cNvPr id="12" name="Rectangle 11">
            <a:extLst>
              <a:ext uri="{FF2B5EF4-FFF2-40B4-BE49-F238E27FC236}">
                <a16:creationId xmlns:a16="http://schemas.microsoft.com/office/drawing/2014/main" id="{C0CFCBFB-D2BA-701A-121E-080720E79B0E}"/>
              </a:ext>
            </a:extLst>
          </p:cNvPr>
          <p:cNvSpPr/>
          <p:nvPr/>
        </p:nvSpPr>
        <p:spPr>
          <a:xfrm>
            <a:off x="5387100" y="2488846"/>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 2</a:t>
            </a:r>
            <a:endParaRPr lang="en-GB" sz="1050">
              <a:solidFill>
                <a:srgbClr val="333333"/>
              </a:solidFill>
              <a:latin typeface="Verdana" panose="020B0604030504040204" pitchFamily="34" charset="0"/>
              <a:ea typeface="Verdana" panose="020B0604030504040204" pitchFamily="34" charset="0"/>
            </a:endParaRPr>
          </a:p>
        </p:txBody>
      </p:sp>
      <p:sp>
        <p:nvSpPr>
          <p:cNvPr id="13" name="Rectangle 12">
            <a:extLst>
              <a:ext uri="{FF2B5EF4-FFF2-40B4-BE49-F238E27FC236}">
                <a16:creationId xmlns:a16="http://schemas.microsoft.com/office/drawing/2014/main" id="{99F21680-A8AF-59AA-8F4E-D93A07277E63}"/>
              </a:ext>
            </a:extLst>
          </p:cNvPr>
          <p:cNvSpPr/>
          <p:nvPr/>
        </p:nvSpPr>
        <p:spPr>
          <a:xfrm>
            <a:off x="5387100" y="3283232"/>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 3</a:t>
            </a:r>
            <a:endParaRPr lang="en-GB" sz="1050">
              <a:solidFill>
                <a:srgbClr val="333333"/>
              </a:solidFill>
              <a:latin typeface="Verdana" panose="020B0604030504040204" pitchFamily="34" charset="0"/>
              <a:ea typeface="Verdana" panose="020B0604030504040204" pitchFamily="34" charset="0"/>
            </a:endParaRPr>
          </a:p>
        </p:txBody>
      </p:sp>
      <p:sp>
        <p:nvSpPr>
          <p:cNvPr id="3" name="Rectangle 2">
            <a:extLst>
              <a:ext uri="{FF2B5EF4-FFF2-40B4-BE49-F238E27FC236}">
                <a16:creationId xmlns:a16="http://schemas.microsoft.com/office/drawing/2014/main" id="{0FBD57C5-CDFE-004D-BD30-317DE63D2F77}"/>
              </a:ext>
            </a:extLst>
          </p:cNvPr>
          <p:cNvSpPr/>
          <p:nvPr/>
        </p:nvSpPr>
        <p:spPr>
          <a:xfrm>
            <a:off x="2066054" y="3287416"/>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Production Tribe Lead</a:t>
            </a:r>
          </a:p>
          <a:p>
            <a:pPr algn="ctr"/>
            <a:r>
              <a:rPr lang="en-US" sz="1050">
                <a:solidFill>
                  <a:srgbClr val="FFFFFF"/>
                </a:solidFill>
                <a:latin typeface="Verdana" panose="020B0604030504040204" pitchFamily="34" charset="0"/>
                <a:ea typeface="Verdana" panose="020B0604030504040204" pitchFamily="34" charset="0"/>
              </a:rPr>
              <a:t>Abdul Halim Mat Noh</a:t>
            </a:r>
          </a:p>
        </p:txBody>
      </p:sp>
      <p:sp>
        <p:nvSpPr>
          <p:cNvPr id="10" name="Rectangle 9">
            <a:extLst>
              <a:ext uri="{FF2B5EF4-FFF2-40B4-BE49-F238E27FC236}">
                <a16:creationId xmlns:a16="http://schemas.microsoft.com/office/drawing/2014/main" id="{4F3BAEF0-3219-37AD-DB69-8798D0D1F16A}"/>
              </a:ext>
            </a:extLst>
          </p:cNvPr>
          <p:cNvSpPr/>
          <p:nvPr/>
        </p:nvSpPr>
        <p:spPr>
          <a:xfrm>
            <a:off x="2066054" y="1658913"/>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Exploration Tribe Lead</a:t>
            </a:r>
          </a:p>
          <a:p>
            <a:pPr algn="ctr"/>
            <a:r>
              <a:rPr lang="en-GB" sz="1050">
                <a:solidFill>
                  <a:srgbClr val="FFFFFF"/>
                </a:solidFill>
                <a:latin typeface="Verdana" panose="020B0604030504040204" pitchFamily="34" charset="0"/>
                <a:ea typeface="Verdana" panose="020B0604030504040204" pitchFamily="34" charset="0"/>
              </a:rPr>
              <a:t>Muthu Kumar </a:t>
            </a:r>
            <a:r>
              <a:rPr lang="en-GB" sz="1050" err="1">
                <a:solidFill>
                  <a:srgbClr val="FFFFFF"/>
                </a:solidFill>
                <a:latin typeface="Verdana" panose="020B0604030504040204" pitchFamily="34" charset="0"/>
                <a:ea typeface="Verdana" panose="020B0604030504040204" pitchFamily="34" charset="0"/>
              </a:rPr>
              <a:t>Sockalingam</a:t>
            </a:r>
            <a:endParaRPr lang="en-GB" sz="1050">
              <a:solidFill>
                <a:srgbClr val="FFFFFF"/>
              </a:solidFill>
              <a:latin typeface="Verdana" panose="020B0604030504040204" pitchFamily="34" charset="0"/>
              <a:ea typeface="Verdana" panose="020B0604030504040204" pitchFamily="34" charset="0"/>
            </a:endParaRPr>
          </a:p>
        </p:txBody>
      </p:sp>
      <p:sp>
        <p:nvSpPr>
          <p:cNvPr id="14" name="Rectangle 13">
            <a:extLst>
              <a:ext uri="{FF2B5EF4-FFF2-40B4-BE49-F238E27FC236}">
                <a16:creationId xmlns:a16="http://schemas.microsoft.com/office/drawing/2014/main" id="{8F4856CD-3A49-AE18-D31E-0AFD21594949}"/>
              </a:ext>
            </a:extLst>
          </p:cNvPr>
          <p:cNvSpPr/>
          <p:nvPr/>
        </p:nvSpPr>
        <p:spPr>
          <a:xfrm>
            <a:off x="2066054" y="4101667"/>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International Tribe Lead</a:t>
            </a:r>
          </a:p>
          <a:p>
            <a:pPr algn="ctr"/>
            <a:r>
              <a:rPr lang="en-GB" sz="1050">
                <a:solidFill>
                  <a:srgbClr val="FFFFFF"/>
                </a:solidFill>
                <a:latin typeface="Verdana" panose="020B0604030504040204" pitchFamily="34" charset="0"/>
                <a:ea typeface="Verdana" panose="020B0604030504040204" pitchFamily="34" charset="0"/>
              </a:rPr>
              <a:t>M Muaz Ali</a:t>
            </a:r>
          </a:p>
        </p:txBody>
      </p:sp>
      <p:sp>
        <p:nvSpPr>
          <p:cNvPr id="15" name="Rectangle 14">
            <a:extLst>
              <a:ext uri="{FF2B5EF4-FFF2-40B4-BE49-F238E27FC236}">
                <a16:creationId xmlns:a16="http://schemas.microsoft.com/office/drawing/2014/main" id="{55AADAA8-16C3-484D-F3EC-F3C9FAD659CB}"/>
              </a:ext>
            </a:extLst>
          </p:cNvPr>
          <p:cNvSpPr/>
          <p:nvPr/>
        </p:nvSpPr>
        <p:spPr>
          <a:xfrm>
            <a:off x="2066054" y="4915919"/>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Decarbonization &amp; Business Excellence Tribe Lead</a:t>
            </a:r>
          </a:p>
          <a:p>
            <a:pPr algn="ctr"/>
            <a:r>
              <a:rPr lang="en-GB" sz="1050">
                <a:solidFill>
                  <a:srgbClr val="FFFFFF"/>
                </a:solidFill>
                <a:latin typeface="Verdana" panose="020B0604030504040204" pitchFamily="34" charset="0"/>
                <a:ea typeface="Verdana" panose="020B0604030504040204" pitchFamily="34" charset="0"/>
              </a:rPr>
              <a:t>Alan Teng</a:t>
            </a:r>
          </a:p>
        </p:txBody>
      </p:sp>
      <p:sp>
        <p:nvSpPr>
          <p:cNvPr id="21" name="Rectangle 20">
            <a:extLst>
              <a:ext uri="{FF2B5EF4-FFF2-40B4-BE49-F238E27FC236}">
                <a16:creationId xmlns:a16="http://schemas.microsoft.com/office/drawing/2014/main" id="{A3367C36-0EC6-EE8E-01A2-29BCE07ED43F}"/>
              </a:ext>
            </a:extLst>
          </p:cNvPr>
          <p:cNvSpPr/>
          <p:nvPr/>
        </p:nvSpPr>
        <p:spPr>
          <a:xfrm>
            <a:off x="5387100" y="4975269"/>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 5</a:t>
            </a:r>
            <a:endParaRPr lang="en-GB" sz="1050">
              <a:solidFill>
                <a:srgbClr val="333333"/>
              </a:solidFill>
              <a:latin typeface="Verdana" panose="020B0604030504040204" pitchFamily="34" charset="0"/>
              <a:ea typeface="Verdana" panose="020B0604030504040204" pitchFamily="34" charset="0"/>
            </a:endParaRPr>
          </a:p>
        </p:txBody>
      </p:sp>
      <p:sp>
        <p:nvSpPr>
          <p:cNvPr id="23" name="Rectangle 22">
            <a:extLst>
              <a:ext uri="{FF2B5EF4-FFF2-40B4-BE49-F238E27FC236}">
                <a16:creationId xmlns:a16="http://schemas.microsoft.com/office/drawing/2014/main" id="{E6E2490B-53D6-7B0A-F4CC-724CB51DBE5E}"/>
              </a:ext>
            </a:extLst>
          </p:cNvPr>
          <p:cNvSpPr/>
          <p:nvPr/>
        </p:nvSpPr>
        <p:spPr>
          <a:xfrm>
            <a:off x="1025379" y="5913051"/>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rgbClr val="FFFFFF"/>
                </a:solidFill>
                <a:latin typeface="Verdana" panose="020B0604030504040204" pitchFamily="34" charset="0"/>
                <a:ea typeface="Verdana" panose="020B0604030504040204" pitchFamily="34" charset="0"/>
                <a:cs typeface="Verdana" panose="020B0604030504040204" pitchFamily="34" charset="0"/>
              </a:rPr>
              <a:t>Solution Architects</a:t>
            </a:r>
            <a:endParaRPr lang="en-GB" sz="1050">
              <a:solidFill>
                <a:srgbClr val="FFFFFF"/>
              </a:solidFill>
              <a:latin typeface="Verdana" panose="020B0604030504040204" pitchFamily="34" charset="0"/>
              <a:ea typeface="Verdana" panose="020B0604030504040204" pitchFamily="34" charset="0"/>
            </a:endParaRPr>
          </a:p>
        </p:txBody>
      </p:sp>
      <p:sp>
        <p:nvSpPr>
          <p:cNvPr id="26" name="Rectangle 25">
            <a:extLst>
              <a:ext uri="{FF2B5EF4-FFF2-40B4-BE49-F238E27FC236}">
                <a16:creationId xmlns:a16="http://schemas.microsoft.com/office/drawing/2014/main" id="{D0D835F2-9797-234E-8980-E9F61B1573AF}"/>
              </a:ext>
            </a:extLst>
          </p:cNvPr>
          <p:cNvSpPr/>
          <p:nvPr/>
        </p:nvSpPr>
        <p:spPr>
          <a:xfrm>
            <a:off x="3328796" y="5899988"/>
            <a:ext cx="2175021" cy="699474"/>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rgbClr val="FFFFFF"/>
                </a:solidFill>
                <a:latin typeface="Verdana" panose="020B0604030504040204" pitchFamily="34" charset="0"/>
                <a:ea typeface="Verdana" panose="020B0604030504040204" pitchFamily="34" charset="0"/>
                <a:cs typeface="Verdana" panose="020B0604030504040204" pitchFamily="34" charset="0"/>
              </a:rPr>
              <a:t>Business Domain Analysts</a:t>
            </a:r>
            <a:endParaRPr lang="en-GB" sz="1050">
              <a:solidFill>
                <a:srgbClr val="FFFFFF"/>
              </a:solidFill>
              <a:latin typeface="Verdana" panose="020B0604030504040204" pitchFamily="34" charset="0"/>
              <a:ea typeface="Verdana" panose="020B0604030504040204" pitchFamily="34" charset="0"/>
            </a:endParaRPr>
          </a:p>
        </p:txBody>
      </p:sp>
      <p:cxnSp>
        <p:nvCxnSpPr>
          <p:cNvPr id="29" name="Connector: Elbow 28">
            <a:extLst>
              <a:ext uri="{FF2B5EF4-FFF2-40B4-BE49-F238E27FC236}">
                <a16:creationId xmlns:a16="http://schemas.microsoft.com/office/drawing/2014/main" id="{01AD50A3-D308-A3D3-3514-B96381E69D2E}"/>
              </a:ext>
            </a:extLst>
          </p:cNvPr>
          <p:cNvCxnSpPr>
            <a:stCxn id="164" idx="2"/>
            <a:endCxn id="10" idx="1"/>
          </p:cNvCxnSpPr>
          <p:nvPr/>
        </p:nvCxnSpPr>
        <p:spPr>
          <a:xfrm rot="16200000" flipH="1">
            <a:off x="1689138" y="1631733"/>
            <a:ext cx="439385" cy="31444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6F80DA30-BF74-C164-FD30-399DC2753147}"/>
              </a:ext>
            </a:extLst>
          </p:cNvPr>
          <p:cNvCxnSpPr>
            <a:stCxn id="164" idx="2"/>
            <a:endCxn id="43" idx="1"/>
          </p:cNvCxnSpPr>
          <p:nvPr/>
        </p:nvCxnSpPr>
        <p:spPr>
          <a:xfrm rot="16200000" flipH="1">
            <a:off x="1282012" y="2038859"/>
            <a:ext cx="1253637" cy="31444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F04EA478-4357-479B-F9FC-07687A41E68B}"/>
              </a:ext>
            </a:extLst>
          </p:cNvPr>
          <p:cNvCxnSpPr>
            <a:stCxn id="164" idx="2"/>
            <a:endCxn id="3" idx="1"/>
          </p:cNvCxnSpPr>
          <p:nvPr/>
        </p:nvCxnSpPr>
        <p:spPr>
          <a:xfrm rot="16200000" flipH="1">
            <a:off x="874886" y="2445985"/>
            <a:ext cx="2067888" cy="31444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22071A37-A976-4B7B-DCE6-B878715530C9}"/>
              </a:ext>
            </a:extLst>
          </p:cNvPr>
          <p:cNvCxnSpPr>
            <a:stCxn id="164" idx="2"/>
            <a:endCxn id="14" idx="1"/>
          </p:cNvCxnSpPr>
          <p:nvPr/>
        </p:nvCxnSpPr>
        <p:spPr>
          <a:xfrm rot="16200000" flipH="1">
            <a:off x="467761" y="2853110"/>
            <a:ext cx="2882139" cy="31444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97D6B583-0DB7-C654-391B-C019643E110B}"/>
              </a:ext>
            </a:extLst>
          </p:cNvPr>
          <p:cNvCxnSpPr>
            <a:stCxn id="164" idx="2"/>
            <a:endCxn id="15" idx="1"/>
          </p:cNvCxnSpPr>
          <p:nvPr/>
        </p:nvCxnSpPr>
        <p:spPr>
          <a:xfrm rot="16200000" flipH="1">
            <a:off x="60635" y="3260236"/>
            <a:ext cx="3696391" cy="31444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1366113B-B210-9FF6-1CF5-49A535987167}"/>
              </a:ext>
            </a:extLst>
          </p:cNvPr>
          <p:cNvCxnSpPr>
            <a:stCxn id="10" idx="3"/>
            <a:endCxn id="23" idx="0"/>
          </p:cNvCxnSpPr>
          <p:nvPr/>
        </p:nvCxnSpPr>
        <p:spPr>
          <a:xfrm flipH="1">
            <a:off x="2112890" y="2008650"/>
            <a:ext cx="2128185" cy="3904401"/>
          </a:xfrm>
          <a:prstGeom prst="bentConnector4">
            <a:avLst>
              <a:gd name="adj1" fmla="val -7878"/>
              <a:gd name="adj2" fmla="val 95296"/>
            </a:avLst>
          </a:prstGeom>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06981B71-58DD-92AA-6C7E-39A443F40D6C}"/>
              </a:ext>
            </a:extLst>
          </p:cNvPr>
          <p:cNvCxnSpPr>
            <a:stCxn id="43" idx="3"/>
            <a:endCxn id="26" idx="0"/>
          </p:cNvCxnSpPr>
          <p:nvPr/>
        </p:nvCxnSpPr>
        <p:spPr>
          <a:xfrm>
            <a:off x="4241075" y="2822902"/>
            <a:ext cx="175232" cy="307708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1F1BBE3C-1C3B-9525-A640-5FA667E8C385}"/>
              </a:ext>
            </a:extLst>
          </p:cNvPr>
          <p:cNvCxnSpPr>
            <a:stCxn id="3" idx="3"/>
            <a:endCxn id="26" idx="0"/>
          </p:cNvCxnSpPr>
          <p:nvPr/>
        </p:nvCxnSpPr>
        <p:spPr>
          <a:xfrm>
            <a:off x="4241075" y="3637153"/>
            <a:ext cx="175232" cy="226283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51319990-48B2-AFA1-DE73-FA10E86D77BF}"/>
              </a:ext>
            </a:extLst>
          </p:cNvPr>
          <p:cNvCxnSpPr>
            <a:cxnSpLocks/>
            <a:stCxn id="14" idx="3"/>
            <a:endCxn id="26" idx="0"/>
          </p:cNvCxnSpPr>
          <p:nvPr/>
        </p:nvCxnSpPr>
        <p:spPr>
          <a:xfrm>
            <a:off x="4241075" y="4451404"/>
            <a:ext cx="175232" cy="144858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E62AA9D7-8CC7-73EE-2168-999A1E0330B8}"/>
              </a:ext>
            </a:extLst>
          </p:cNvPr>
          <p:cNvCxnSpPr>
            <a:stCxn id="15" idx="3"/>
            <a:endCxn id="23" idx="0"/>
          </p:cNvCxnSpPr>
          <p:nvPr/>
        </p:nvCxnSpPr>
        <p:spPr>
          <a:xfrm flipH="1">
            <a:off x="2112890" y="5265656"/>
            <a:ext cx="2128185" cy="647395"/>
          </a:xfrm>
          <a:prstGeom prst="bentConnector4">
            <a:avLst>
              <a:gd name="adj1" fmla="val -7878"/>
              <a:gd name="adj2" fmla="val 71630"/>
            </a:avLst>
          </a:prstGeom>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D2CD8A5D-E006-7193-DAAA-3898241B301C}"/>
              </a:ext>
            </a:extLst>
          </p:cNvPr>
          <p:cNvCxnSpPr>
            <a:stCxn id="153" idx="2"/>
            <a:endCxn id="11" idx="3"/>
          </p:cNvCxnSpPr>
          <p:nvPr/>
        </p:nvCxnSpPr>
        <p:spPr>
          <a:xfrm rot="5400000">
            <a:off x="7304574" y="1584316"/>
            <a:ext cx="483496" cy="3182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4E9A694A-C45E-C12A-DBF1-FBE21131BB30}"/>
              </a:ext>
            </a:extLst>
          </p:cNvPr>
          <p:cNvCxnSpPr>
            <a:stCxn id="153" idx="2"/>
            <a:endCxn id="12" idx="3"/>
          </p:cNvCxnSpPr>
          <p:nvPr/>
        </p:nvCxnSpPr>
        <p:spPr>
          <a:xfrm rot="5400000">
            <a:off x="6877867" y="2011023"/>
            <a:ext cx="1336911" cy="3182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6D927AC5-236F-BEE3-0628-2CE84FFAC135}"/>
              </a:ext>
            </a:extLst>
          </p:cNvPr>
          <p:cNvCxnSpPr>
            <a:stCxn id="153" idx="2"/>
            <a:endCxn id="13" idx="3"/>
          </p:cNvCxnSpPr>
          <p:nvPr/>
        </p:nvCxnSpPr>
        <p:spPr>
          <a:xfrm rot="5400000">
            <a:off x="6480674" y="2408216"/>
            <a:ext cx="2131297" cy="3182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5" name="Connector: Elbow 64">
            <a:extLst>
              <a:ext uri="{FF2B5EF4-FFF2-40B4-BE49-F238E27FC236}">
                <a16:creationId xmlns:a16="http://schemas.microsoft.com/office/drawing/2014/main" id="{BA1621F8-F476-F768-2D2D-1024F0A91F64}"/>
              </a:ext>
            </a:extLst>
          </p:cNvPr>
          <p:cNvCxnSpPr>
            <a:stCxn id="153" idx="2"/>
            <a:endCxn id="7" idx="3"/>
          </p:cNvCxnSpPr>
          <p:nvPr/>
        </p:nvCxnSpPr>
        <p:spPr>
          <a:xfrm rot="5400000">
            <a:off x="6059198" y="2829692"/>
            <a:ext cx="2974248" cy="3182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7" name="Connector: Elbow 66">
            <a:extLst>
              <a:ext uri="{FF2B5EF4-FFF2-40B4-BE49-F238E27FC236}">
                <a16:creationId xmlns:a16="http://schemas.microsoft.com/office/drawing/2014/main" id="{78EE1BA0-F63B-20ED-8FCE-205228FF3726}"/>
              </a:ext>
            </a:extLst>
          </p:cNvPr>
          <p:cNvCxnSpPr>
            <a:stCxn id="153" idx="2"/>
            <a:endCxn id="21" idx="3"/>
          </p:cNvCxnSpPr>
          <p:nvPr/>
        </p:nvCxnSpPr>
        <p:spPr>
          <a:xfrm rot="5400000">
            <a:off x="5634655" y="3254235"/>
            <a:ext cx="3823334" cy="318208"/>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695E0677-12F2-A67A-D291-BBBC8EEBC29B}"/>
              </a:ext>
            </a:extLst>
          </p:cNvPr>
          <p:cNvSpPr/>
          <p:nvPr/>
        </p:nvSpPr>
        <p:spPr>
          <a:xfrm rot="16200000">
            <a:off x="7300661" y="3281351"/>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M </a:t>
            </a:r>
            <a:r>
              <a:rPr lang="en-GB" sz="1050" err="1">
                <a:solidFill>
                  <a:srgbClr val="333333"/>
                </a:solidFill>
                <a:latin typeface="Verdana" panose="020B0604030504040204" pitchFamily="34" charset="0"/>
                <a:ea typeface="Verdana" panose="020B0604030504040204" pitchFamily="34" charset="0"/>
                <a:cs typeface="Verdana" panose="020B0604030504040204" pitchFamily="34" charset="0"/>
              </a:rPr>
              <a:t>Agos</a:t>
            </a: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 Abul Hasan Asari</a:t>
            </a:r>
          </a:p>
          <a:p>
            <a:pPr algn="ctr"/>
            <a:r>
              <a:rPr lang="en-GB" sz="1050">
                <a:solidFill>
                  <a:srgbClr val="333333"/>
                </a:solidFill>
                <a:latin typeface="Verdana" panose="020B0604030504040204" pitchFamily="34" charset="0"/>
                <a:ea typeface="Verdana" panose="020B0604030504040204" pitchFamily="34" charset="0"/>
              </a:rPr>
              <a:t>Business focal</a:t>
            </a:r>
          </a:p>
        </p:txBody>
      </p:sp>
      <p:sp>
        <p:nvSpPr>
          <p:cNvPr id="20" name="Rectangle 19">
            <a:extLst>
              <a:ext uri="{FF2B5EF4-FFF2-40B4-BE49-F238E27FC236}">
                <a16:creationId xmlns:a16="http://schemas.microsoft.com/office/drawing/2014/main" id="{9B2AB475-DA2F-34D1-3345-E65EB8DCCA93}"/>
              </a:ext>
            </a:extLst>
          </p:cNvPr>
          <p:cNvSpPr/>
          <p:nvPr/>
        </p:nvSpPr>
        <p:spPr>
          <a:xfrm rot="16200000">
            <a:off x="-84626" y="3287874"/>
            <a:ext cx="2351668" cy="699473"/>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Business Delivery – Upstream</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BDUM Focal</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Lim Hoong Keng</a:t>
            </a:r>
          </a:p>
        </p:txBody>
      </p:sp>
      <p:cxnSp>
        <p:nvCxnSpPr>
          <p:cNvPr id="25" name="Straight Connector 24">
            <a:extLst>
              <a:ext uri="{FF2B5EF4-FFF2-40B4-BE49-F238E27FC236}">
                <a16:creationId xmlns:a16="http://schemas.microsoft.com/office/drawing/2014/main" id="{14D28289-66E8-2C13-5C1D-9C4940449122}"/>
              </a:ext>
            </a:extLst>
          </p:cNvPr>
          <p:cNvCxnSpPr>
            <a:stCxn id="3" idx="1"/>
            <a:endCxn id="20" idx="2"/>
          </p:cNvCxnSpPr>
          <p:nvPr/>
        </p:nvCxnSpPr>
        <p:spPr>
          <a:xfrm flipH="1">
            <a:off x="1440945" y="3637153"/>
            <a:ext cx="625109" cy="4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9DE5ACD-A77A-A2F4-D746-1082BC1F2B68}"/>
              </a:ext>
            </a:extLst>
          </p:cNvPr>
          <p:cNvCxnSpPr>
            <a:stCxn id="13" idx="3"/>
            <a:endCxn id="16" idx="0"/>
          </p:cNvCxnSpPr>
          <p:nvPr/>
        </p:nvCxnSpPr>
        <p:spPr>
          <a:xfrm flipV="1">
            <a:off x="7387218" y="3631088"/>
            <a:ext cx="563765" cy="18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4222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634AD6-14D2-3DA6-9342-54D480E04408}"/>
              </a:ext>
            </a:extLst>
          </p:cNvPr>
          <p:cNvSpPr>
            <a:spLocks noGrp="1"/>
          </p:cNvSpPr>
          <p:nvPr>
            <p:ph type="title"/>
          </p:nvPr>
        </p:nvSpPr>
        <p:spPr/>
        <p:txBody>
          <a:bodyPr/>
          <a:lstStyle/>
          <a:p>
            <a:r>
              <a:rPr lang="en-GB"/>
              <a:t>Upstream Flagship initiatives</a:t>
            </a:r>
          </a:p>
        </p:txBody>
      </p:sp>
      <p:graphicFrame>
        <p:nvGraphicFramePr>
          <p:cNvPr id="4" name="Table 3">
            <a:extLst>
              <a:ext uri="{FF2B5EF4-FFF2-40B4-BE49-F238E27FC236}">
                <a16:creationId xmlns:a16="http://schemas.microsoft.com/office/drawing/2014/main" id="{64C59E68-6942-040A-7B18-67C62CEF4FFE}"/>
              </a:ext>
            </a:extLst>
          </p:cNvPr>
          <p:cNvGraphicFramePr>
            <a:graphicFrameLocks noGrp="1"/>
          </p:cNvGraphicFramePr>
          <p:nvPr>
            <p:extLst>
              <p:ext uri="{D42A27DB-BD31-4B8C-83A1-F6EECF244321}">
                <p14:modId xmlns:p14="http://schemas.microsoft.com/office/powerpoint/2010/main" val="2045712135"/>
              </p:ext>
            </p:extLst>
          </p:nvPr>
        </p:nvGraphicFramePr>
        <p:xfrm>
          <a:off x="412953" y="796768"/>
          <a:ext cx="8298429" cy="5905655"/>
        </p:xfrm>
        <a:graphic>
          <a:graphicData uri="http://schemas.openxmlformats.org/drawingml/2006/table">
            <a:tbl>
              <a:tblPr/>
              <a:tblGrid>
                <a:gridCol w="1039712">
                  <a:extLst>
                    <a:ext uri="{9D8B030D-6E8A-4147-A177-3AD203B41FA5}">
                      <a16:colId xmlns:a16="http://schemas.microsoft.com/office/drawing/2014/main" val="2494058163"/>
                    </a:ext>
                  </a:extLst>
                </a:gridCol>
                <a:gridCol w="4986761">
                  <a:extLst>
                    <a:ext uri="{9D8B030D-6E8A-4147-A177-3AD203B41FA5}">
                      <a16:colId xmlns:a16="http://schemas.microsoft.com/office/drawing/2014/main" val="547292789"/>
                    </a:ext>
                  </a:extLst>
                </a:gridCol>
                <a:gridCol w="1135978">
                  <a:extLst>
                    <a:ext uri="{9D8B030D-6E8A-4147-A177-3AD203B41FA5}">
                      <a16:colId xmlns:a16="http://schemas.microsoft.com/office/drawing/2014/main" val="3366508515"/>
                    </a:ext>
                  </a:extLst>
                </a:gridCol>
                <a:gridCol w="1135978">
                  <a:extLst>
                    <a:ext uri="{9D8B030D-6E8A-4147-A177-3AD203B41FA5}">
                      <a16:colId xmlns:a16="http://schemas.microsoft.com/office/drawing/2014/main" val="1896192418"/>
                    </a:ext>
                  </a:extLst>
                </a:gridCol>
              </a:tblGrid>
              <a:tr h="115449">
                <a:tc>
                  <a:txBody>
                    <a:bodyPr/>
                    <a:lstStyle/>
                    <a:p>
                      <a:pPr algn="ctr" rtl="0" fontAlgn="ctr">
                        <a:buNone/>
                      </a:pPr>
                      <a:r>
                        <a:rPr lang="en-GB" sz="1000" b="1" i="0" u="none" strike="noStrike">
                          <a:solidFill>
                            <a:srgbClr val="FFFFFF"/>
                          </a:solidFill>
                          <a:effectLst/>
                          <a:latin typeface="Museo Sans 300" panose="02000000000000000000" pitchFamily="50" charset="0"/>
                        </a:rPr>
                        <a: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7F7F7F"/>
                    </a:solidFill>
                  </a:tcPr>
                </a:tc>
                <a:tc>
                  <a:txBody>
                    <a:bodyPr/>
                    <a:lstStyle/>
                    <a:p>
                      <a:pPr algn="ctr" rtl="0" fontAlgn="ctr">
                        <a:buNone/>
                      </a:pPr>
                      <a:r>
                        <a:rPr lang="en-GB" sz="1000" b="1" i="0" u="none" strike="noStrike">
                          <a:solidFill>
                            <a:srgbClr val="FFFFFF"/>
                          </a:solidFill>
                          <a:effectLst/>
                          <a:latin typeface="Museo Sans 300" panose="02000000000000000000" pitchFamily="50" charset="0"/>
                        </a:rPr>
                        <a:t>Project Name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7F7F7F"/>
                    </a:solidFill>
                  </a:tcPr>
                </a:tc>
                <a:tc>
                  <a:txBody>
                    <a:bodyPr/>
                    <a:lstStyle/>
                    <a:p>
                      <a:pPr algn="ctr" rtl="0" fontAlgn="ctr">
                        <a:buNone/>
                      </a:pPr>
                      <a:r>
                        <a:rPr lang="en-GB" sz="1000" b="1" i="0" u="none" strike="noStrike">
                          <a:solidFill>
                            <a:srgbClr val="FFFFFF"/>
                          </a:solidFill>
                          <a:effectLst/>
                          <a:latin typeface="Museo Sans 300" panose="02000000000000000000" pitchFamily="50" charset="0"/>
                        </a:rPr>
                        <a:t>Tier Level</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7F7F7F"/>
                    </a:solidFill>
                  </a:tcPr>
                </a:tc>
                <a:tc>
                  <a:txBody>
                    <a:bodyPr/>
                    <a:lstStyle/>
                    <a:p>
                      <a:pPr algn="ctr" rtl="0" fontAlgn="ctr">
                        <a:buNone/>
                      </a:pPr>
                      <a:r>
                        <a:rPr lang="en-GB" sz="1000" b="1" i="0" u="none" strike="noStrike">
                          <a:solidFill>
                            <a:srgbClr val="FFFFFF"/>
                          </a:solidFill>
                          <a:effectLst/>
                          <a:latin typeface="Museo Sans 300" panose="02000000000000000000" pitchFamily="50" charset="0"/>
                        </a:rPr>
                        <a:t>Portfolio</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7F7F7F"/>
                    </a:solidFill>
                  </a:tcPr>
                </a:tc>
                <a:extLst>
                  <a:ext uri="{0D108BD9-81ED-4DB2-BD59-A6C34878D82A}">
                    <a16:rowId xmlns:a16="http://schemas.microsoft.com/office/drawing/2014/main" val="1676417465"/>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AI CADO (Contract Assistant &amp; Design Order)</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17464808"/>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PGR Digital (Project Gate Review)</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24896299"/>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VAR/VDS (Value Assurance Review)/(VAR Digital System)</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extLst>
                  <a:ext uri="{0D108BD9-81ED-4DB2-BD59-A6C34878D82A}">
                    <a16:rowId xmlns:a16="http://schemas.microsoft.com/office/drawing/2014/main" val="3685101891"/>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4</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PT AI</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837487540"/>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5</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NeoRI </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785136239"/>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6</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UPO</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rtl="0" fontAlgn="ctr">
                        <a:buNone/>
                      </a:pPr>
                      <a:endParaRPr lang="en-GB" sz="1000" b="1" i="0" u="none" strike="noStrike">
                        <a:solidFill>
                          <a:srgbClr val="000000"/>
                        </a:solidFill>
                        <a:effectLst/>
                        <a:latin typeface="Museo Sans 300" panose="02000000000000000000" pitchFamily="50" charset="0"/>
                      </a:endParaRP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650027383"/>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7</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OSDU Copilot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607305548"/>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8</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UP+</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169714449"/>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9</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Upstream GHG Platform (</a:t>
                      </a:r>
                      <a:r>
                        <a:rPr lang="en-GB" sz="1000" b="1" i="0" u="none" strike="noStrike" err="1">
                          <a:solidFill>
                            <a:srgbClr val="000000"/>
                          </a:solidFill>
                          <a:effectLst/>
                          <a:latin typeface="Museo Sans 300" panose="02000000000000000000" pitchFamily="50" charset="0"/>
                        </a:rPr>
                        <a:t>Envana</a:t>
                      </a:r>
                      <a:r>
                        <a:rPr lang="en-GB" sz="1000" b="1" i="0" u="none" strike="noStrike">
                          <a:solidFill>
                            <a:srgbClr val="000000"/>
                          </a:solidFill>
                          <a:effectLst/>
                          <a:latin typeface="Museo Sans 300" panose="02000000000000000000" pitchFamily="50" charset="0"/>
                        </a:rPr>
                        <a: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996001165"/>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10</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Zenith</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424878768"/>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RADIAN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886787210"/>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IAM</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810441122"/>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Wells Collision Monitoring</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103806057"/>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14</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Wells AI</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631825154"/>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15</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Upstream Cloud Repatriation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410325156"/>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16</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Wells Performance Benchmarking</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817800892"/>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17</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WIO Enhancement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303814810"/>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18</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Wells Material Management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023741584"/>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19</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ePB (Project Brief)</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extLst>
                  <a:ext uri="{0D108BD9-81ED-4DB2-BD59-A6C34878D82A}">
                    <a16:rowId xmlns:a16="http://schemas.microsoft.com/office/drawing/2014/main" val="1356891968"/>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20</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ERMAI</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458069827"/>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CDF</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434429627"/>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MMV</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extLst>
                  <a:ext uri="{0D108BD9-81ED-4DB2-BD59-A6C34878D82A}">
                    <a16:rowId xmlns:a16="http://schemas.microsoft.com/office/drawing/2014/main" val="2356852636"/>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PROTEAN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751561210"/>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24</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UEDM</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868209223"/>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25</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Upstream HPC</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Exploration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428625006"/>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26</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AI PoC SFM for Geohazard</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84008597"/>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27</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TEV for QI Subsurface Intelligence and Analytics Screening (Curate)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Development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149403315"/>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28</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Finance tools (i.e SAP, OpenText, Customised Cost Alloc, PD, AFEMS etc)</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extLst>
                  <a:ext uri="{0D108BD9-81ED-4DB2-BD59-A6C34878D82A}">
                    <a16:rowId xmlns:a16="http://schemas.microsoft.com/office/drawing/2014/main" val="2263358048"/>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29</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CRM tool for CMD: </a:t>
                      </a:r>
                      <a:r>
                        <a:rPr lang="en-GB" sz="1000" b="1" i="0" u="none" strike="noStrike" err="1">
                          <a:solidFill>
                            <a:srgbClr val="000000"/>
                          </a:solidFill>
                          <a:effectLst/>
                          <a:latin typeface="Museo Sans 300" panose="02000000000000000000" pitchFamily="50" charset="0"/>
                        </a:rPr>
                        <a:t>SalesForce</a:t>
                      </a:r>
                      <a:r>
                        <a:rPr lang="en-GB" sz="1000" b="1" i="0" u="none" strike="noStrike">
                          <a:solidFill>
                            <a:srgbClr val="000000"/>
                          </a:solidFill>
                          <a:effectLst/>
                          <a:latin typeface="Museo Sans 300" panose="02000000000000000000" pitchFamily="50" charset="0"/>
                        </a:rPr>
                        <a:t> </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extLst>
                  <a:ext uri="{0D108BD9-81ED-4DB2-BD59-A6C34878D82A}">
                    <a16:rowId xmlns:a16="http://schemas.microsoft.com/office/drawing/2014/main" val="2239555513"/>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30</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Emerging Demand: UHSE HIP-SA Enhancement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a:solidFill>
                            <a:srgbClr val="000000"/>
                          </a:solidFill>
                          <a:effectLst/>
                          <a:latin typeface="Museo Sans 300" panose="02000000000000000000" pitchFamily="50" charset="0"/>
                        </a:rPr>
                        <a:t>Decarb &amp; BE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CEEB"/>
                    </a:solidFill>
                  </a:tcPr>
                </a:tc>
                <a:extLst>
                  <a:ext uri="{0D108BD9-81ED-4DB2-BD59-A6C34878D82A}">
                    <a16:rowId xmlns:a16="http://schemas.microsoft.com/office/drawing/2014/main" val="228199345"/>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31</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Strategic Plan Development - IAMS &amp; PRIME</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240296262"/>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32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Carving out HSE Apps to Searah</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Exploration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079785878"/>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33</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Emerging Demand: AI solution (PMA - Process Tech)</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994452112"/>
                  </a:ext>
                </a:extLst>
              </a:tr>
              <a:tr h="115449">
                <a:tc>
                  <a:txBody>
                    <a:bodyPr/>
                    <a:lstStyle/>
                    <a:p>
                      <a:pPr algn="ctr" rtl="0" fontAlgn="ctr">
                        <a:buNone/>
                      </a:pPr>
                      <a:r>
                        <a:rPr lang="en-GB" sz="1000" b="1" i="0" u="none" strike="noStrike">
                          <a:solidFill>
                            <a:srgbClr val="000000"/>
                          </a:solidFill>
                          <a:effectLst/>
                          <a:latin typeface="Museo Sans 300" panose="02000000000000000000" pitchFamily="50" charset="0"/>
                        </a:rPr>
                        <a:t>34</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2F2F2"/>
                    </a:solidFill>
                  </a:tcPr>
                </a:tc>
                <a:tc>
                  <a:txBody>
                    <a:bodyPr/>
                    <a:lstStyle/>
                    <a:p>
                      <a:pPr algn="l" rtl="0" fontAlgn="ctr">
                        <a:buNone/>
                      </a:pPr>
                      <a:r>
                        <a:rPr lang="en-GB" sz="1000" b="1" i="0" u="none" strike="noStrike">
                          <a:solidFill>
                            <a:srgbClr val="000000"/>
                          </a:solidFill>
                          <a:effectLst/>
                          <a:latin typeface="Museo Sans 300" panose="02000000000000000000" pitchFamily="50" charset="0"/>
                        </a:rPr>
                        <a:t>Emerging Demand: AI solution (SKA - Instrument)</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2F2F2"/>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Tier 2</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rtl="0" fontAlgn="ctr">
                        <a:buNone/>
                      </a:pPr>
                      <a:r>
                        <a:rPr lang="en-GB" sz="1000" b="1" i="0" u="none" strike="noStrike">
                          <a:solidFill>
                            <a:srgbClr val="000000"/>
                          </a:solidFill>
                          <a:effectLst/>
                          <a:latin typeface="Museo Sans 300" panose="02000000000000000000" pitchFamily="50" charset="0"/>
                        </a:rPr>
                        <a:t>Production</a:t>
                      </a:r>
                    </a:p>
                  </a:txBody>
                  <a:tcPr marL="2816" marR="2816" marT="2816" marB="135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2213389217"/>
                  </a:ext>
                </a:extLst>
              </a:tr>
            </a:tbl>
          </a:graphicData>
        </a:graphic>
      </p:graphicFrame>
    </p:spTree>
    <p:extLst>
      <p:ext uri="{BB962C8B-B14F-4D97-AF65-F5344CB8AC3E}">
        <p14:creationId xmlns:p14="http://schemas.microsoft.com/office/powerpoint/2010/main" val="752274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0E2E6B7-3599-842D-1172-299A974224A8}"/>
              </a:ext>
            </a:extLst>
          </p:cNvPr>
          <p:cNvSpPr>
            <a:spLocks noGrp="1"/>
          </p:cNvSpPr>
          <p:nvPr>
            <p:ph type="title"/>
          </p:nvPr>
        </p:nvSpPr>
        <p:spPr>
          <a:xfrm>
            <a:off x="457200" y="381000"/>
            <a:ext cx="8229600" cy="533400"/>
          </a:xfrm>
        </p:spPr>
        <p:txBody>
          <a:bodyPr/>
          <a:lstStyle/>
          <a:p>
            <a:r>
              <a:rPr lang="en-GB"/>
              <a:t>Upstream Non - Flagship initiatives</a:t>
            </a:r>
          </a:p>
        </p:txBody>
      </p:sp>
      <p:pic>
        <p:nvPicPr>
          <p:cNvPr id="2" name="Picture 1">
            <a:extLst>
              <a:ext uri="{FF2B5EF4-FFF2-40B4-BE49-F238E27FC236}">
                <a16:creationId xmlns:a16="http://schemas.microsoft.com/office/drawing/2014/main" id="{0384E804-C1F2-B474-9481-76A151B9112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14167" y="982566"/>
            <a:ext cx="8182158" cy="4295268"/>
          </a:xfrm>
          <a:prstGeom prst="rect">
            <a:avLst/>
          </a:prstGeom>
        </p:spPr>
      </p:pic>
    </p:spTree>
    <p:extLst>
      <p:ext uri="{BB962C8B-B14F-4D97-AF65-F5344CB8AC3E}">
        <p14:creationId xmlns:p14="http://schemas.microsoft.com/office/powerpoint/2010/main" val="2311533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077188-5CDE-81B9-50E4-732E50E547EA}"/>
              </a:ext>
            </a:extLst>
          </p:cNvPr>
          <p:cNvPicPr>
            <a:picLocks noChangeAspect="1"/>
          </p:cNvPicPr>
          <p:nvPr/>
        </p:nvPicPr>
        <p:blipFill>
          <a:blip r:embed="rId2"/>
          <a:stretch>
            <a:fillRect/>
          </a:stretch>
        </p:blipFill>
        <p:spPr>
          <a:xfrm>
            <a:off x="333108" y="904875"/>
            <a:ext cx="8487042" cy="4769763"/>
          </a:xfrm>
          <a:prstGeom prst="rect">
            <a:avLst/>
          </a:prstGeom>
          <a:ln>
            <a:solidFill>
              <a:schemeClr val="tx1"/>
            </a:solidFill>
          </a:ln>
        </p:spPr>
      </p:pic>
      <p:sp>
        <p:nvSpPr>
          <p:cNvPr id="7" name="Rectangle: Rounded Corners 6">
            <a:extLst>
              <a:ext uri="{FF2B5EF4-FFF2-40B4-BE49-F238E27FC236}">
                <a16:creationId xmlns:a16="http://schemas.microsoft.com/office/drawing/2014/main" id="{B3F2F210-1CE0-54DE-C7DF-7A506F00CADB}"/>
              </a:ext>
            </a:extLst>
          </p:cNvPr>
          <p:cNvSpPr/>
          <p:nvPr/>
        </p:nvSpPr>
        <p:spPr>
          <a:xfrm>
            <a:off x="5019675" y="5858269"/>
            <a:ext cx="3733800" cy="6858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schemeClr val="tx1"/>
                </a:solidFill>
                <a:latin typeface="Aptos" panose="02110004020202020204"/>
              </a:rPr>
              <a:t>RACI</a:t>
            </a:r>
          </a:p>
          <a:p>
            <a:pPr algn="ctr" defTabSz="685800"/>
            <a:r>
              <a:rPr lang="en-GB" sz="900">
                <a:solidFill>
                  <a:schemeClr val="tx1"/>
                </a:solidFill>
                <a:latin typeface="Aptos" panose="02110004020202020204"/>
              </a:rPr>
              <a:t>Solution Lead – Accountable</a:t>
            </a:r>
          </a:p>
          <a:p>
            <a:pPr algn="ctr" defTabSz="685800"/>
            <a:r>
              <a:rPr lang="en-GB" sz="900">
                <a:solidFill>
                  <a:schemeClr val="tx1"/>
                </a:solidFill>
                <a:latin typeface="Aptos" panose="02110004020202020204"/>
              </a:rPr>
              <a:t>Business Domain Analyst - Responsible</a:t>
            </a:r>
          </a:p>
          <a:p>
            <a:pPr algn="ctr" defTabSz="685800"/>
            <a:endParaRPr lang="en-GB" sz="900">
              <a:solidFill>
                <a:prstClr val="white"/>
              </a:solidFill>
              <a:latin typeface="Aptos" panose="02110004020202020204"/>
            </a:endParaRPr>
          </a:p>
        </p:txBody>
      </p:sp>
      <p:sp>
        <p:nvSpPr>
          <p:cNvPr id="8" name="Title 2">
            <a:extLst>
              <a:ext uri="{FF2B5EF4-FFF2-40B4-BE49-F238E27FC236}">
                <a16:creationId xmlns:a16="http://schemas.microsoft.com/office/drawing/2014/main" id="{3CBB9A97-4F15-2887-765A-837121159EA7}"/>
              </a:ext>
            </a:extLst>
          </p:cNvPr>
          <p:cNvSpPr txBox="1">
            <a:spLocks/>
          </p:cNvSpPr>
          <p:nvPr/>
        </p:nvSpPr>
        <p:spPr>
          <a:xfrm>
            <a:off x="457200" y="381000"/>
            <a:ext cx="8229600" cy="53340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defTabSz="914400">
              <a:lnSpc>
                <a:spcPct val="110000"/>
              </a:lnSpc>
            </a:pPr>
            <a:r>
              <a:rPr lang="en-GB" sz="2400" b="1">
                <a:solidFill>
                  <a:srgbClr val="00B1A9"/>
                </a:solidFill>
                <a:latin typeface="Arial" panose="020B0604020202020204" pitchFamily="34" charset="0"/>
                <a:cs typeface="Arial" panose="020B0604020202020204" pitchFamily="34" charset="0"/>
              </a:rPr>
              <a:t>Flagship Demands</a:t>
            </a:r>
          </a:p>
        </p:txBody>
      </p:sp>
      <p:sp>
        <p:nvSpPr>
          <p:cNvPr id="10" name="Speech Bubble: Rectangle 9">
            <a:extLst>
              <a:ext uri="{FF2B5EF4-FFF2-40B4-BE49-F238E27FC236}">
                <a16:creationId xmlns:a16="http://schemas.microsoft.com/office/drawing/2014/main" id="{DF943A5B-9EA6-365E-CA8D-0B5973D1320D}"/>
              </a:ext>
            </a:extLst>
          </p:cNvPr>
          <p:cNvSpPr/>
          <p:nvPr/>
        </p:nvSpPr>
        <p:spPr>
          <a:xfrm>
            <a:off x="361950" y="5934075"/>
            <a:ext cx="4457700" cy="765048"/>
          </a:xfrm>
          <a:prstGeom prst="wedgeRectCallout">
            <a:avLst>
              <a:gd name="adj1" fmla="val 47543"/>
              <a:gd name="adj2" fmla="val -190821"/>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BDA will serve as an additional resource extension to manage the above tasks.</a:t>
            </a:r>
          </a:p>
        </p:txBody>
      </p:sp>
    </p:spTree>
    <p:extLst>
      <p:ext uri="{BB962C8B-B14F-4D97-AF65-F5344CB8AC3E}">
        <p14:creationId xmlns:p14="http://schemas.microsoft.com/office/powerpoint/2010/main" val="268494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FDF252-7AB4-9929-9958-44F8525867E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D73DCB4-CDB1-95F8-84E9-2A842C6B36EB}"/>
              </a:ext>
            </a:extLst>
          </p:cNvPr>
          <p:cNvPicPr>
            <a:picLocks noChangeAspect="1"/>
          </p:cNvPicPr>
          <p:nvPr/>
        </p:nvPicPr>
        <p:blipFill>
          <a:blip r:embed="rId2"/>
          <a:stretch>
            <a:fillRect/>
          </a:stretch>
        </p:blipFill>
        <p:spPr>
          <a:xfrm>
            <a:off x="342633" y="933450"/>
            <a:ext cx="8487042" cy="4769763"/>
          </a:xfrm>
          <a:prstGeom prst="rect">
            <a:avLst/>
          </a:prstGeom>
          <a:ln>
            <a:solidFill>
              <a:schemeClr val="tx1"/>
            </a:solidFill>
          </a:ln>
        </p:spPr>
      </p:pic>
      <p:sp>
        <p:nvSpPr>
          <p:cNvPr id="8" name="Title 2">
            <a:extLst>
              <a:ext uri="{FF2B5EF4-FFF2-40B4-BE49-F238E27FC236}">
                <a16:creationId xmlns:a16="http://schemas.microsoft.com/office/drawing/2014/main" id="{F5F31C70-4603-E1F4-2A3E-DD5620FAEDD2}"/>
              </a:ext>
            </a:extLst>
          </p:cNvPr>
          <p:cNvSpPr txBox="1">
            <a:spLocks/>
          </p:cNvSpPr>
          <p:nvPr/>
        </p:nvSpPr>
        <p:spPr>
          <a:xfrm>
            <a:off x="457200" y="381000"/>
            <a:ext cx="8229600" cy="53340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defTabSz="914400">
              <a:lnSpc>
                <a:spcPct val="110000"/>
              </a:lnSpc>
            </a:pPr>
            <a:r>
              <a:rPr lang="en-GB" sz="2400" b="1">
                <a:solidFill>
                  <a:srgbClr val="00B1A9"/>
                </a:solidFill>
                <a:latin typeface="Arial" panose="020B0604020202020204" pitchFamily="34" charset="0"/>
                <a:cs typeface="Arial" panose="020B0604020202020204" pitchFamily="34" charset="0"/>
              </a:rPr>
              <a:t>Non-Flagship Demands</a:t>
            </a:r>
          </a:p>
        </p:txBody>
      </p:sp>
      <p:sp>
        <p:nvSpPr>
          <p:cNvPr id="2" name="Rectangle: Rounded Corners 1">
            <a:extLst>
              <a:ext uri="{FF2B5EF4-FFF2-40B4-BE49-F238E27FC236}">
                <a16:creationId xmlns:a16="http://schemas.microsoft.com/office/drawing/2014/main" id="{4019B1D1-FD5D-CAB6-7906-358A121444B8}"/>
              </a:ext>
            </a:extLst>
          </p:cNvPr>
          <p:cNvSpPr/>
          <p:nvPr/>
        </p:nvSpPr>
        <p:spPr>
          <a:xfrm>
            <a:off x="5029200" y="5924944"/>
            <a:ext cx="3733800" cy="6858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r>
              <a:rPr lang="en-GB" sz="900" u="sng">
                <a:solidFill>
                  <a:schemeClr val="tx1"/>
                </a:solidFill>
                <a:latin typeface="Aptos" panose="02110004020202020204"/>
              </a:rPr>
              <a:t>RACI</a:t>
            </a:r>
          </a:p>
          <a:p>
            <a:pPr algn="ctr" defTabSz="685800"/>
            <a:r>
              <a:rPr lang="en-GB" sz="900">
                <a:solidFill>
                  <a:schemeClr val="tx1"/>
                </a:solidFill>
                <a:latin typeface="Aptos" panose="02110004020202020204"/>
              </a:rPr>
              <a:t>Solution Lead – Informed/Consult</a:t>
            </a:r>
          </a:p>
          <a:p>
            <a:pPr algn="ctr" defTabSz="685800"/>
            <a:r>
              <a:rPr lang="en-GB" sz="900">
                <a:solidFill>
                  <a:schemeClr val="tx1"/>
                </a:solidFill>
                <a:latin typeface="Aptos" panose="02110004020202020204"/>
              </a:rPr>
              <a:t>Business Domain Analyst – Accountable/Responsible</a:t>
            </a:r>
          </a:p>
          <a:p>
            <a:pPr algn="ctr" defTabSz="685800"/>
            <a:endParaRPr lang="en-GB" sz="900">
              <a:solidFill>
                <a:prstClr val="white"/>
              </a:solidFill>
              <a:latin typeface="Aptos" panose="02110004020202020204"/>
            </a:endParaRPr>
          </a:p>
        </p:txBody>
      </p:sp>
      <p:sp>
        <p:nvSpPr>
          <p:cNvPr id="4" name="Speech Bubble: Rectangle 3">
            <a:extLst>
              <a:ext uri="{FF2B5EF4-FFF2-40B4-BE49-F238E27FC236}">
                <a16:creationId xmlns:a16="http://schemas.microsoft.com/office/drawing/2014/main" id="{F6D94D84-FDF3-DA18-DBE6-79D4411E2F8F}"/>
              </a:ext>
            </a:extLst>
          </p:cNvPr>
          <p:cNvSpPr/>
          <p:nvPr/>
        </p:nvSpPr>
        <p:spPr>
          <a:xfrm>
            <a:off x="361950" y="5934075"/>
            <a:ext cx="4457700" cy="765048"/>
          </a:xfrm>
          <a:prstGeom prst="wedgeRectCallout">
            <a:avLst>
              <a:gd name="adj1" fmla="val 47543"/>
              <a:gd name="adj2" fmla="val -190821"/>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The Non-Flagship demands will be managed by BDA keeping Solution Leads in line of sight.</a:t>
            </a:r>
          </a:p>
        </p:txBody>
      </p:sp>
    </p:spTree>
    <p:extLst>
      <p:ext uri="{BB962C8B-B14F-4D97-AF65-F5344CB8AC3E}">
        <p14:creationId xmlns:p14="http://schemas.microsoft.com/office/powerpoint/2010/main" val="3310452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863C-5661-EFFB-5EE4-F0436E9D9E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EBA700-BD35-1BED-9D79-06A8F77E017B}"/>
              </a:ext>
            </a:extLst>
          </p:cNvPr>
          <p:cNvSpPr>
            <a:spLocks noGrp="1"/>
          </p:cNvSpPr>
          <p:nvPr>
            <p:ph type="title"/>
          </p:nvPr>
        </p:nvSpPr>
        <p:spPr/>
        <p:txBody>
          <a:bodyPr/>
          <a:lstStyle/>
          <a:p>
            <a:r>
              <a:rPr lang="en-GB"/>
              <a:t>Upstream 2027 Managed Service Cost</a:t>
            </a:r>
          </a:p>
        </p:txBody>
      </p:sp>
      <p:graphicFrame>
        <p:nvGraphicFramePr>
          <p:cNvPr id="7" name="Table 6">
            <a:extLst>
              <a:ext uri="{FF2B5EF4-FFF2-40B4-BE49-F238E27FC236}">
                <a16:creationId xmlns:a16="http://schemas.microsoft.com/office/drawing/2014/main" id="{C9839A47-FF4D-B5AA-26C4-CA9BC9A72B29}"/>
              </a:ext>
            </a:extLst>
          </p:cNvPr>
          <p:cNvGraphicFramePr>
            <a:graphicFrameLocks noGrp="1"/>
          </p:cNvGraphicFramePr>
          <p:nvPr>
            <p:extLst>
              <p:ext uri="{D42A27DB-BD31-4B8C-83A1-F6EECF244321}">
                <p14:modId xmlns:p14="http://schemas.microsoft.com/office/powerpoint/2010/main" val="3797791259"/>
              </p:ext>
            </p:extLst>
          </p:nvPr>
        </p:nvGraphicFramePr>
        <p:xfrm>
          <a:off x="392471" y="1129532"/>
          <a:ext cx="8378662" cy="2446020"/>
        </p:xfrm>
        <a:graphic>
          <a:graphicData uri="http://schemas.openxmlformats.org/drawingml/2006/table">
            <a:tbl>
              <a:tblPr firstRow="1" bandRow="1">
                <a:tableStyleId>{5940675A-B579-460E-94D1-54222C63F5DA}</a:tableStyleId>
              </a:tblPr>
              <a:tblGrid>
                <a:gridCol w="4627204">
                  <a:extLst>
                    <a:ext uri="{9D8B030D-6E8A-4147-A177-3AD203B41FA5}">
                      <a16:colId xmlns:a16="http://schemas.microsoft.com/office/drawing/2014/main" val="4080331871"/>
                    </a:ext>
                  </a:extLst>
                </a:gridCol>
                <a:gridCol w="2287845">
                  <a:extLst>
                    <a:ext uri="{9D8B030D-6E8A-4147-A177-3AD203B41FA5}">
                      <a16:colId xmlns:a16="http://schemas.microsoft.com/office/drawing/2014/main" val="2915865299"/>
                    </a:ext>
                  </a:extLst>
                </a:gridCol>
                <a:gridCol w="1463613">
                  <a:extLst>
                    <a:ext uri="{9D8B030D-6E8A-4147-A177-3AD203B41FA5}">
                      <a16:colId xmlns:a16="http://schemas.microsoft.com/office/drawing/2014/main" val="3737483314"/>
                    </a:ext>
                  </a:extLst>
                </a:gridCol>
              </a:tblGrid>
              <a:tr h="0">
                <a:tc gridSpan="3">
                  <a:txBody>
                    <a:bodyPr/>
                    <a:lstStyle/>
                    <a:p>
                      <a:pPr algn="ctr"/>
                      <a:r>
                        <a:rPr lang="en-GB" sz="1200" b="1" kern="1200" baseline="0">
                          <a:solidFill>
                            <a:schemeClr val="bg1"/>
                          </a:solidFill>
                          <a:latin typeface="Museo Sans 300"/>
                          <a:ea typeface="Verdana"/>
                        </a:rPr>
                        <a:t>Upstream Flagship initiatives cost (~140 Demands)</a:t>
                      </a:r>
                      <a:endParaRPr lang="en-GB" sz="1200" b="1" kern="1200" baseline="0">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hMerge="1">
                  <a:txBody>
                    <a:bodyPr/>
                    <a:lstStyle/>
                    <a:p>
                      <a:pPr lvl="0" algn="ctr">
                        <a:buNone/>
                      </a:pP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hMerge="1">
                  <a:txBody>
                    <a:bodyPr/>
                    <a:lstStyle/>
                    <a:p>
                      <a:pPr lvl="0" algn="ctr">
                        <a:buNone/>
                      </a:pPr>
                      <a:endParaRPr lang="en-US"/>
                    </a:p>
                  </a:txBody>
                  <a:tcPr marL="68580" marR="68580" marT="34290" marB="34290" anchor="ctr">
                    <a:solidFill>
                      <a:srgbClr val="00B1A9"/>
                    </a:solidFill>
                  </a:tcPr>
                </a:tc>
                <a:extLst>
                  <a:ext uri="{0D108BD9-81ED-4DB2-BD59-A6C34878D82A}">
                    <a16:rowId xmlns:a16="http://schemas.microsoft.com/office/drawing/2014/main" val="3013730702"/>
                  </a:ext>
                </a:extLst>
              </a:tr>
              <a:tr h="0">
                <a:tc>
                  <a:txBody>
                    <a:bodyPr/>
                    <a:lstStyle/>
                    <a:p>
                      <a:pPr algn="ctr"/>
                      <a:r>
                        <a:rPr lang="en-GB" sz="1200" b="1" baseline="0">
                          <a:solidFill>
                            <a:schemeClr val="bg1"/>
                          </a:solidFill>
                          <a:latin typeface="Museo Sans 300"/>
                          <a:ea typeface="Verdana"/>
                          <a:cs typeface="Verdana" panose="020B0604030504040204" pitchFamily="34" charset="0"/>
                        </a:rPr>
                        <a:t>Tribe</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lvl="0" algn="ctr">
                        <a:buNone/>
                      </a:pPr>
                      <a:r>
                        <a:rPr lang="en-GB" sz="1200" b="1">
                          <a:solidFill>
                            <a:schemeClr val="bg1"/>
                          </a:solidFill>
                          <a:latin typeface="Museo Sans 300"/>
                          <a:ea typeface="Verdana"/>
                        </a:rPr>
                        <a:t>Average FTE/Month</a:t>
                      </a:r>
                    </a:p>
                    <a:p>
                      <a:pPr lvl="0" algn="ctr">
                        <a:buNone/>
                      </a:pPr>
                      <a:r>
                        <a:rPr lang="en-GB" sz="1200" b="1">
                          <a:solidFill>
                            <a:schemeClr val="bg1"/>
                          </a:solidFill>
                          <a:latin typeface="Museo Sans 300"/>
                          <a:ea typeface="Verdana"/>
                        </a:rPr>
                        <a:t>Jan - Dec</a:t>
                      </a:r>
                    </a:p>
                  </a:txBody>
                  <a:tcPr marL="68580" marR="68580" marT="34290" marB="34290" anchor="ctr">
                    <a:solidFill>
                      <a:srgbClr val="00B1A9"/>
                    </a:solidFill>
                  </a:tcPr>
                </a:tc>
                <a:tc>
                  <a:txBody>
                    <a:bodyPr/>
                    <a:lstStyle/>
                    <a:p>
                      <a:pPr lvl="0" algn="ctr">
                        <a:buNone/>
                      </a:pPr>
                      <a:r>
                        <a:rPr lang="en-US" sz="1200" b="1">
                          <a:solidFill>
                            <a:schemeClr val="bg1"/>
                          </a:solidFill>
                          <a:latin typeface="Museo Sans 300"/>
                          <a:ea typeface="Verdana"/>
                        </a:rPr>
                        <a:t>Total (RM)</a:t>
                      </a:r>
                      <a:endParaRPr lang="en-US"/>
                    </a:p>
                  </a:txBody>
                  <a:tcPr marL="68580" marR="68580" marT="34290" marB="34290" anchor="ctr">
                    <a:solidFill>
                      <a:srgbClr val="00B1A9"/>
                    </a:solidFill>
                  </a:tcPr>
                </a:tc>
                <a:extLst>
                  <a:ext uri="{0D108BD9-81ED-4DB2-BD59-A6C34878D82A}">
                    <a16:rowId xmlns:a16="http://schemas.microsoft.com/office/drawing/2014/main" val="162999524"/>
                  </a:ext>
                </a:extLst>
              </a:tr>
              <a:tr h="250173">
                <a:tc>
                  <a:txBody>
                    <a:bodyPr/>
                    <a:lstStyle/>
                    <a:p>
                      <a:pPr lvl="0" algn="ctr">
                        <a:buNone/>
                      </a:pPr>
                      <a:r>
                        <a:rPr lang="en-GB" sz="1100">
                          <a:latin typeface="Museo Sans 300"/>
                          <a:ea typeface="Verdana"/>
                          <a:cs typeface="Verdana" panose="020B0604030504040204" pitchFamily="34" charset="0"/>
                        </a:rPr>
                        <a:t>Decarbonisation &amp; Business Excellence</a:t>
                      </a:r>
                    </a:p>
                  </a:txBody>
                  <a:tcPr marL="68580" marR="68580" marT="34290" marB="34290"/>
                </a:tc>
                <a:tc>
                  <a:txBody>
                    <a:bodyPr/>
                    <a:lstStyle/>
                    <a:p>
                      <a:pPr lvl="0" algn="ctr">
                        <a:buNone/>
                      </a:pPr>
                      <a:r>
                        <a:rPr lang="en-GB" sz="1200" kern="1200">
                          <a:solidFill>
                            <a:schemeClr val="tx1"/>
                          </a:solidFill>
                          <a:latin typeface="Museo Sans 300"/>
                          <a:ea typeface="Verdana"/>
                          <a:cs typeface="+mn-cs"/>
                        </a:rPr>
                        <a:t>3</a:t>
                      </a:r>
                    </a:p>
                  </a:txBody>
                  <a:tcPr marL="68580" marR="68580" marT="34290" marB="34290"/>
                </a:tc>
                <a:tc>
                  <a:txBody>
                    <a:bodyPr/>
                    <a:lstStyle/>
                    <a:p>
                      <a:pPr lvl="0" algn="r">
                        <a:buNone/>
                      </a:pPr>
                      <a:r>
                        <a:rPr lang="en-GB" sz="1200" kern="1200">
                          <a:solidFill>
                            <a:schemeClr val="tx1"/>
                          </a:solidFill>
                          <a:latin typeface="Museo Sans 300"/>
                          <a:ea typeface="Verdana"/>
                          <a:cs typeface="+mn-cs"/>
                        </a:rPr>
                        <a:t>1,379,070</a:t>
                      </a:r>
                    </a:p>
                  </a:txBody>
                  <a:tcPr marL="68580" marR="68580" marT="34290" marB="34290"/>
                </a:tc>
                <a:extLst>
                  <a:ext uri="{0D108BD9-81ED-4DB2-BD59-A6C34878D82A}">
                    <a16:rowId xmlns:a16="http://schemas.microsoft.com/office/drawing/2014/main" val="3041232405"/>
                  </a:ext>
                </a:extLst>
              </a:tr>
              <a:tr h="250173">
                <a:tc>
                  <a:txBody>
                    <a:bodyPr/>
                    <a:lstStyle/>
                    <a:p>
                      <a:pPr lvl="0" algn="ctr">
                        <a:buNone/>
                      </a:pPr>
                      <a:r>
                        <a:rPr lang="en-GB" sz="1100">
                          <a:latin typeface="Museo Sans 300"/>
                          <a:ea typeface="Verdana"/>
                          <a:cs typeface="Verdana" panose="020B0604030504040204" pitchFamily="34" charset="0"/>
                        </a:rPr>
                        <a:t>Production</a:t>
                      </a:r>
                    </a:p>
                  </a:txBody>
                  <a:tcPr marL="68580" marR="68580" marT="34290" marB="34290"/>
                </a:tc>
                <a:tc>
                  <a:txBody>
                    <a:bodyPr/>
                    <a:lstStyle/>
                    <a:p>
                      <a:pPr lvl="0" algn="ctr">
                        <a:buNone/>
                      </a:pPr>
                      <a:r>
                        <a:rPr lang="en-GB" sz="1200" kern="1200">
                          <a:solidFill>
                            <a:schemeClr val="tx1"/>
                          </a:solidFill>
                          <a:latin typeface="Museo Sans 300"/>
                          <a:ea typeface="Verdana"/>
                          <a:cs typeface="+mn-cs"/>
                        </a:rPr>
                        <a:t>2.25</a:t>
                      </a:r>
                    </a:p>
                  </a:txBody>
                  <a:tcPr marL="68580" marR="68580" marT="34290" marB="34290"/>
                </a:tc>
                <a:tc>
                  <a:txBody>
                    <a:bodyPr/>
                    <a:lstStyle/>
                    <a:p>
                      <a:pPr lvl="0" algn="r">
                        <a:buNone/>
                      </a:pPr>
                      <a:r>
                        <a:rPr lang="en-GB" sz="1200" kern="1200">
                          <a:solidFill>
                            <a:schemeClr val="tx1"/>
                          </a:solidFill>
                          <a:latin typeface="Museo Sans 300"/>
                          <a:ea typeface="Verdana"/>
                          <a:cs typeface="+mn-cs"/>
                        </a:rPr>
                        <a:t>1,220,934</a:t>
                      </a:r>
                    </a:p>
                  </a:txBody>
                  <a:tcPr marL="68580" marR="68580" marT="34290" marB="34290"/>
                </a:tc>
                <a:extLst>
                  <a:ext uri="{0D108BD9-81ED-4DB2-BD59-A6C34878D82A}">
                    <a16:rowId xmlns:a16="http://schemas.microsoft.com/office/drawing/2014/main" val="348071379"/>
                  </a:ext>
                </a:extLst>
              </a:tr>
              <a:tr h="250173">
                <a:tc>
                  <a:txBody>
                    <a:bodyPr/>
                    <a:lstStyle/>
                    <a:p>
                      <a:pPr lvl="0" algn="ctr">
                        <a:buNone/>
                      </a:pPr>
                      <a:r>
                        <a:rPr lang="en-GB" sz="1100">
                          <a:latin typeface="Museo Sans 300"/>
                          <a:ea typeface="Verdana"/>
                          <a:cs typeface="Verdana" panose="020B0604030504040204" pitchFamily="34" charset="0"/>
                        </a:rPr>
                        <a:t>Exploration</a:t>
                      </a:r>
                    </a:p>
                  </a:txBody>
                  <a:tcPr marL="68580" marR="68580" marT="34290" marB="34290"/>
                </a:tc>
                <a:tc>
                  <a:txBody>
                    <a:bodyPr/>
                    <a:lstStyle/>
                    <a:p>
                      <a:pPr lvl="0" algn="ctr">
                        <a:buNone/>
                      </a:pPr>
                      <a:r>
                        <a:rPr lang="en-GB" sz="1200" kern="1200">
                          <a:solidFill>
                            <a:schemeClr val="tx1"/>
                          </a:solidFill>
                          <a:latin typeface="Museo Sans 300"/>
                          <a:ea typeface="Verdana"/>
                          <a:cs typeface="+mn-cs"/>
                        </a:rPr>
                        <a:t>1.5</a:t>
                      </a:r>
                      <a:endParaRPr lang="en-US"/>
                    </a:p>
                  </a:txBody>
                  <a:tcPr marL="68580" marR="68580" marT="34290" marB="34290"/>
                </a:tc>
                <a:tc>
                  <a:txBody>
                    <a:bodyPr/>
                    <a:lstStyle/>
                    <a:p>
                      <a:pPr lvl="0" algn="r">
                        <a:buNone/>
                      </a:pPr>
                      <a:r>
                        <a:rPr lang="en-GB" sz="1200" kern="1200">
                          <a:solidFill>
                            <a:schemeClr val="tx1"/>
                          </a:solidFill>
                          <a:latin typeface="Museo Sans 300"/>
                          <a:ea typeface="Verdana"/>
                          <a:cs typeface="+mn-cs"/>
                        </a:rPr>
                        <a:t>843,546</a:t>
                      </a:r>
                    </a:p>
                  </a:txBody>
                  <a:tcPr marL="68580" marR="68580" marT="34290" marB="34290"/>
                </a:tc>
                <a:extLst>
                  <a:ext uri="{0D108BD9-81ED-4DB2-BD59-A6C34878D82A}">
                    <a16:rowId xmlns:a16="http://schemas.microsoft.com/office/drawing/2014/main" val="1218945788"/>
                  </a:ext>
                </a:extLst>
              </a:tr>
              <a:tr h="250173">
                <a:tc>
                  <a:txBody>
                    <a:bodyPr/>
                    <a:lstStyle/>
                    <a:p>
                      <a:pPr lvl="0" algn="ctr">
                        <a:buNone/>
                      </a:pPr>
                      <a:r>
                        <a:rPr lang="en-GB" sz="1100">
                          <a:latin typeface="Museo Sans 300"/>
                          <a:ea typeface="Verdana"/>
                          <a:cs typeface="Verdana" panose="020B0604030504040204" pitchFamily="34" charset="0"/>
                        </a:rPr>
                        <a:t>Development</a:t>
                      </a:r>
                    </a:p>
                  </a:txBody>
                  <a:tcPr marL="68580" marR="68580" marT="34290" marB="34290"/>
                </a:tc>
                <a:tc>
                  <a:txBody>
                    <a:bodyPr/>
                    <a:lstStyle/>
                    <a:p>
                      <a:pPr lvl="0" algn="ctr">
                        <a:buNone/>
                      </a:pPr>
                      <a:r>
                        <a:rPr lang="en-GB" sz="1200" kern="1200">
                          <a:solidFill>
                            <a:schemeClr val="tx1"/>
                          </a:solidFill>
                          <a:latin typeface="Museo Sans 300"/>
                          <a:ea typeface="Verdana"/>
                          <a:cs typeface="+mn-cs"/>
                        </a:rPr>
                        <a:t>2.25</a:t>
                      </a:r>
                    </a:p>
                  </a:txBody>
                  <a:tcPr marL="68580" marR="68580" marT="34290" marB="3429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latin typeface="Museo Sans 300"/>
                          <a:ea typeface="Verdana"/>
                          <a:cs typeface="+mn-cs"/>
                        </a:rPr>
                        <a:t>1,270,896</a:t>
                      </a:r>
                    </a:p>
                  </a:txBody>
                  <a:tcPr marL="68580" marR="68580" marT="34290" marB="34290"/>
                </a:tc>
                <a:extLst>
                  <a:ext uri="{0D108BD9-81ED-4DB2-BD59-A6C34878D82A}">
                    <a16:rowId xmlns:a16="http://schemas.microsoft.com/office/drawing/2014/main" val="180257603"/>
                  </a:ext>
                </a:extLst>
              </a:tr>
              <a:tr h="0">
                <a:tc>
                  <a:txBody>
                    <a:bodyPr/>
                    <a:lstStyle/>
                    <a:p>
                      <a:pPr lvl="0" algn="ctr">
                        <a:lnSpc>
                          <a:spcPct val="100000"/>
                        </a:lnSpc>
                        <a:spcBef>
                          <a:spcPts val="0"/>
                        </a:spcBef>
                        <a:spcAft>
                          <a:spcPts val="0"/>
                        </a:spcAft>
                        <a:buNone/>
                      </a:pPr>
                      <a:r>
                        <a:rPr lang="en-GB" sz="1100" b="0" i="0" u="none" strike="noStrike" noProof="0">
                          <a:solidFill>
                            <a:srgbClr val="000000"/>
                          </a:solidFill>
                          <a:latin typeface="Museo Sans 300"/>
                        </a:rPr>
                        <a:t>International</a:t>
                      </a:r>
                    </a:p>
                  </a:txBody>
                  <a:tcPr marL="68580" marR="68580" marT="34290" marB="34290">
                    <a:solidFill>
                      <a:schemeClr val="bg1"/>
                    </a:solidFill>
                  </a:tcPr>
                </a:tc>
                <a:tc>
                  <a:txBody>
                    <a:bodyPr/>
                    <a:lstStyle/>
                    <a:p>
                      <a:pPr lvl="0" algn="ctr">
                        <a:buNone/>
                      </a:pPr>
                      <a:r>
                        <a:rPr lang="en-GB" sz="1200" kern="1200">
                          <a:solidFill>
                            <a:schemeClr val="tx1"/>
                          </a:solidFill>
                          <a:latin typeface="Museo Sans 300"/>
                          <a:ea typeface="Verdana"/>
                          <a:cs typeface="+mn-cs"/>
                        </a:rPr>
                        <a:t>0.5</a:t>
                      </a:r>
                    </a:p>
                  </a:txBody>
                  <a:tcPr marL="68580" marR="68580" marT="34290" marB="34290"/>
                </a:tc>
                <a:tc>
                  <a:txBody>
                    <a:bodyPr/>
                    <a:lstStyle/>
                    <a:p>
                      <a:pPr marL="0" lvl="0" algn="r" defTabSz="914400" rtl="0" eaLnBrk="1" latinLnBrk="0" hangingPunct="1">
                        <a:lnSpc>
                          <a:spcPct val="100000"/>
                        </a:lnSpc>
                        <a:spcBef>
                          <a:spcPts val="0"/>
                        </a:spcBef>
                        <a:spcAft>
                          <a:spcPts val="0"/>
                        </a:spcAft>
                        <a:buNone/>
                      </a:pPr>
                      <a:r>
                        <a:rPr lang="en-GB" sz="1200" kern="1200" noProof="0">
                          <a:solidFill>
                            <a:schemeClr val="tx1"/>
                          </a:solidFill>
                          <a:latin typeface="Museo Sans 300"/>
                          <a:ea typeface="Verdana"/>
                          <a:cs typeface="+mn-cs"/>
                        </a:rPr>
                        <a:t>377,388</a:t>
                      </a:r>
                    </a:p>
                  </a:txBody>
                  <a:tcPr marL="68580" marR="68580" marT="34290" marB="34290"/>
                </a:tc>
                <a:extLst>
                  <a:ext uri="{0D108BD9-81ED-4DB2-BD59-A6C34878D82A}">
                    <a16:rowId xmlns:a16="http://schemas.microsoft.com/office/drawing/2014/main" val="3310698380"/>
                  </a:ext>
                </a:extLst>
              </a:tr>
              <a:tr h="0">
                <a:tc>
                  <a:txBody>
                    <a:bodyPr/>
                    <a:lstStyle/>
                    <a:p>
                      <a:pPr lvl="0" algn="ctr">
                        <a:lnSpc>
                          <a:spcPct val="100000"/>
                        </a:lnSpc>
                        <a:spcBef>
                          <a:spcPts val="0"/>
                        </a:spcBef>
                        <a:spcAft>
                          <a:spcPts val="0"/>
                        </a:spcAft>
                        <a:buNone/>
                      </a:pPr>
                      <a:r>
                        <a:rPr lang="en-GB" sz="1100" b="0" i="0" u="none" strike="noStrike" noProof="0">
                          <a:solidFill>
                            <a:srgbClr val="000000"/>
                          </a:solidFill>
                          <a:latin typeface="Museo Sans 300"/>
                        </a:rPr>
                        <a:t>Solution Architect</a:t>
                      </a:r>
                    </a:p>
                  </a:txBody>
                  <a:tcPr marL="68580" marR="68580" marT="34290" marB="34290">
                    <a:solidFill>
                      <a:schemeClr val="bg1"/>
                    </a:solidFill>
                  </a:tcPr>
                </a:tc>
                <a:tc>
                  <a:txBody>
                    <a:bodyPr/>
                    <a:lstStyle/>
                    <a:p>
                      <a:pPr lvl="0" algn="ctr">
                        <a:buNone/>
                      </a:pPr>
                      <a:r>
                        <a:rPr lang="en-GB" sz="1200" kern="1200">
                          <a:solidFill>
                            <a:schemeClr val="tx1"/>
                          </a:solidFill>
                          <a:latin typeface="Museo Sans 300"/>
                          <a:ea typeface="Verdana"/>
                          <a:cs typeface="+mn-cs"/>
                        </a:rPr>
                        <a:t>1</a:t>
                      </a:r>
                    </a:p>
                  </a:txBody>
                  <a:tcPr marL="68580" marR="68580" marT="34290" marB="34290"/>
                </a:tc>
                <a:tc>
                  <a:txBody>
                    <a:bodyPr/>
                    <a:lstStyle/>
                    <a:p>
                      <a:pPr marL="0" lvl="0" algn="r" defTabSz="914400" rtl="0" eaLnBrk="1" fontAlgn="b" latinLnBrk="0" hangingPunct="1">
                        <a:buNone/>
                      </a:pPr>
                      <a:r>
                        <a:rPr lang="en-GB" sz="1200" kern="1200">
                          <a:solidFill>
                            <a:schemeClr val="tx1"/>
                          </a:solidFill>
                          <a:latin typeface="Museo Sans 300"/>
                          <a:ea typeface="Verdana"/>
                          <a:cs typeface="+mn-cs"/>
                        </a:rPr>
                        <a:t>21,696.00</a:t>
                      </a:r>
                    </a:p>
                  </a:txBody>
                  <a:tcPr marL="9525" marR="9525" marT="9525" marB="0" anchor="b"/>
                </a:tc>
                <a:extLst>
                  <a:ext uri="{0D108BD9-81ED-4DB2-BD59-A6C34878D82A}">
                    <a16:rowId xmlns:a16="http://schemas.microsoft.com/office/drawing/2014/main" val="3962779886"/>
                  </a:ext>
                </a:extLst>
              </a:tr>
              <a:tr h="0">
                <a:tc>
                  <a:txBody>
                    <a:bodyPr/>
                    <a:lstStyle/>
                    <a:p>
                      <a:pPr lvl="0" algn="r">
                        <a:lnSpc>
                          <a:spcPct val="100000"/>
                        </a:lnSpc>
                        <a:spcBef>
                          <a:spcPts val="0"/>
                        </a:spcBef>
                        <a:spcAft>
                          <a:spcPts val="0"/>
                        </a:spcAft>
                        <a:buNone/>
                      </a:pPr>
                      <a:r>
                        <a:rPr lang="en-GB" sz="1100" b="1" i="0" u="none" strike="noStrike" noProof="0">
                          <a:solidFill>
                            <a:srgbClr val="000000"/>
                          </a:solidFill>
                          <a:latin typeface="Museo Sans 300"/>
                        </a:rPr>
                        <a:t>Total</a:t>
                      </a:r>
                      <a:endParaRPr lang="en-GB" sz="1100" b="0" i="0" u="none" strike="noStrike" noProof="0">
                        <a:solidFill>
                          <a:srgbClr val="000000"/>
                        </a:solidFill>
                        <a:latin typeface="Museo Sans 300"/>
                      </a:endParaRPr>
                    </a:p>
                  </a:txBody>
                  <a:tcPr marL="68580" marR="68580" marT="34290" marB="34290">
                    <a:solidFill>
                      <a:schemeClr val="bg2">
                        <a:lumMod val="90000"/>
                      </a:schemeClr>
                    </a:solidFill>
                  </a:tcPr>
                </a:tc>
                <a:tc>
                  <a:txBody>
                    <a:bodyPr/>
                    <a:lstStyle/>
                    <a:p>
                      <a:pPr lvl="0" algn="ctr">
                        <a:buNone/>
                      </a:pPr>
                      <a:r>
                        <a:rPr lang="en-GB" sz="1200" kern="1200">
                          <a:solidFill>
                            <a:schemeClr val="tx1"/>
                          </a:solidFill>
                          <a:latin typeface="Museo Sans 300"/>
                          <a:ea typeface="Verdana"/>
                          <a:cs typeface="+mn-cs"/>
                        </a:rPr>
                        <a:t>10.5</a:t>
                      </a:r>
                    </a:p>
                  </a:txBody>
                  <a:tcPr marL="68580" marR="68580" marT="34290" marB="34290"/>
                </a:tc>
                <a:tc>
                  <a:txBody>
                    <a:bodyPr/>
                    <a:lstStyle/>
                    <a:p>
                      <a:pPr lvl="0" algn="r">
                        <a:lnSpc>
                          <a:spcPct val="100000"/>
                        </a:lnSpc>
                        <a:spcBef>
                          <a:spcPts val="0"/>
                        </a:spcBef>
                        <a:spcAft>
                          <a:spcPts val="0"/>
                        </a:spcAft>
                        <a:buNone/>
                      </a:pPr>
                      <a:r>
                        <a:rPr lang="en-GB" sz="1200"/>
                        <a:t>5,113,530</a:t>
                      </a:r>
                      <a:endParaRPr lang="en-GB" sz="1200" b="0" i="0" u="none" strike="noStrike" kern="1200" noProof="0">
                        <a:solidFill>
                          <a:schemeClr val="tx1"/>
                        </a:solidFill>
                        <a:latin typeface="Museo Sans 300"/>
                      </a:endParaRPr>
                    </a:p>
                  </a:txBody>
                  <a:tcPr marL="68580" marR="68580" marT="34290" marB="34290"/>
                </a:tc>
                <a:extLst>
                  <a:ext uri="{0D108BD9-81ED-4DB2-BD59-A6C34878D82A}">
                    <a16:rowId xmlns:a16="http://schemas.microsoft.com/office/drawing/2014/main" val="3750777858"/>
                  </a:ext>
                </a:extLst>
              </a:tr>
            </a:tbl>
          </a:graphicData>
        </a:graphic>
      </p:graphicFrame>
      <p:sp>
        <p:nvSpPr>
          <p:cNvPr id="11" name="TextBox 10">
            <a:extLst>
              <a:ext uri="{FF2B5EF4-FFF2-40B4-BE49-F238E27FC236}">
                <a16:creationId xmlns:a16="http://schemas.microsoft.com/office/drawing/2014/main" id="{E0A1ED7B-F62D-CBFD-42F9-40CE30B4EE48}"/>
              </a:ext>
            </a:extLst>
          </p:cNvPr>
          <p:cNvSpPr txBox="1"/>
          <p:nvPr/>
        </p:nvSpPr>
        <p:spPr>
          <a:xfrm>
            <a:off x="6011484" y="3661409"/>
            <a:ext cx="2869312" cy="369332"/>
          </a:xfrm>
          <a:prstGeom prst="rect">
            <a:avLst/>
          </a:prstGeom>
          <a:noFill/>
        </p:spPr>
        <p:txBody>
          <a:bodyPr wrap="none" rtlCol="0">
            <a:spAutoFit/>
          </a:bodyPr>
          <a:lstStyle/>
          <a:p>
            <a:r>
              <a:rPr lang="en-GB"/>
              <a:t>Grand Total RM 5,113,530</a:t>
            </a:r>
            <a:endParaRPr lang="en-GB">
              <a:latin typeface="Museo Sans 300"/>
            </a:endParaRPr>
          </a:p>
        </p:txBody>
      </p:sp>
      <p:sp>
        <p:nvSpPr>
          <p:cNvPr id="12" name="TextBox 11">
            <a:extLst>
              <a:ext uri="{FF2B5EF4-FFF2-40B4-BE49-F238E27FC236}">
                <a16:creationId xmlns:a16="http://schemas.microsoft.com/office/drawing/2014/main" id="{AAA74367-BA84-B142-BC84-FC82AA847964}"/>
              </a:ext>
            </a:extLst>
          </p:cNvPr>
          <p:cNvSpPr txBox="1"/>
          <p:nvPr/>
        </p:nvSpPr>
        <p:spPr>
          <a:xfrm>
            <a:off x="390639" y="4009240"/>
            <a:ext cx="8415876" cy="1169551"/>
          </a:xfrm>
          <a:prstGeom prst="rect">
            <a:avLst/>
          </a:prstGeom>
          <a:noFill/>
        </p:spPr>
        <p:txBody>
          <a:bodyPr wrap="square" rtlCol="0">
            <a:spAutoFit/>
          </a:bodyPr>
          <a:lstStyle/>
          <a:p>
            <a:r>
              <a:rPr lang="en-GB" sz="1400"/>
              <a:t>Note : </a:t>
            </a:r>
          </a:p>
          <a:p>
            <a:pPr marL="285750" indent="-285750">
              <a:buFont typeface="Arial" panose="020B0604020202020204" pitchFamily="34" charset="0"/>
              <a:buChar char="•"/>
            </a:pPr>
            <a:r>
              <a:rPr lang="en-GB" sz="1400"/>
              <a:t>Proposed resources are to completed the tasks as per Digital Work &amp; ICT Process for Non-Flagship related SRs, Support Services Request or Infra Requests with Solution Lead in line of sight.</a:t>
            </a:r>
          </a:p>
          <a:p>
            <a:pPr marL="285750" indent="-285750">
              <a:buFont typeface="Arial" panose="020B0604020202020204" pitchFamily="34" charset="0"/>
              <a:buChar char="•"/>
            </a:pPr>
            <a:endParaRPr lang="en-GB" sz="1400"/>
          </a:p>
          <a:p>
            <a:pPr marL="285750" indent="-285750">
              <a:buFont typeface="Arial" panose="020B0604020202020204" pitchFamily="34" charset="0"/>
              <a:buChar char="•"/>
            </a:pPr>
            <a:r>
              <a:rPr lang="en-GB" sz="1400"/>
              <a:t>Total 2027 Submitted Demands ~ 140 (reduction of 27 demands)</a:t>
            </a:r>
          </a:p>
        </p:txBody>
      </p:sp>
    </p:spTree>
    <p:extLst>
      <p:ext uri="{BB962C8B-B14F-4D97-AF65-F5344CB8AC3E}">
        <p14:creationId xmlns:p14="http://schemas.microsoft.com/office/powerpoint/2010/main" val="4102517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5781-D9A7-87F8-899E-9AACAFC19C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E5E9DBD-6B62-2A14-4A8C-790A9F46223C}"/>
              </a:ext>
            </a:extLst>
          </p:cNvPr>
          <p:cNvSpPr>
            <a:spLocks noGrp="1"/>
          </p:cNvSpPr>
          <p:nvPr>
            <p:ph type="title"/>
          </p:nvPr>
        </p:nvSpPr>
        <p:spPr/>
        <p:txBody>
          <a:bodyPr/>
          <a:lstStyle/>
          <a:p>
            <a:r>
              <a:rPr lang="en-GB"/>
              <a:t>Planned New Demands (2027)</a:t>
            </a:r>
          </a:p>
        </p:txBody>
      </p:sp>
      <p:graphicFrame>
        <p:nvGraphicFramePr>
          <p:cNvPr id="8" name="Table 7">
            <a:extLst>
              <a:ext uri="{FF2B5EF4-FFF2-40B4-BE49-F238E27FC236}">
                <a16:creationId xmlns:a16="http://schemas.microsoft.com/office/drawing/2014/main" id="{55E013DB-C4F0-A4FF-6176-822F1CC33B19}"/>
              </a:ext>
            </a:extLst>
          </p:cNvPr>
          <p:cNvGraphicFramePr>
            <a:graphicFrameLocks noGrp="1"/>
          </p:cNvGraphicFramePr>
          <p:nvPr>
            <p:extLst>
              <p:ext uri="{D42A27DB-BD31-4B8C-83A1-F6EECF244321}">
                <p14:modId xmlns:p14="http://schemas.microsoft.com/office/powerpoint/2010/main" val="818505881"/>
              </p:ext>
            </p:extLst>
          </p:nvPr>
        </p:nvGraphicFramePr>
        <p:xfrm>
          <a:off x="657942" y="1208190"/>
          <a:ext cx="7757651" cy="3235960"/>
        </p:xfrm>
        <a:graphic>
          <a:graphicData uri="http://schemas.openxmlformats.org/drawingml/2006/table">
            <a:tbl>
              <a:tblPr firstRow="1" bandRow="1">
                <a:tableStyleId>{5C22544A-7EE6-4342-B048-85BDC9FD1C3A}</a:tableStyleId>
              </a:tblPr>
              <a:tblGrid>
                <a:gridCol w="6106022">
                  <a:extLst>
                    <a:ext uri="{9D8B030D-6E8A-4147-A177-3AD203B41FA5}">
                      <a16:colId xmlns:a16="http://schemas.microsoft.com/office/drawing/2014/main" val="4287142045"/>
                    </a:ext>
                  </a:extLst>
                </a:gridCol>
                <a:gridCol w="1651629">
                  <a:extLst>
                    <a:ext uri="{9D8B030D-6E8A-4147-A177-3AD203B41FA5}">
                      <a16:colId xmlns:a16="http://schemas.microsoft.com/office/drawing/2014/main" val="3960594637"/>
                    </a:ext>
                  </a:extLst>
                </a:gridCol>
              </a:tblGrid>
              <a:tr h="370840">
                <a:tc>
                  <a:txBody>
                    <a:bodyPr/>
                    <a:lstStyle/>
                    <a:p>
                      <a:r>
                        <a:rPr lang="en-GB"/>
                        <a:t>Portfolio</a:t>
                      </a:r>
                    </a:p>
                  </a:txBody>
                  <a:tcPr/>
                </a:tc>
                <a:tc>
                  <a:txBody>
                    <a:bodyPr/>
                    <a:lstStyle/>
                    <a:p>
                      <a:r>
                        <a:rPr lang="en-GB"/>
                        <a:t>Total Demands</a:t>
                      </a:r>
                    </a:p>
                  </a:txBody>
                  <a:tcPr/>
                </a:tc>
                <a:extLst>
                  <a:ext uri="{0D108BD9-81ED-4DB2-BD59-A6C34878D82A}">
                    <a16:rowId xmlns:a16="http://schemas.microsoft.com/office/drawing/2014/main" val="2204507379"/>
                  </a:ext>
                </a:extLst>
              </a:tr>
              <a:tr h="370840">
                <a:tc>
                  <a:txBody>
                    <a:bodyPr/>
                    <a:lstStyle/>
                    <a:p>
                      <a:r>
                        <a:rPr lang="en-GB"/>
                        <a:t>Development</a:t>
                      </a:r>
                    </a:p>
                  </a:txBody>
                  <a:tcPr/>
                </a:tc>
                <a:tc>
                  <a:txBody>
                    <a:bodyPr/>
                    <a:lstStyle/>
                    <a:p>
                      <a:pPr algn="ctr"/>
                      <a:r>
                        <a:rPr lang="en-GB"/>
                        <a:t>21</a:t>
                      </a:r>
                    </a:p>
                  </a:txBody>
                  <a:tcPr/>
                </a:tc>
                <a:extLst>
                  <a:ext uri="{0D108BD9-81ED-4DB2-BD59-A6C34878D82A}">
                    <a16:rowId xmlns:a16="http://schemas.microsoft.com/office/drawing/2014/main" val="103599746"/>
                  </a:ext>
                </a:extLst>
              </a:tr>
              <a:tr h="370840">
                <a:tc>
                  <a:txBody>
                    <a:bodyPr/>
                    <a:lstStyle/>
                    <a:p>
                      <a:r>
                        <a:rPr lang="en-GB"/>
                        <a:t>Production</a:t>
                      </a:r>
                    </a:p>
                  </a:txBody>
                  <a:tcPr/>
                </a:tc>
                <a:tc>
                  <a:txBody>
                    <a:bodyPr/>
                    <a:lstStyle/>
                    <a:p>
                      <a:pPr algn="ctr"/>
                      <a:r>
                        <a:rPr lang="en-GB"/>
                        <a:t>40</a:t>
                      </a:r>
                    </a:p>
                  </a:txBody>
                  <a:tcPr/>
                </a:tc>
                <a:extLst>
                  <a:ext uri="{0D108BD9-81ED-4DB2-BD59-A6C34878D82A}">
                    <a16:rowId xmlns:a16="http://schemas.microsoft.com/office/drawing/2014/main" val="3195218906"/>
                  </a:ext>
                </a:extLst>
              </a:tr>
              <a:tr h="370840">
                <a:tc>
                  <a:txBody>
                    <a:bodyPr/>
                    <a:lstStyle/>
                    <a:p>
                      <a:r>
                        <a:rPr lang="en-GB"/>
                        <a:t>Exploration</a:t>
                      </a:r>
                    </a:p>
                  </a:txBody>
                  <a:tcPr/>
                </a:tc>
                <a:tc>
                  <a:txBody>
                    <a:bodyPr/>
                    <a:lstStyle/>
                    <a:p>
                      <a:pPr algn="ctr"/>
                      <a:r>
                        <a:rPr lang="en-GB"/>
                        <a:t>2</a:t>
                      </a:r>
                    </a:p>
                  </a:txBody>
                  <a:tcPr/>
                </a:tc>
                <a:extLst>
                  <a:ext uri="{0D108BD9-81ED-4DB2-BD59-A6C34878D82A}">
                    <a16:rowId xmlns:a16="http://schemas.microsoft.com/office/drawing/2014/main" val="148584827"/>
                  </a:ext>
                </a:extLst>
              </a:tr>
              <a:tr h="370840">
                <a:tc>
                  <a:txBody>
                    <a:bodyPr/>
                    <a:lstStyle/>
                    <a:p>
                      <a:r>
                        <a:rPr lang="en-GB"/>
                        <a:t>Decarbonisation &amp; Business Excellence</a:t>
                      </a:r>
                    </a:p>
                  </a:txBody>
                  <a:tcPr/>
                </a:tc>
                <a:tc>
                  <a:txBody>
                    <a:bodyPr/>
                    <a:lstStyle/>
                    <a:p>
                      <a:pPr algn="ctr"/>
                      <a:r>
                        <a:rPr lang="en-GB"/>
                        <a:t>21</a:t>
                      </a:r>
                    </a:p>
                  </a:txBody>
                  <a:tcPr/>
                </a:tc>
                <a:extLst>
                  <a:ext uri="{0D108BD9-81ED-4DB2-BD59-A6C34878D82A}">
                    <a16:rowId xmlns:a16="http://schemas.microsoft.com/office/drawing/2014/main" val="693661390"/>
                  </a:ext>
                </a:extLst>
              </a:tr>
              <a:tr h="370840">
                <a:tc>
                  <a:txBody>
                    <a:bodyPr/>
                    <a:lstStyle/>
                    <a:p>
                      <a:r>
                        <a:rPr lang="en-GB"/>
                        <a:t>International Assets</a:t>
                      </a:r>
                    </a:p>
                  </a:txBody>
                  <a:tcPr/>
                </a:tc>
                <a:tc>
                  <a:txBody>
                    <a:bodyPr/>
                    <a:lstStyle/>
                    <a:p>
                      <a:pPr algn="ctr"/>
                      <a:r>
                        <a:rPr lang="en-GB"/>
                        <a:t>22</a:t>
                      </a:r>
                    </a:p>
                  </a:txBody>
                  <a:tcPr/>
                </a:tc>
                <a:extLst>
                  <a:ext uri="{0D108BD9-81ED-4DB2-BD59-A6C34878D82A}">
                    <a16:rowId xmlns:a16="http://schemas.microsoft.com/office/drawing/2014/main" val="412227097"/>
                  </a:ext>
                </a:extLst>
              </a:tr>
              <a:tr h="370840">
                <a:tc>
                  <a:txBody>
                    <a:bodyPr/>
                    <a:lstStyle/>
                    <a:p>
                      <a:r>
                        <a:rPr lang="en-GB"/>
                        <a:t>Malaysia Assets</a:t>
                      </a:r>
                    </a:p>
                  </a:txBody>
                  <a:tcPr/>
                </a:tc>
                <a:tc>
                  <a:txBody>
                    <a:bodyPr/>
                    <a:lstStyle/>
                    <a:p>
                      <a:pPr algn="ctr"/>
                      <a:r>
                        <a:rPr lang="en-GB"/>
                        <a:t>xx</a:t>
                      </a:r>
                    </a:p>
                  </a:txBody>
                  <a:tcPr/>
                </a:tc>
                <a:extLst>
                  <a:ext uri="{0D108BD9-81ED-4DB2-BD59-A6C34878D82A}">
                    <a16:rowId xmlns:a16="http://schemas.microsoft.com/office/drawing/2014/main" val="2545611821"/>
                  </a:ext>
                </a:extLst>
              </a:tr>
              <a:tr h="370840">
                <a:tc>
                  <a:txBody>
                    <a:bodyPr/>
                    <a:lstStyle/>
                    <a:p>
                      <a:pPr algn="r"/>
                      <a:r>
                        <a:rPr lang="en-GB"/>
                        <a:t>Total</a:t>
                      </a:r>
                    </a:p>
                  </a:txBody>
                  <a:tcPr/>
                </a:tc>
                <a:tc>
                  <a:txBody>
                    <a:bodyPr/>
                    <a:lstStyle/>
                    <a:p>
                      <a:pPr algn="ctr"/>
                      <a:r>
                        <a:rPr lang="en-GB"/>
                        <a:t>~106</a:t>
                      </a:r>
                    </a:p>
                  </a:txBody>
                  <a:tcPr/>
                </a:tc>
                <a:extLst>
                  <a:ext uri="{0D108BD9-81ED-4DB2-BD59-A6C34878D82A}">
                    <a16:rowId xmlns:a16="http://schemas.microsoft.com/office/drawing/2014/main" val="956922633"/>
                  </a:ext>
                </a:extLst>
              </a:tr>
            </a:tbl>
          </a:graphicData>
        </a:graphic>
      </p:graphicFrame>
    </p:spTree>
    <p:extLst>
      <p:ext uri="{BB962C8B-B14F-4D97-AF65-F5344CB8AC3E}">
        <p14:creationId xmlns:p14="http://schemas.microsoft.com/office/powerpoint/2010/main" val="974779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ADA04A-3445-146B-6740-15874B748DAE}"/>
              </a:ext>
            </a:extLst>
          </p:cNvPr>
          <p:cNvSpPr>
            <a:spLocks noGrp="1"/>
          </p:cNvSpPr>
          <p:nvPr>
            <p:ph type="title"/>
          </p:nvPr>
        </p:nvSpPr>
        <p:spPr/>
        <p:txBody>
          <a:bodyPr/>
          <a:lstStyle/>
          <a:p>
            <a:r>
              <a:rPr lang="en-GB"/>
              <a:t>Planned TEV request</a:t>
            </a:r>
          </a:p>
        </p:txBody>
      </p:sp>
      <p:graphicFrame>
        <p:nvGraphicFramePr>
          <p:cNvPr id="6" name="Table 5">
            <a:extLst>
              <a:ext uri="{FF2B5EF4-FFF2-40B4-BE49-F238E27FC236}">
                <a16:creationId xmlns:a16="http://schemas.microsoft.com/office/drawing/2014/main" id="{645DA33F-ACA2-C3D3-AA91-12D493120EB1}"/>
              </a:ext>
            </a:extLst>
          </p:cNvPr>
          <p:cNvGraphicFramePr>
            <a:graphicFrameLocks noGrp="1"/>
          </p:cNvGraphicFramePr>
          <p:nvPr>
            <p:extLst>
              <p:ext uri="{D42A27DB-BD31-4B8C-83A1-F6EECF244321}">
                <p14:modId xmlns:p14="http://schemas.microsoft.com/office/powerpoint/2010/main" val="3003708897"/>
              </p:ext>
            </p:extLst>
          </p:nvPr>
        </p:nvGraphicFramePr>
        <p:xfrm>
          <a:off x="580101" y="884903"/>
          <a:ext cx="7973964" cy="4252819"/>
        </p:xfrm>
        <a:graphic>
          <a:graphicData uri="http://schemas.openxmlformats.org/drawingml/2006/table">
            <a:tbl>
              <a:tblPr/>
              <a:tblGrid>
                <a:gridCol w="1993491">
                  <a:extLst>
                    <a:ext uri="{9D8B030D-6E8A-4147-A177-3AD203B41FA5}">
                      <a16:colId xmlns:a16="http://schemas.microsoft.com/office/drawing/2014/main" val="3424298159"/>
                    </a:ext>
                  </a:extLst>
                </a:gridCol>
                <a:gridCol w="1993491">
                  <a:extLst>
                    <a:ext uri="{9D8B030D-6E8A-4147-A177-3AD203B41FA5}">
                      <a16:colId xmlns:a16="http://schemas.microsoft.com/office/drawing/2014/main" val="3225852243"/>
                    </a:ext>
                  </a:extLst>
                </a:gridCol>
                <a:gridCol w="1639266">
                  <a:extLst>
                    <a:ext uri="{9D8B030D-6E8A-4147-A177-3AD203B41FA5}">
                      <a16:colId xmlns:a16="http://schemas.microsoft.com/office/drawing/2014/main" val="3133539146"/>
                    </a:ext>
                  </a:extLst>
                </a:gridCol>
                <a:gridCol w="2347716">
                  <a:extLst>
                    <a:ext uri="{9D8B030D-6E8A-4147-A177-3AD203B41FA5}">
                      <a16:colId xmlns:a16="http://schemas.microsoft.com/office/drawing/2014/main" val="795362450"/>
                    </a:ext>
                  </a:extLst>
                </a:gridCol>
              </a:tblGrid>
              <a:tr h="270020">
                <a:tc>
                  <a:txBody>
                    <a:bodyPr/>
                    <a:lstStyle/>
                    <a:p>
                      <a:pPr>
                        <a:buNone/>
                      </a:pPr>
                      <a:r>
                        <a:rPr lang="en-GB" sz="1200"/>
                        <a:t>NO</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TRIBE</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Total TEV FY2026</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Remarks</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6390055"/>
                  </a:ext>
                </a:extLst>
              </a:tr>
              <a:tr h="675051">
                <a:tc>
                  <a:txBody>
                    <a:bodyPr/>
                    <a:lstStyle/>
                    <a:p>
                      <a:pPr>
                        <a:buNone/>
                      </a:pPr>
                      <a:r>
                        <a:rPr lang="en-GB" sz="1200"/>
                        <a:t>1</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EXP</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3</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1. Mtracker </a:t>
                      </a:r>
                      <a:br>
                        <a:rPr lang="en-GB" sz="1200"/>
                      </a:br>
                      <a:r>
                        <a:rPr lang="en-GB" sz="1200"/>
                        <a:t>2. Curate</a:t>
                      </a:r>
                      <a:br>
                        <a:rPr lang="en-GB" sz="1200"/>
                      </a:br>
                      <a:r>
                        <a:rPr lang="en-GB" sz="1200"/>
                        <a:t>3. Wadugs</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9131981"/>
                  </a:ext>
                </a:extLst>
              </a:tr>
              <a:tr h="1080081">
                <a:tc>
                  <a:txBody>
                    <a:bodyPr/>
                    <a:lstStyle/>
                    <a:p>
                      <a:pPr>
                        <a:buNone/>
                      </a:pPr>
                      <a:r>
                        <a:rPr lang="en-GB" sz="1200"/>
                        <a:t>2</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DEV</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4</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1. Well Collision</a:t>
                      </a:r>
                      <a:br>
                        <a:rPr lang="en-GB" sz="1200"/>
                      </a:br>
                      <a:r>
                        <a:rPr lang="en-GB" sz="1200"/>
                        <a:t>2. AI Cado</a:t>
                      </a:r>
                      <a:br>
                        <a:rPr lang="en-GB" sz="1200"/>
                      </a:br>
                      <a:r>
                        <a:rPr lang="en-GB" sz="1200"/>
                        <a:t>3. KPI Becnhmarking</a:t>
                      </a:r>
                      <a:br>
                        <a:rPr lang="en-GB" sz="1200"/>
                      </a:br>
                      <a:r>
                        <a:rPr lang="en-GB" sz="1200"/>
                        <a:t>4. Edge Gas Lift</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0651081"/>
                  </a:ext>
                </a:extLst>
              </a:tr>
              <a:tr h="1080081">
                <a:tc>
                  <a:txBody>
                    <a:bodyPr/>
                    <a:lstStyle/>
                    <a:p>
                      <a:pPr>
                        <a:buNone/>
                      </a:pPr>
                      <a:r>
                        <a:rPr lang="en-GB" sz="1200"/>
                        <a:t>3</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PROD</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3</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1. Integrated Digital Solution for Upstream Logistic</a:t>
                      </a:r>
                      <a:br>
                        <a:rPr lang="en-GB" sz="1200"/>
                      </a:br>
                      <a:r>
                        <a:rPr lang="en-GB" sz="1200"/>
                        <a:t>2. PI </a:t>
                      </a:r>
                      <a:br>
                        <a:rPr lang="en-GB" sz="1200"/>
                      </a:br>
                      <a:r>
                        <a:rPr lang="en-GB" sz="1200"/>
                        <a:t>3. </a:t>
                      </a:r>
                      <a:r>
                        <a:rPr lang="en-GB" sz="1200" err="1"/>
                        <a:t>Marineset</a:t>
                      </a:r>
                      <a:endParaRPr lang="en-GB" sz="1200"/>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0568709"/>
                  </a:ext>
                </a:extLst>
              </a:tr>
              <a:tr h="270020">
                <a:tc>
                  <a:txBody>
                    <a:bodyPr/>
                    <a:lstStyle/>
                    <a:p>
                      <a:pPr>
                        <a:buNone/>
                      </a:pPr>
                      <a:r>
                        <a:rPr lang="en-GB" sz="1200"/>
                        <a:t>4</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DBE</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0</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 </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216226"/>
                  </a:ext>
                </a:extLst>
              </a:tr>
              <a:tr h="877566">
                <a:tc>
                  <a:txBody>
                    <a:bodyPr/>
                    <a:lstStyle/>
                    <a:p>
                      <a:pPr>
                        <a:buNone/>
                      </a:pPr>
                      <a:r>
                        <a:rPr lang="en-GB" sz="1200"/>
                        <a:t>5</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International Assets</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1</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200"/>
                        <a:t>1. Premises Business Automation Tool for PCTSB</a:t>
                      </a:r>
                    </a:p>
                  </a:txBody>
                  <a:tcPr marL="72693" marR="72693" marT="36347" marB="363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8137759"/>
                  </a:ext>
                </a:extLst>
              </a:tr>
            </a:tbl>
          </a:graphicData>
        </a:graphic>
      </p:graphicFrame>
      <p:sp>
        <p:nvSpPr>
          <p:cNvPr id="7" name="Rectangle 2">
            <a:extLst>
              <a:ext uri="{FF2B5EF4-FFF2-40B4-BE49-F238E27FC236}">
                <a16:creationId xmlns:a16="http://schemas.microsoft.com/office/drawing/2014/main" id="{2C1AD2CD-EE8D-6178-794F-AD112D42CD31}"/>
              </a:ext>
            </a:extLst>
          </p:cNvPr>
          <p:cNvSpPr>
            <a:spLocks noChangeArrowheads="1"/>
          </p:cNvSpPr>
          <p:nvPr/>
        </p:nvSpPr>
        <p:spPr bwMode="auto">
          <a:xfrm>
            <a:off x="1281113" y="130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41207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3B2384-9C42-BDA7-9247-1E5C0819A506}"/>
              </a:ext>
            </a:extLst>
          </p:cNvPr>
          <p:cNvSpPr>
            <a:spLocks noGrp="1"/>
          </p:cNvSpPr>
          <p:nvPr>
            <p:ph type="body" sz="quarter" idx="10"/>
          </p:nvPr>
        </p:nvSpPr>
        <p:spPr/>
        <p:txBody>
          <a:bodyPr/>
          <a:lstStyle/>
          <a:p>
            <a:r>
              <a:rPr lang="en-GB"/>
              <a:t>Flagship</a:t>
            </a:r>
          </a:p>
        </p:txBody>
      </p:sp>
      <p:pic>
        <p:nvPicPr>
          <p:cNvPr id="1026" name="Picture 2">
            <a:extLst>
              <a:ext uri="{FF2B5EF4-FFF2-40B4-BE49-F238E27FC236}">
                <a16:creationId xmlns:a16="http://schemas.microsoft.com/office/drawing/2014/main" id="{697855CC-8B2E-396E-F608-6D0518AFA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0425"/>
            <a:ext cx="9144000" cy="513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120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9" name="Picture 78"/>
          <p:cNvPicPr/>
          <p:nvPr/>
        </p:nvPicPr>
        <p:blipFill>
          <a:blip r:embed="rId5">
            <a:extLst>
              <a:ext uri="{28A0092B-C50C-407E-A947-70E740481C1C}">
                <a14:useLocalDpi xmlns:a14="http://schemas.microsoft.com/office/drawing/2010/main" val="0"/>
              </a:ext>
            </a:extLst>
          </a:blip>
          <a:srcRect/>
          <a:stretch>
            <a:fillRect/>
          </a:stretch>
        </p:blipFill>
        <p:spPr bwMode="auto">
          <a:xfrm>
            <a:off x="6573679" y="637"/>
            <a:ext cx="2570321" cy="669131"/>
          </a:xfrm>
          <a:prstGeom prst="rect">
            <a:avLst/>
          </a:prstGeom>
          <a:noFill/>
        </p:spPr>
      </p:pic>
      <p:sp>
        <p:nvSpPr>
          <p:cNvPr id="5" name="BJPseudoFooter">
            <a:extLst>
              <a:ext uri="{FF2B5EF4-FFF2-40B4-BE49-F238E27FC236}">
                <a16:creationId xmlns:a16="http://schemas.microsoft.com/office/drawing/2014/main" id="{968E4E67-0953-4B1B-A7B6-3D437F339C0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graphicFrame>
        <p:nvGraphicFramePr>
          <p:cNvPr id="12" name="Table 11">
            <a:extLst>
              <a:ext uri="{FF2B5EF4-FFF2-40B4-BE49-F238E27FC236}">
                <a16:creationId xmlns:a16="http://schemas.microsoft.com/office/drawing/2014/main" id="{E534B08D-FD7E-46E7-AD4C-D50B022A1DD8}"/>
              </a:ext>
            </a:extLst>
          </p:cNvPr>
          <p:cNvGraphicFramePr>
            <a:graphicFrameLocks noGrp="1"/>
          </p:cNvGraphicFramePr>
          <p:nvPr>
            <p:extLst>
              <p:ext uri="{D42A27DB-BD31-4B8C-83A1-F6EECF244321}">
                <p14:modId xmlns:p14="http://schemas.microsoft.com/office/powerpoint/2010/main" val="3409657574"/>
              </p:ext>
            </p:extLst>
          </p:nvPr>
        </p:nvGraphicFramePr>
        <p:xfrm>
          <a:off x="355655" y="1086905"/>
          <a:ext cx="8213244" cy="2230189"/>
        </p:xfrm>
        <a:graphic>
          <a:graphicData uri="http://schemas.openxmlformats.org/drawingml/2006/table">
            <a:tbl>
              <a:tblPr firstRow="1" bandRow="1">
                <a:tableStyleId>{5940675A-B579-460E-94D1-54222C63F5DA}</a:tableStyleId>
              </a:tblPr>
              <a:tblGrid>
                <a:gridCol w="1295863">
                  <a:extLst>
                    <a:ext uri="{9D8B030D-6E8A-4147-A177-3AD203B41FA5}">
                      <a16:colId xmlns:a16="http://schemas.microsoft.com/office/drawing/2014/main" val="20000"/>
                    </a:ext>
                  </a:extLst>
                </a:gridCol>
                <a:gridCol w="1569854">
                  <a:extLst>
                    <a:ext uri="{9D8B030D-6E8A-4147-A177-3AD203B41FA5}">
                      <a16:colId xmlns:a16="http://schemas.microsoft.com/office/drawing/2014/main" val="20004"/>
                    </a:ext>
                  </a:extLst>
                </a:gridCol>
                <a:gridCol w="2106241">
                  <a:extLst>
                    <a:ext uri="{9D8B030D-6E8A-4147-A177-3AD203B41FA5}">
                      <a16:colId xmlns:a16="http://schemas.microsoft.com/office/drawing/2014/main" val="3200509039"/>
                    </a:ext>
                  </a:extLst>
                </a:gridCol>
                <a:gridCol w="3241286">
                  <a:extLst>
                    <a:ext uri="{9D8B030D-6E8A-4147-A177-3AD203B41FA5}">
                      <a16:colId xmlns:a16="http://schemas.microsoft.com/office/drawing/2014/main" val="1697289139"/>
                    </a:ext>
                  </a:extLst>
                </a:gridCol>
              </a:tblGrid>
              <a:tr h="548451">
                <a:tc>
                  <a:txBody>
                    <a:bodyPr/>
                    <a:lstStyle/>
                    <a:p>
                      <a:pPr algn="ctr"/>
                      <a:r>
                        <a:rPr lang="en-US" sz="1100" b="1">
                          <a:solidFill>
                            <a:schemeClr val="bg1"/>
                          </a:solidFill>
                          <a:latin typeface="Museo Sans 300"/>
                          <a:ea typeface="Verdana"/>
                          <a:cs typeface="Verdana" panose="020B0604030504040204" pitchFamily="34" charset="0"/>
                        </a:rPr>
                        <a:t>Service Schedule</a:t>
                      </a:r>
                    </a:p>
                  </a:txBody>
                  <a:tcPr marL="68580" marR="68580" marT="34290" marB="34290" anchor="ctr">
                    <a:solidFill>
                      <a:srgbClr val="00B1A9"/>
                    </a:solidFill>
                  </a:tcPr>
                </a:tc>
                <a:tc>
                  <a:txBody>
                    <a:bodyPr/>
                    <a:lstStyle/>
                    <a:p>
                      <a:pPr algn="ctr"/>
                      <a:r>
                        <a:rPr lang="en-US" sz="1100" b="1">
                          <a:solidFill>
                            <a:schemeClr val="bg1"/>
                          </a:solidFill>
                          <a:latin typeface="Museo Sans 300"/>
                          <a:ea typeface="Verdana"/>
                          <a:cs typeface="Verdana" panose="020B0604030504040204" pitchFamily="34" charset="0"/>
                        </a:rPr>
                        <a:t>Date</a:t>
                      </a:r>
                    </a:p>
                  </a:txBody>
                  <a:tcPr marL="68580" marR="68580" marT="34290" marB="34290" anchor="ctr">
                    <a:solidFill>
                      <a:srgbClr val="00B1A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useo Sans 300"/>
                          <a:ea typeface="Verdana"/>
                          <a:cs typeface="Verdana" panose="020B0604030504040204" pitchFamily="34" charset="0"/>
                        </a:rPr>
                        <a:t>Goals</a:t>
                      </a:r>
                    </a:p>
                  </a:txBody>
                  <a:tcPr marL="68580" marR="68580" marT="34290" marB="34290" anchor="ctr">
                    <a:solidFill>
                      <a:srgbClr val="00B1A9"/>
                    </a:solidFill>
                  </a:tcPr>
                </a:tc>
                <a:tc>
                  <a:txBody>
                    <a:bodyPr/>
                    <a:lstStyle/>
                    <a:p>
                      <a:pPr algn="ctr"/>
                      <a:r>
                        <a:rPr lang="en-US" sz="1100" b="1">
                          <a:solidFill>
                            <a:schemeClr val="bg1"/>
                          </a:solidFill>
                          <a:latin typeface="Museo Sans 300"/>
                          <a:ea typeface="Verdana"/>
                          <a:cs typeface="Verdana" panose="020B0604030504040204" pitchFamily="34" charset="0"/>
                        </a:rPr>
                        <a:t>Key Deliverables/Activities</a:t>
                      </a:r>
                    </a:p>
                  </a:txBody>
                  <a:tcPr marL="68580" marR="68580" marT="34290" marB="34290" anchor="ctr">
                    <a:solidFill>
                      <a:srgbClr val="00B1A9"/>
                    </a:solidFill>
                  </a:tcPr>
                </a:tc>
                <a:extLst>
                  <a:ext uri="{0D108BD9-81ED-4DB2-BD59-A6C34878D82A}">
                    <a16:rowId xmlns:a16="http://schemas.microsoft.com/office/drawing/2014/main" val="10000"/>
                  </a:ext>
                </a:extLst>
              </a:tr>
              <a:tr h="594214">
                <a:tc>
                  <a:txBody>
                    <a:bodyPr/>
                    <a:lstStyle/>
                    <a:p>
                      <a:pPr marL="0" marR="0" lvl="0" algn="ctr" defTabSz="914400" rtl="0" eaLnBrk="1" latinLnBrk="0" hangingPunct="1">
                        <a:spcBef>
                          <a:spcPts val="0"/>
                        </a:spcBef>
                        <a:spcAft>
                          <a:spcPts val="0"/>
                        </a:spcAft>
                      </a:pPr>
                      <a:r>
                        <a:rPr lang="en-US" sz="1100" kern="1200">
                          <a:solidFill>
                            <a:schemeClr val="tx1"/>
                          </a:solidFill>
                          <a:effectLst/>
                          <a:latin typeface="Museo Sans 300"/>
                          <a:ea typeface="Verdana"/>
                        </a:rPr>
                        <a:t>Support Services Start</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useo Sans 300"/>
                          <a:ea typeface="Verdana"/>
                          <a:cs typeface="Verdana" panose="020B0604030504040204" pitchFamily="34" charset="0"/>
                        </a:rPr>
                        <a:t>January 2025</a:t>
                      </a:r>
                    </a:p>
                  </a:txBody>
                  <a:tcPr marL="0" marR="0" marT="0" marB="0" anchor="ctr"/>
                </a:tc>
                <a:tc>
                  <a:txBody>
                    <a:bodyPr/>
                    <a:lstStyle/>
                    <a:p>
                      <a:pPr marL="121920" indent="0" algn="l" rtl="0" fontAlgn="ctr">
                        <a:buFont typeface="Arial" panose="020B0604020202020204" pitchFamily="34" charset="0"/>
                        <a:buNone/>
                      </a:pPr>
                      <a:r>
                        <a:rPr lang="en-US" sz="1100" b="0" i="0" u="none" strike="noStrike">
                          <a:solidFill>
                            <a:schemeClr val="tx1"/>
                          </a:solidFill>
                          <a:effectLst/>
                          <a:latin typeface="Museo Sans 300"/>
                          <a:ea typeface="Verdana"/>
                          <a:cs typeface="Verdana" panose="020B0604030504040204" pitchFamily="34" charset="0"/>
                        </a:rPr>
                        <a:t>Support Services started</a:t>
                      </a:r>
                    </a:p>
                  </a:txBody>
                  <a:tcPr marL="0" marR="0" marT="0" marB="0" anchor="ctr"/>
                </a:tc>
                <a:tc>
                  <a:txBody>
                    <a:bodyPr/>
                    <a:lstStyle/>
                    <a:p>
                      <a:pPr marL="171450" marR="6350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kern="1200">
                          <a:solidFill>
                            <a:schemeClr val="tx1"/>
                          </a:solidFill>
                          <a:latin typeface="Museo Sans 300"/>
                          <a:ea typeface="Verdana"/>
                          <a:cs typeface="Verdana" panose="020B0604030504040204" pitchFamily="34" charset="0"/>
                        </a:rPr>
                        <a:t>Support Services</a:t>
                      </a:r>
                    </a:p>
                  </a:txBody>
                  <a:tcPr marL="0" marR="0" marT="0" marB="0" anchor="ctr"/>
                </a:tc>
                <a:extLst>
                  <a:ext uri="{0D108BD9-81ED-4DB2-BD59-A6C34878D82A}">
                    <a16:rowId xmlns:a16="http://schemas.microsoft.com/office/drawing/2014/main" val="2318679268"/>
                  </a:ext>
                </a:extLst>
              </a:tr>
              <a:tr h="594214">
                <a:tc>
                  <a:txBody>
                    <a:bodyPr/>
                    <a:lstStyle/>
                    <a:p>
                      <a:pPr marL="0" marR="0" lvl="0" algn="ctr" defTabSz="914400" rtl="0" eaLnBrk="1" latinLnBrk="0" hangingPunct="1">
                        <a:spcBef>
                          <a:spcPts val="0"/>
                        </a:spcBef>
                        <a:spcAft>
                          <a:spcPts val="0"/>
                        </a:spcAft>
                      </a:pPr>
                      <a:r>
                        <a:rPr lang="en-US" sz="1100" kern="1200">
                          <a:solidFill>
                            <a:schemeClr val="tx1"/>
                          </a:solidFill>
                          <a:effectLst/>
                          <a:latin typeface="Museo Sans 300"/>
                          <a:ea typeface="Verdana"/>
                        </a:rPr>
                        <a:t>Cost Recovery</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useo Sans 300"/>
                          <a:ea typeface="Verdana"/>
                          <a:cs typeface="Verdana" panose="020B0604030504040204" pitchFamily="34" charset="0"/>
                        </a:rPr>
                        <a:t>September 2025</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useo Sans 300"/>
                          <a:ea typeface="Verdana"/>
                          <a:cs typeface="Verdana" panose="020B0604030504040204" pitchFamily="34" charset="0"/>
                        </a:rPr>
                        <a:t>December 2025</a:t>
                      </a:r>
                    </a:p>
                  </a:txBody>
                  <a:tcPr marL="0" marR="0" marT="0" marB="0" anchor="ctr"/>
                </a:tc>
                <a:tc>
                  <a:txBody>
                    <a:bodyPr/>
                    <a:lstStyle/>
                    <a:p>
                      <a:pPr marL="121920" indent="0" algn="l" rtl="0" fontAlgn="ctr">
                        <a:buFont typeface="Arial" panose="020B0604020202020204" pitchFamily="34" charset="0"/>
                        <a:buNone/>
                      </a:pPr>
                      <a:r>
                        <a:rPr lang="en-US" sz="1100" kern="1200">
                          <a:solidFill>
                            <a:schemeClr val="tx1"/>
                          </a:solidFill>
                          <a:latin typeface="Museo Sans 300"/>
                          <a:ea typeface="Verdana"/>
                          <a:cs typeface="Verdana" panose="020B0604030504040204" pitchFamily="34" charset="0"/>
                        </a:rPr>
                        <a:t>Bill UTDI 001 once a year (lump)</a:t>
                      </a:r>
                    </a:p>
                  </a:txBody>
                  <a:tcPr marL="0" marR="0" marT="0" marB="0" anchor="ctr"/>
                </a:tc>
                <a:tc>
                  <a:txBody>
                    <a:bodyPr/>
                    <a:lstStyle/>
                    <a:p>
                      <a:pPr marL="107950" marR="63500" lvl="0" indent="-1079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kern="1200">
                          <a:solidFill>
                            <a:schemeClr val="tx1"/>
                          </a:solidFill>
                          <a:latin typeface="Museo Sans 300"/>
                          <a:ea typeface="Verdana"/>
                          <a:cs typeface="Verdana" panose="020B0604030504040204" pitchFamily="34" charset="0"/>
                        </a:rPr>
                        <a:t>Cost recovery will be done via GFS to Business Cost Center. </a:t>
                      </a:r>
                    </a:p>
                  </a:txBody>
                  <a:tcPr marL="0" marR="0" marT="0" marB="0" anchor="ctr"/>
                </a:tc>
                <a:extLst>
                  <a:ext uri="{0D108BD9-81ED-4DB2-BD59-A6C34878D82A}">
                    <a16:rowId xmlns:a16="http://schemas.microsoft.com/office/drawing/2014/main" val="272329397"/>
                  </a:ext>
                </a:extLst>
              </a:tr>
              <a:tr h="493310">
                <a:tc>
                  <a:txBody>
                    <a:bodyPr/>
                    <a:lstStyle/>
                    <a:p>
                      <a:pPr marL="0" marR="0" lvl="0" algn="ctr" defTabSz="914400" rtl="0" eaLnBrk="1" latinLnBrk="0" hangingPunct="1">
                        <a:spcBef>
                          <a:spcPts val="0"/>
                        </a:spcBef>
                        <a:spcAft>
                          <a:spcPts val="0"/>
                        </a:spcAft>
                      </a:pPr>
                      <a:r>
                        <a:rPr lang="en-US" sz="1100" kern="1200">
                          <a:solidFill>
                            <a:schemeClr val="tx1"/>
                          </a:solidFill>
                          <a:effectLst/>
                          <a:latin typeface="Museo Sans 300"/>
                          <a:ea typeface="Verdana"/>
                        </a:rPr>
                        <a:t>Closure</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useo Sans 300"/>
                          <a:ea typeface="Verdana"/>
                          <a:cs typeface="Verdana" panose="020B0604030504040204" pitchFamily="34" charset="0"/>
                        </a:rPr>
                        <a:t>December 2025</a:t>
                      </a:r>
                    </a:p>
                  </a:txBody>
                  <a:tcPr marL="0" marR="0" marT="0" marB="0" anchor="ctr"/>
                </a:tc>
                <a:tc>
                  <a:txBody>
                    <a:bodyPr/>
                    <a:lstStyle/>
                    <a:p>
                      <a:pPr marL="121920" indent="0" algn="l" rtl="0" fontAlgn="ctr">
                        <a:buFont typeface="Arial" panose="020B0604020202020204" pitchFamily="34" charset="0"/>
                        <a:buNone/>
                      </a:pPr>
                      <a:r>
                        <a:rPr lang="en-US" sz="1100" b="0" i="0" u="none" strike="noStrike">
                          <a:solidFill>
                            <a:schemeClr val="tx1"/>
                          </a:solidFill>
                          <a:effectLst/>
                          <a:latin typeface="Museo Sans 300"/>
                          <a:ea typeface="Verdana"/>
                          <a:cs typeface="Verdana" panose="020B0604030504040204" pitchFamily="34" charset="0"/>
                        </a:rPr>
                        <a:t>Support services closure</a:t>
                      </a:r>
                    </a:p>
                  </a:txBody>
                  <a:tcPr marL="0" marR="0" marT="0" marB="0" anchor="ctr"/>
                </a:tc>
                <a:tc>
                  <a:txBody>
                    <a:bodyPr/>
                    <a:lstStyle/>
                    <a:p>
                      <a:pPr marL="107950" marR="63500" lvl="0" indent="-1079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kern="1200">
                          <a:solidFill>
                            <a:schemeClr val="tx1"/>
                          </a:solidFill>
                          <a:latin typeface="Museo Sans 300"/>
                          <a:ea typeface="Verdana"/>
                          <a:cs typeface="Verdana" panose="020B0604030504040204" pitchFamily="34" charset="0"/>
                        </a:rPr>
                        <a:t>Closure activities</a:t>
                      </a:r>
                    </a:p>
                  </a:txBody>
                  <a:tcPr marL="0" marR="0" marT="0" marB="0" anchor="ctr"/>
                </a:tc>
                <a:extLst>
                  <a:ext uri="{0D108BD9-81ED-4DB2-BD59-A6C34878D82A}">
                    <a16:rowId xmlns:a16="http://schemas.microsoft.com/office/drawing/2014/main" val="2210267542"/>
                  </a:ext>
                </a:extLst>
              </a:tr>
            </a:tbl>
          </a:graphicData>
        </a:graphic>
      </p:graphicFrame>
      <p:sp>
        <p:nvSpPr>
          <p:cNvPr id="343" name="Title 1"/>
          <p:cNvSpPr>
            <a:spLocks noGrp="1"/>
          </p:cNvSpPr>
          <p:nvPr>
            <p:ph type="title"/>
          </p:nvPr>
        </p:nvSpPr>
        <p:spPr>
          <a:xfrm>
            <a:off x="196487" y="161982"/>
            <a:ext cx="6305913"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2.2 Services &amp; Deliverables – Product &amp; Services Subscription</a:t>
            </a:r>
            <a:br>
              <a:rPr lang="en-US" b="1">
                <a:latin typeface="Museo Sans 900" panose="02000000000000000000" pitchFamily="50" charset="0"/>
                <a:ea typeface="Verdana" panose="020B0604030504040204" pitchFamily="34" charset="0"/>
                <a:cs typeface="Verdana" panose="020B0604030504040204" pitchFamily="34" charset="0"/>
              </a:rPr>
            </a:br>
            <a:r>
              <a:rPr lang="en-US" b="1">
                <a:latin typeface="Museo Sans 900" panose="02000000000000000000" pitchFamily="50"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170264686"/>
      </p:ext>
    </p:extLst>
  </p:cSld>
  <p:clrMapOvr>
    <a:masterClrMapping/>
  </p:clrMapOvr>
  <p:extLst>
    <p:ext uri="{6950BFC3-D8DA-4A85-94F7-54DA5524770B}">
      <p188:commentRel xmlns:p188="http://schemas.microsoft.com/office/powerpoint/2018/8/main" r:id="rId4"/>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A5D1B-8B37-EDCB-34F9-C775BABF660E}"/>
            </a:ext>
          </a:extLst>
        </p:cNvPr>
        <p:cNvGrpSpPr/>
        <p:nvPr/>
      </p:nvGrpSpPr>
      <p:grpSpPr>
        <a:xfrm>
          <a:off x="0" y="0"/>
          <a:ext cx="0" cy="0"/>
          <a:chOff x="0" y="0"/>
          <a:chExt cx="0" cy="0"/>
        </a:xfrm>
      </p:grpSpPr>
      <p:pic>
        <p:nvPicPr>
          <p:cNvPr id="79" name="Picture 78">
            <a:extLst>
              <a:ext uri="{FF2B5EF4-FFF2-40B4-BE49-F238E27FC236}">
                <a16:creationId xmlns:a16="http://schemas.microsoft.com/office/drawing/2014/main" id="{718765EA-52D8-B837-76E7-9E4E3087B435}"/>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73679" y="637"/>
            <a:ext cx="2570321" cy="669131"/>
          </a:xfrm>
          <a:prstGeom prst="rect">
            <a:avLst/>
          </a:prstGeom>
          <a:noFill/>
        </p:spPr>
      </p:pic>
      <p:sp>
        <p:nvSpPr>
          <p:cNvPr id="5" name="BJPseudoFooter">
            <a:extLst>
              <a:ext uri="{FF2B5EF4-FFF2-40B4-BE49-F238E27FC236}">
                <a16:creationId xmlns:a16="http://schemas.microsoft.com/office/drawing/2014/main" id="{31F19616-42F0-5D7D-6189-F16DE14B0DF9}"/>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graphicFrame>
        <p:nvGraphicFramePr>
          <p:cNvPr id="12" name="Table 11">
            <a:extLst>
              <a:ext uri="{FF2B5EF4-FFF2-40B4-BE49-F238E27FC236}">
                <a16:creationId xmlns:a16="http://schemas.microsoft.com/office/drawing/2014/main" id="{10CDF4A2-90D3-B91A-B169-C3EB1D6E206D}"/>
              </a:ext>
            </a:extLst>
          </p:cNvPr>
          <p:cNvGraphicFramePr>
            <a:graphicFrameLocks noGrp="1"/>
          </p:cNvGraphicFramePr>
          <p:nvPr>
            <p:extLst>
              <p:ext uri="{D42A27DB-BD31-4B8C-83A1-F6EECF244321}">
                <p14:modId xmlns:p14="http://schemas.microsoft.com/office/powerpoint/2010/main" val="1848600190"/>
              </p:ext>
            </p:extLst>
          </p:nvPr>
        </p:nvGraphicFramePr>
        <p:xfrm>
          <a:off x="355655" y="1086905"/>
          <a:ext cx="8213244" cy="1736879"/>
        </p:xfrm>
        <a:graphic>
          <a:graphicData uri="http://schemas.openxmlformats.org/drawingml/2006/table">
            <a:tbl>
              <a:tblPr firstRow="1" bandRow="1">
                <a:tableStyleId>{5940675A-B579-460E-94D1-54222C63F5DA}</a:tableStyleId>
              </a:tblPr>
              <a:tblGrid>
                <a:gridCol w="1295863">
                  <a:extLst>
                    <a:ext uri="{9D8B030D-6E8A-4147-A177-3AD203B41FA5}">
                      <a16:colId xmlns:a16="http://schemas.microsoft.com/office/drawing/2014/main" val="20000"/>
                    </a:ext>
                  </a:extLst>
                </a:gridCol>
                <a:gridCol w="1569854">
                  <a:extLst>
                    <a:ext uri="{9D8B030D-6E8A-4147-A177-3AD203B41FA5}">
                      <a16:colId xmlns:a16="http://schemas.microsoft.com/office/drawing/2014/main" val="20004"/>
                    </a:ext>
                  </a:extLst>
                </a:gridCol>
                <a:gridCol w="2106241">
                  <a:extLst>
                    <a:ext uri="{9D8B030D-6E8A-4147-A177-3AD203B41FA5}">
                      <a16:colId xmlns:a16="http://schemas.microsoft.com/office/drawing/2014/main" val="3200509039"/>
                    </a:ext>
                  </a:extLst>
                </a:gridCol>
                <a:gridCol w="3241286">
                  <a:extLst>
                    <a:ext uri="{9D8B030D-6E8A-4147-A177-3AD203B41FA5}">
                      <a16:colId xmlns:a16="http://schemas.microsoft.com/office/drawing/2014/main" val="1697289139"/>
                    </a:ext>
                  </a:extLst>
                </a:gridCol>
              </a:tblGrid>
              <a:tr h="548451">
                <a:tc>
                  <a:txBody>
                    <a:bodyPr/>
                    <a:lstStyle/>
                    <a:p>
                      <a:pPr algn="ctr"/>
                      <a:r>
                        <a:rPr lang="en-US" sz="1100" b="1">
                          <a:solidFill>
                            <a:schemeClr val="bg1"/>
                          </a:solidFill>
                          <a:latin typeface="Museo Sans 300"/>
                          <a:ea typeface="Verdana"/>
                          <a:cs typeface="Verdana" panose="020B0604030504040204" pitchFamily="34" charset="0"/>
                        </a:rPr>
                        <a:t>Service Schedule</a:t>
                      </a:r>
                    </a:p>
                  </a:txBody>
                  <a:tcPr marL="68580" marR="68580" marT="34290" marB="34290" anchor="ctr">
                    <a:solidFill>
                      <a:srgbClr val="00B1A9"/>
                    </a:solidFill>
                  </a:tcPr>
                </a:tc>
                <a:tc>
                  <a:txBody>
                    <a:bodyPr/>
                    <a:lstStyle/>
                    <a:p>
                      <a:pPr algn="ctr"/>
                      <a:r>
                        <a:rPr lang="en-US" sz="1100" b="1">
                          <a:solidFill>
                            <a:schemeClr val="bg1"/>
                          </a:solidFill>
                          <a:latin typeface="Museo Sans 300"/>
                          <a:ea typeface="Verdana"/>
                          <a:cs typeface="Verdana" panose="020B0604030504040204" pitchFamily="34" charset="0"/>
                        </a:rPr>
                        <a:t>Date</a:t>
                      </a:r>
                    </a:p>
                  </a:txBody>
                  <a:tcPr marL="68580" marR="68580" marT="34290" marB="34290" anchor="ctr">
                    <a:solidFill>
                      <a:srgbClr val="00B1A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useo Sans 300"/>
                          <a:ea typeface="Verdana"/>
                          <a:cs typeface="Verdana" panose="020B0604030504040204" pitchFamily="34" charset="0"/>
                        </a:rPr>
                        <a:t>Goals</a:t>
                      </a:r>
                    </a:p>
                  </a:txBody>
                  <a:tcPr marL="68580" marR="68580" marT="34290" marB="34290" anchor="ctr">
                    <a:solidFill>
                      <a:srgbClr val="00B1A9"/>
                    </a:solidFill>
                  </a:tcPr>
                </a:tc>
                <a:tc>
                  <a:txBody>
                    <a:bodyPr/>
                    <a:lstStyle/>
                    <a:p>
                      <a:pPr algn="ctr"/>
                      <a:r>
                        <a:rPr lang="en-US" sz="1100" b="1">
                          <a:solidFill>
                            <a:schemeClr val="bg1"/>
                          </a:solidFill>
                          <a:latin typeface="Museo Sans 300"/>
                          <a:ea typeface="Verdana"/>
                          <a:cs typeface="Verdana" panose="020B0604030504040204" pitchFamily="34" charset="0"/>
                        </a:rPr>
                        <a:t>Key Deliverables/Activities</a:t>
                      </a:r>
                    </a:p>
                  </a:txBody>
                  <a:tcPr marL="68580" marR="68580" marT="34290" marB="34290" anchor="ctr">
                    <a:solidFill>
                      <a:srgbClr val="00B1A9"/>
                    </a:solidFill>
                  </a:tcPr>
                </a:tc>
                <a:extLst>
                  <a:ext uri="{0D108BD9-81ED-4DB2-BD59-A6C34878D82A}">
                    <a16:rowId xmlns:a16="http://schemas.microsoft.com/office/drawing/2014/main" val="10000"/>
                  </a:ext>
                </a:extLst>
              </a:tr>
              <a:tr h="594214">
                <a:tc>
                  <a:txBody>
                    <a:bodyPr/>
                    <a:lstStyle/>
                    <a:p>
                      <a:pPr marL="0" marR="0" lvl="0" algn="ctr" defTabSz="914400" rtl="0" eaLnBrk="1" latinLnBrk="0" hangingPunct="1">
                        <a:spcBef>
                          <a:spcPts val="0"/>
                        </a:spcBef>
                        <a:spcAft>
                          <a:spcPts val="0"/>
                        </a:spcAft>
                      </a:pPr>
                      <a:r>
                        <a:rPr lang="en-US" sz="1100" kern="1200">
                          <a:solidFill>
                            <a:schemeClr val="tx1"/>
                          </a:solidFill>
                          <a:effectLst/>
                          <a:latin typeface="Museo Sans 300"/>
                          <a:ea typeface="Verdana"/>
                        </a:rPr>
                        <a:t>Support Services Start</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useo Sans 300"/>
                          <a:ea typeface="Verdana"/>
                          <a:cs typeface="Verdana" panose="020B0604030504040204" pitchFamily="34" charset="0"/>
                        </a:rPr>
                        <a:t>July 2026</a:t>
                      </a:r>
                    </a:p>
                  </a:txBody>
                  <a:tcPr marL="0" marR="0" marT="0" marB="0" anchor="ctr"/>
                </a:tc>
                <a:tc>
                  <a:txBody>
                    <a:bodyPr/>
                    <a:lstStyle/>
                    <a:p>
                      <a:pPr marL="121920" indent="0" algn="l" rtl="0" fontAlgn="ctr">
                        <a:buFont typeface="Arial" panose="020B0604020202020204" pitchFamily="34" charset="0"/>
                        <a:buNone/>
                      </a:pPr>
                      <a:r>
                        <a:rPr lang="en-US" sz="1100" b="0" i="0" u="none" strike="noStrike">
                          <a:solidFill>
                            <a:schemeClr val="tx1"/>
                          </a:solidFill>
                          <a:effectLst/>
                          <a:latin typeface="Museo Sans 300"/>
                          <a:ea typeface="Verdana"/>
                          <a:cs typeface="Verdana" panose="020B0604030504040204" pitchFamily="34" charset="0"/>
                        </a:rPr>
                        <a:t>Support Services started</a:t>
                      </a:r>
                    </a:p>
                  </a:txBody>
                  <a:tcPr marL="0" marR="0" marT="0" marB="0" anchor="ctr"/>
                </a:tc>
                <a:tc>
                  <a:txBody>
                    <a:bodyPr/>
                    <a:lstStyle/>
                    <a:p>
                      <a:pPr marL="171450" marR="6350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kern="1200">
                          <a:solidFill>
                            <a:schemeClr val="tx1"/>
                          </a:solidFill>
                          <a:latin typeface="Museo Sans 300"/>
                          <a:ea typeface="Verdana"/>
                          <a:cs typeface="Verdana" panose="020B0604030504040204" pitchFamily="34" charset="0"/>
                        </a:rPr>
                        <a:t>Support Services</a:t>
                      </a:r>
                    </a:p>
                  </a:txBody>
                  <a:tcPr marL="0" marR="0" marT="0" marB="0" anchor="ctr"/>
                </a:tc>
                <a:extLst>
                  <a:ext uri="{0D108BD9-81ED-4DB2-BD59-A6C34878D82A}">
                    <a16:rowId xmlns:a16="http://schemas.microsoft.com/office/drawing/2014/main" val="2318679268"/>
                  </a:ext>
                </a:extLst>
              </a:tr>
              <a:tr h="594214">
                <a:tc>
                  <a:txBody>
                    <a:bodyPr/>
                    <a:lstStyle/>
                    <a:p>
                      <a:pPr marL="0" marR="0" lvl="0" algn="ctr" defTabSz="914400" rtl="0" eaLnBrk="1" latinLnBrk="0" hangingPunct="1">
                        <a:spcBef>
                          <a:spcPts val="0"/>
                        </a:spcBef>
                        <a:spcAft>
                          <a:spcPts val="0"/>
                        </a:spcAft>
                      </a:pPr>
                      <a:r>
                        <a:rPr lang="en-US" sz="1100" kern="1200">
                          <a:solidFill>
                            <a:schemeClr val="tx1"/>
                          </a:solidFill>
                          <a:effectLst/>
                          <a:latin typeface="Museo Sans 300"/>
                          <a:ea typeface="Verdana"/>
                        </a:rPr>
                        <a:t>Closure</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useo Sans 300"/>
                          <a:ea typeface="Verdana"/>
                          <a:cs typeface="Verdana" panose="020B0604030504040204" pitchFamily="34" charset="0"/>
                        </a:rPr>
                        <a:t>December 2026</a:t>
                      </a:r>
                    </a:p>
                  </a:txBody>
                  <a:tcPr marL="0" marR="0" marT="0" marB="0" anchor="ctr"/>
                </a:tc>
                <a:tc>
                  <a:txBody>
                    <a:bodyPr/>
                    <a:lstStyle/>
                    <a:p>
                      <a:pPr marL="121920" indent="0" algn="l" rtl="0" fontAlgn="ctr">
                        <a:buFont typeface="Arial" panose="020B0604020202020204" pitchFamily="34" charset="0"/>
                        <a:buNone/>
                      </a:pPr>
                      <a:r>
                        <a:rPr lang="en-US" sz="1100" b="0" i="0" u="none" strike="noStrike">
                          <a:solidFill>
                            <a:schemeClr val="tx1"/>
                          </a:solidFill>
                          <a:effectLst/>
                          <a:latin typeface="Museo Sans 300"/>
                          <a:ea typeface="Verdana"/>
                          <a:cs typeface="Verdana" panose="020B0604030504040204" pitchFamily="34" charset="0"/>
                        </a:rPr>
                        <a:t>Support services closure</a:t>
                      </a:r>
                    </a:p>
                  </a:txBody>
                  <a:tcPr marL="0" marR="0" marT="0" marB="0" anchor="ctr"/>
                </a:tc>
                <a:tc>
                  <a:txBody>
                    <a:bodyPr/>
                    <a:lstStyle/>
                    <a:p>
                      <a:pPr marL="107950" marR="63500" lvl="0" indent="-1079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kern="1200">
                          <a:solidFill>
                            <a:schemeClr val="tx1"/>
                          </a:solidFill>
                          <a:latin typeface="Museo Sans 300"/>
                          <a:ea typeface="Verdana"/>
                          <a:cs typeface="Verdana" panose="020B0604030504040204" pitchFamily="34" charset="0"/>
                        </a:rPr>
                        <a:t>Closure activities</a:t>
                      </a:r>
                    </a:p>
                  </a:txBody>
                  <a:tcPr marL="0" marR="0" marT="0" marB="0" anchor="ctr"/>
                </a:tc>
                <a:extLst>
                  <a:ext uri="{0D108BD9-81ED-4DB2-BD59-A6C34878D82A}">
                    <a16:rowId xmlns:a16="http://schemas.microsoft.com/office/drawing/2014/main" val="272329397"/>
                  </a:ext>
                </a:extLst>
              </a:tr>
            </a:tbl>
          </a:graphicData>
        </a:graphic>
      </p:graphicFrame>
      <p:sp>
        <p:nvSpPr>
          <p:cNvPr id="343" name="Title 1">
            <a:extLst>
              <a:ext uri="{FF2B5EF4-FFF2-40B4-BE49-F238E27FC236}">
                <a16:creationId xmlns:a16="http://schemas.microsoft.com/office/drawing/2014/main" id="{E6AF8B1B-38EB-4119-670B-590A05D4AA82}"/>
              </a:ext>
            </a:extLst>
          </p:cNvPr>
          <p:cNvSpPr>
            <a:spLocks noGrp="1"/>
          </p:cNvSpPr>
          <p:nvPr>
            <p:ph type="title"/>
          </p:nvPr>
        </p:nvSpPr>
        <p:spPr>
          <a:xfrm>
            <a:off x="196487" y="161982"/>
            <a:ext cx="6305913"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2.2 Services &amp; Deliverables – Product &amp; Services Subscription</a:t>
            </a:r>
            <a:br>
              <a:rPr lang="en-US" b="1">
                <a:latin typeface="Museo Sans 900" panose="02000000000000000000" pitchFamily="50" charset="0"/>
                <a:ea typeface="Verdana" panose="020B0604030504040204" pitchFamily="34" charset="0"/>
                <a:cs typeface="Verdana" panose="020B0604030504040204" pitchFamily="34" charset="0"/>
              </a:rPr>
            </a:br>
            <a:r>
              <a:rPr lang="en-US" b="1">
                <a:latin typeface="Museo Sans 900" panose="02000000000000000000" pitchFamily="50"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170080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3318940926"/>
              </p:ext>
            </p:extLst>
          </p:nvPr>
        </p:nvGraphicFramePr>
        <p:xfrm>
          <a:off x="444010" y="1355252"/>
          <a:ext cx="8159590" cy="2086962"/>
        </p:xfrm>
        <a:graphic>
          <a:graphicData uri="http://schemas.openxmlformats.org/drawingml/2006/table">
            <a:tbl>
              <a:tblPr>
                <a:tableStyleId>{5940675A-B579-460E-94D1-54222C63F5DA}</a:tableStyleId>
              </a:tblPr>
              <a:tblGrid>
                <a:gridCol w="919411">
                  <a:extLst>
                    <a:ext uri="{9D8B030D-6E8A-4147-A177-3AD203B41FA5}">
                      <a16:colId xmlns:a16="http://schemas.microsoft.com/office/drawing/2014/main" val="20000"/>
                    </a:ext>
                  </a:extLst>
                </a:gridCol>
                <a:gridCol w="7240179">
                  <a:extLst>
                    <a:ext uri="{9D8B030D-6E8A-4147-A177-3AD203B41FA5}">
                      <a16:colId xmlns:a16="http://schemas.microsoft.com/office/drawing/2014/main" val="20001"/>
                    </a:ext>
                  </a:extLst>
                </a:gridCol>
              </a:tblGrid>
              <a:tr h="396548">
                <a:tc>
                  <a:txBody>
                    <a:bodyPr/>
                    <a:lstStyle/>
                    <a:p>
                      <a:pPr algn="ctr" fontAlgn="t"/>
                      <a:r>
                        <a:rPr lang="en-PH" sz="1200" b="1" u="none" strike="noStrike">
                          <a:solidFill>
                            <a:schemeClr val="bg2"/>
                          </a:solidFill>
                          <a:effectLst/>
                          <a:latin typeface="Museo Sans 300"/>
                          <a:ea typeface="Verdana"/>
                          <a:cs typeface="Verdana" panose="020B0604030504040204" pitchFamily="34" charset="0"/>
                        </a:rPr>
                        <a:t>No</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tc>
                  <a:txBody>
                    <a:bodyPr/>
                    <a:lstStyle/>
                    <a:p>
                      <a:pPr algn="ctr" fontAlgn="t"/>
                      <a:r>
                        <a:rPr lang="en-PH" sz="1200" b="1" i="0" u="none" strike="noStrike" baseline="0">
                          <a:solidFill>
                            <a:schemeClr val="bg2"/>
                          </a:solidFill>
                          <a:effectLst/>
                          <a:latin typeface="Museo Sans 300"/>
                          <a:ea typeface="Verdana"/>
                          <a:cs typeface="Verdana" panose="020B0604030504040204" pitchFamily="34" charset="0"/>
                        </a:rPr>
                        <a:t>Assumptions</a:t>
                      </a:r>
                      <a:endParaRPr lang="en-PH" sz="1200" b="1" i="0" u="none" strike="noStrike">
                        <a:solidFill>
                          <a:schemeClr val="bg2"/>
                        </a:solidFill>
                        <a:effectLst/>
                        <a:latin typeface="Museo Sans 300"/>
                        <a:ea typeface="Verdana"/>
                        <a:cs typeface="Verdana" panose="020B0604030504040204" pitchFamily="34" charset="0"/>
                      </a:endParaRPr>
                    </a:p>
                  </a:txBody>
                  <a:tcPr marL="1329" marR="1329" marT="1329" marB="0" anchor="ctr">
                    <a:solidFill>
                      <a:srgbClr val="00B1A9"/>
                    </a:solidFill>
                  </a:tcPr>
                </a:tc>
                <a:extLst>
                  <a:ext uri="{0D108BD9-81ED-4DB2-BD59-A6C34878D82A}">
                    <a16:rowId xmlns:a16="http://schemas.microsoft.com/office/drawing/2014/main" val="10000"/>
                  </a:ext>
                </a:extLst>
              </a:tr>
              <a:tr h="490877">
                <a:tc>
                  <a:txBody>
                    <a:bodyPr/>
                    <a:lstStyle/>
                    <a:p>
                      <a:pPr algn="ctr" fontAlgn="t"/>
                      <a:r>
                        <a:rPr lang="en-US" sz="1200" u="none" strike="noStrike">
                          <a:effectLst/>
                          <a:latin typeface="Museo Sans 300"/>
                          <a:ea typeface="Verdana"/>
                          <a:cs typeface="Verdana" panose="020B0604030504040204" pitchFamily="34" charset="0"/>
                        </a:rPr>
                        <a:t>1</a:t>
                      </a:r>
                      <a:endParaRPr lang="en-US" sz="1200" b="0" i="0" u="none" strike="noStrike">
                        <a:solidFill>
                          <a:schemeClr val="tx1"/>
                        </a:solidFill>
                        <a:effectLst/>
                        <a:latin typeface="Museo Sans 300"/>
                        <a:ea typeface="Verdana"/>
                        <a:cs typeface="Verdana" panose="020B0604030504040204" pitchFamily="34" charset="0"/>
                      </a:endParaRPr>
                    </a:p>
                  </a:txBody>
                  <a:tcPr marL="34290" marR="34290" marT="34290" marB="34290" anchor="ctr"/>
                </a:tc>
                <a:tc>
                  <a:txBody>
                    <a:bodyPr/>
                    <a:lstStyle/>
                    <a:p>
                      <a:pPr algn="just" fontAlgn="t"/>
                      <a:r>
                        <a:rPr lang="en-US" sz="1200" u="none" strike="noStrike" kern="1200">
                          <a:solidFill>
                            <a:schemeClr val="tx1"/>
                          </a:solidFill>
                          <a:effectLst/>
                          <a:latin typeface="Museo Sans 300"/>
                          <a:ea typeface="Verdana"/>
                          <a:cs typeface="Verdana" panose="020B0604030504040204" pitchFamily="34" charset="0"/>
                        </a:rPr>
                        <a:t>The planning and cost estimates presented will be revised as on required basis whenever updated by PDSB.</a:t>
                      </a:r>
                    </a:p>
                  </a:txBody>
                  <a:tcPr marL="34290" marR="34290" marT="34290" marB="34290" anchor="ctr"/>
                </a:tc>
                <a:extLst>
                  <a:ext uri="{0D108BD9-81ED-4DB2-BD59-A6C34878D82A}">
                    <a16:rowId xmlns:a16="http://schemas.microsoft.com/office/drawing/2014/main" val="10001"/>
                  </a:ext>
                </a:extLst>
              </a:tr>
              <a:tr h="708660">
                <a:tc>
                  <a:txBody>
                    <a:bodyPr/>
                    <a:lstStyle/>
                    <a:p>
                      <a:pPr algn="ctr" fontAlgn="t"/>
                      <a:r>
                        <a:rPr lang="en-US" sz="1200" u="none" strike="noStrike">
                          <a:effectLst/>
                          <a:latin typeface="Museo Sans 300"/>
                          <a:ea typeface="Verdana"/>
                          <a:cs typeface="Verdana" panose="020B0604030504040204" pitchFamily="34" charset="0"/>
                        </a:rPr>
                        <a:t>2</a:t>
                      </a:r>
                      <a:endParaRPr lang="en-US" sz="1200" b="0" i="0" u="none" strike="noStrike">
                        <a:solidFill>
                          <a:schemeClr val="tx1"/>
                        </a:solidFill>
                        <a:effectLst/>
                        <a:latin typeface="Museo Sans 300"/>
                        <a:ea typeface="Verdana"/>
                        <a:cs typeface="Verdana" panose="020B0604030504040204" pitchFamily="34" charset="0"/>
                      </a:endParaRPr>
                    </a:p>
                  </a:txBody>
                  <a:tcPr marL="34290" marR="34290" marT="34290" marB="34290" anchor="ctr"/>
                </a:tc>
                <a:tc>
                  <a:txBody>
                    <a:bodyPr/>
                    <a:lstStyle/>
                    <a:p>
                      <a:pPr algn="just" fontAlgn="t"/>
                      <a:r>
                        <a:rPr lang="en-US" sz="1200" u="none" strike="noStrike" kern="1200">
                          <a:solidFill>
                            <a:schemeClr val="tx1"/>
                          </a:solidFill>
                          <a:effectLst/>
                          <a:latin typeface="Museo Sans 300"/>
                          <a:ea typeface="Verdana"/>
                          <a:cs typeface="Verdana" panose="020B0604030504040204" pitchFamily="34" charset="0"/>
                        </a:rPr>
                        <a:t>The resources will be expected to actively participate in all aspects of the delivery and support services on a full-time basis.</a:t>
                      </a:r>
                    </a:p>
                  </a:txBody>
                  <a:tcPr marL="34290" marR="34290" marT="34290" marB="34290" anchor="ctr"/>
                </a:tc>
                <a:extLst>
                  <a:ext uri="{0D108BD9-81ED-4DB2-BD59-A6C34878D82A}">
                    <a16:rowId xmlns:a16="http://schemas.microsoft.com/office/drawing/2014/main" val="10002"/>
                  </a:ext>
                </a:extLst>
              </a:tr>
              <a:tr h="490877">
                <a:tc>
                  <a:txBody>
                    <a:bodyPr/>
                    <a:lstStyle/>
                    <a:p>
                      <a:pPr algn="ctr" fontAlgn="t"/>
                      <a:r>
                        <a:rPr lang="en-US" sz="1200" u="none" strike="noStrike">
                          <a:effectLst/>
                          <a:latin typeface="Museo Sans 300"/>
                          <a:ea typeface="Verdana"/>
                          <a:cs typeface="Verdana" panose="020B0604030504040204" pitchFamily="34" charset="0"/>
                        </a:rPr>
                        <a:t>3</a:t>
                      </a:r>
                      <a:endParaRPr lang="en-US" sz="1200" b="0" i="0" u="none" strike="noStrike">
                        <a:solidFill>
                          <a:schemeClr val="tx1"/>
                        </a:solidFill>
                        <a:effectLst/>
                        <a:latin typeface="Museo Sans 300"/>
                        <a:ea typeface="Verdana"/>
                        <a:cs typeface="Verdana" panose="020B0604030504040204" pitchFamily="34" charset="0"/>
                      </a:endParaRPr>
                    </a:p>
                  </a:txBody>
                  <a:tcPr marL="34290" marR="34290" marT="34290" marB="34290" anchor="ctr"/>
                </a:tc>
                <a:tc>
                  <a:txBody>
                    <a:bodyPr/>
                    <a:lstStyle/>
                    <a:p>
                      <a:pPr algn="just" fontAlgn="t"/>
                      <a:r>
                        <a:rPr lang="en-US" sz="1200" u="none" strike="noStrike" kern="1200">
                          <a:solidFill>
                            <a:schemeClr val="tx1"/>
                          </a:solidFill>
                          <a:effectLst/>
                          <a:latin typeface="Museo Sans 300"/>
                          <a:ea typeface="Verdana"/>
                          <a:cs typeface="Verdana" panose="020B0604030504040204" pitchFamily="34" charset="0"/>
                        </a:rPr>
                        <a:t>The cost recovery for this proposal is from January – December 2025.</a:t>
                      </a:r>
                    </a:p>
                  </a:txBody>
                  <a:tcPr marL="34290" marR="34290" marT="34290" marB="34290" anchor="ctr"/>
                </a:tc>
                <a:extLst>
                  <a:ext uri="{0D108BD9-81ED-4DB2-BD59-A6C34878D82A}">
                    <a16:rowId xmlns:a16="http://schemas.microsoft.com/office/drawing/2014/main" val="10003"/>
                  </a:ext>
                </a:extLst>
              </a:tr>
            </a:tbl>
          </a:graphicData>
        </a:graphic>
      </p:graphicFrame>
      <p:sp>
        <p:nvSpPr>
          <p:cNvPr id="341" name="Title 1"/>
          <p:cNvSpPr>
            <a:spLocks noGrp="1"/>
          </p:cNvSpPr>
          <p:nvPr>
            <p:ph type="title"/>
          </p:nvPr>
        </p:nvSpPr>
        <p:spPr>
          <a:xfrm>
            <a:off x="419608" y="685389"/>
            <a:ext cx="8213244"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2.3 Assumptions</a:t>
            </a:r>
          </a:p>
        </p:txBody>
      </p:sp>
      <p:pic>
        <p:nvPicPr>
          <p:cNvPr id="76" name="Picture 75"/>
          <p:cNvPicPr/>
          <p:nvPr/>
        </p:nvPicPr>
        <p:blipFill>
          <a:blip r:embed="rId4">
            <a:extLst>
              <a:ext uri="{28A0092B-C50C-407E-A947-70E740481C1C}">
                <a14:useLocalDpi xmlns:a14="http://schemas.microsoft.com/office/drawing/2010/main" val="0"/>
              </a:ext>
            </a:extLst>
          </a:blip>
          <a:srcRect/>
          <a:stretch>
            <a:fillRect/>
          </a:stretch>
        </p:blipFill>
        <p:spPr bwMode="auto">
          <a:xfrm>
            <a:off x="6573679" y="16576"/>
            <a:ext cx="2570321" cy="669131"/>
          </a:xfrm>
          <a:prstGeom prst="rect">
            <a:avLst/>
          </a:prstGeom>
          <a:noFill/>
        </p:spPr>
      </p:pic>
      <p:sp>
        <p:nvSpPr>
          <p:cNvPr id="3" name="BJPseudoFooter">
            <a:extLst>
              <a:ext uri="{FF2B5EF4-FFF2-40B4-BE49-F238E27FC236}">
                <a16:creationId xmlns:a16="http://schemas.microsoft.com/office/drawing/2014/main" id="{BA38D8A0-5AB4-46AF-9E96-4988C61467F2}"/>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2502272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Title 1"/>
          <p:cNvSpPr>
            <a:spLocks noGrp="1"/>
          </p:cNvSpPr>
          <p:nvPr>
            <p:ph type="title"/>
          </p:nvPr>
        </p:nvSpPr>
        <p:spPr>
          <a:xfrm>
            <a:off x="306705" y="143360"/>
            <a:ext cx="8213244"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2.4 Risk and Mitigation</a:t>
            </a:r>
          </a:p>
        </p:txBody>
      </p:sp>
      <p:pic>
        <p:nvPicPr>
          <p:cNvPr id="82" name="Picture 81"/>
          <p:cNvPicPr/>
          <p:nvPr/>
        </p:nvPicPr>
        <p:blipFill>
          <a:blip r:embed="rId4">
            <a:extLst>
              <a:ext uri="{28A0092B-C50C-407E-A947-70E740481C1C}">
                <a14:useLocalDpi xmlns:a14="http://schemas.microsoft.com/office/drawing/2010/main" val="0"/>
              </a:ext>
            </a:extLst>
          </a:blip>
          <a:srcRect/>
          <a:stretch>
            <a:fillRect/>
          </a:stretch>
        </p:blipFill>
        <p:spPr bwMode="auto">
          <a:xfrm>
            <a:off x="6573679" y="-9524"/>
            <a:ext cx="2570321" cy="669131"/>
          </a:xfrm>
          <a:prstGeom prst="rect">
            <a:avLst/>
          </a:prstGeom>
          <a:noFill/>
        </p:spPr>
      </p:pic>
      <p:graphicFrame>
        <p:nvGraphicFramePr>
          <p:cNvPr id="10" name="Table 9"/>
          <p:cNvGraphicFramePr>
            <a:graphicFrameLocks noGrp="1"/>
          </p:cNvGraphicFramePr>
          <p:nvPr>
            <p:extLst>
              <p:ext uri="{D42A27DB-BD31-4B8C-83A1-F6EECF244321}">
                <p14:modId xmlns:p14="http://schemas.microsoft.com/office/powerpoint/2010/main" val="1849298564"/>
              </p:ext>
            </p:extLst>
          </p:nvPr>
        </p:nvGraphicFramePr>
        <p:xfrm>
          <a:off x="475865" y="985367"/>
          <a:ext cx="8415915" cy="1039657"/>
        </p:xfrm>
        <a:graphic>
          <a:graphicData uri="http://schemas.openxmlformats.org/drawingml/2006/table">
            <a:tbl>
              <a:tblPr firstRow="1" bandRow="1">
                <a:tableStyleId>{7E9639D4-E3E2-4D34-9284-5A2195B3D0D7}</a:tableStyleId>
              </a:tblPr>
              <a:tblGrid>
                <a:gridCol w="416501">
                  <a:extLst>
                    <a:ext uri="{9D8B030D-6E8A-4147-A177-3AD203B41FA5}">
                      <a16:colId xmlns:a16="http://schemas.microsoft.com/office/drawing/2014/main" val="20000"/>
                    </a:ext>
                  </a:extLst>
                </a:gridCol>
                <a:gridCol w="3562857">
                  <a:extLst>
                    <a:ext uri="{9D8B030D-6E8A-4147-A177-3AD203B41FA5}">
                      <a16:colId xmlns:a16="http://schemas.microsoft.com/office/drawing/2014/main" val="20001"/>
                    </a:ext>
                  </a:extLst>
                </a:gridCol>
                <a:gridCol w="4436557">
                  <a:extLst>
                    <a:ext uri="{9D8B030D-6E8A-4147-A177-3AD203B41FA5}">
                      <a16:colId xmlns:a16="http://schemas.microsoft.com/office/drawing/2014/main" val="20002"/>
                    </a:ext>
                  </a:extLst>
                </a:gridCol>
              </a:tblGrid>
              <a:tr h="353857">
                <a:tc>
                  <a:txBody>
                    <a:bodyPr/>
                    <a:lstStyle/>
                    <a:p>
                      <a:pPr algn="ctr"/>
                      <a:r>
                        <a:rPr lang="en-US" sz="1200">
                          <a:solidFill>
                            <a:schemeClr val="bg1"/>
                          </a:solidFill>
                          <a:latin typeface="Verdana"/>
                          <a:ea typeface="Verdana"/>
                          <a:cs typeface="Verdana" panose="020B0604030504040204" pitchFamily="34" charset="0"/>
                        </a:rPr>
                        <a:t>No</a:t>
                      </a:r>
                    </a:p>
                  </a:txBody>
                  <a:tcPr marL="3429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algn="ctr"/>
                      <a:r>
                        <a:rPr lang="en-US" sz="1200">
                          <a:solidFill>
                            <a:schemeClr val="bg1"/>
                          </a:solidFill>
                          <a:latin typeface="Verdana"/>
                          <a:ea typeface="Verdana"/>
                          <a:cs typeface="Verdana" panose="020B0604030504040204" pitchFamily="34" charset="0"/>
                        </a:rPr>
                        <a:t>Risk </a:t>
                      </a:r>
                    </a:p>
                  </a:txBody>
                  <a:tcPr marL="3429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algn="ctr"/>
                      <a:r>
                        <a:rPr lang="en-US" sz="1200">
                          <a:solidFill>
                            <a:schemeClr val="bg1"/>
                          </a:solidFill>
                          <a:latin typeface="Verdana"/>
                          <a:ea typeface="Verdana"/>
                          <a:cs typeface="Verdana" panose="020B0604030504040204" pitchFamily="34" charset="0"/>
                        </a:rPr>
                        <a:t>Mitigation</a:t>
                      </a:r>
                    </a:p>
                  </a:txBody>
                  <a:tcPr marL="3429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10000"/>
                  </a:ext>
                </a:extLst>
              </a:tr>
              <a:tr h="685800">
                <a:tc>
                  <a:txBody>
                    <a:bodyPr/>
                    <a:lstStyle/>
                    <a:p>
                      <a:pPr algn="ctr"/>
                      <a:r>
                        <a:rPr lang="en-US" sz="1200">
                          <a:solidFill>
                            <a:schemeClr val="tx1"/>
                          </a:solidFill>
                          <a:latin typeface="Verdana"/>
                          <a:ea typeface="Verdana"/>
                          <a:cs typeface="Verdana" panose="020B0604030504040204" pitchFamily="34" charset="0"/>
                        </a:rPr>
                        <a:t>1</a:t>
                      </a:r>
                    </a:p>
                  </a:txBody>
                  <a:tcPr marL="3429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r>
                        <a:rPr lang="en-US" sz="1200" u="none" strike="noStrike" kern="1200">
                          <a:solidFill>
                            <a:schemeClr val="tx1"/>
                          </a:solidFill>
                          <a:effectLst/>
                          <a:latin typeface="Museo Sans 300"/>
                          <a:ea typeface="Verdana"/>
                          <a:cs typeface="Verdana" panose="020B0604030504040204" pitchFamily="34" charset="0"/>
                        </a:rPr>
                        <a:t>Not Applicable</a:t>
                      </a:r>
                    </a:p>
                  </a:txBody>
                  <a:tcPr marL="68580" marR="6858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r>
                        <a:rPr lang="en-US" sz="1200" u="none" strike="noStrike" kern="1200">
                          <a:solidFill>
                            <a:schemeClr val="tx1"/>
                          </a:solidFill>
                          <a:effectLst/>
                          <a:latin typeface="Museo Sans 300"/>
                          <a:ea typeface="Verdana"/>
                          <a:cs typeface="Verdana" panose="020B0604030504040204" pitchFamily="34" charset="0"/>
                        </a:rPr>
                        <a:t>Not Applicable</a:t>
                      </a:r>
                    </a:p>
                  </a:txBody>
                  <a:tcPr marL="68580" marR="6858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BJPseudoFooter">
            <a:extLst>
              <a:ext uri="{FF2B5EF4-FFF2-40B4-BE49-F238E27FC236}">
                <a16:creationId xmlns:a16="http://schemas.microsoft.com/office/drawing/2014/main" id="{B7D95A68-7226-4C3A-A067-A8B2B7E04C7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330689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4117ED6-0BB8-6E0B-737D-D0E1017323C3}"/>
              </a:ext>
            </a:extLst>
          </p:cNvPr>
          <p:cNvCxnSpPr>
            <a:cxnSpLocks/>
            <a:stCxn id="7" idx="0"/>
            <a:endCxn id="153" idx="2"/>
          </p:cNvCxnSpPr>
          <p:nvPr/>
        </p:nvCxnSpPr>
        <p:spPr>
          <a:xfrm flipV="1">
            <a:off x="6808444" y="1910975"/>
            <a:ext cx="0" cy="151275"/>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3" name="Rectangle 152"/>
          <p:cNvSpPr/>
          <p:nvPr/>
        </p:nvSpPr>
        <p:spPr>
          <a:xfrm>
            <a:off x="5808385" y="1211501"/>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333333"/>
                </a:solidFill>
                <a:latin typeface="Verdana" panose="020B0604030504040204" pitchFamily="34" charset="0"/>
                <a:ea typeface="Verdana" panose="020B0604030504040204" pitchFamily="34" charset="0"/>
                <a:cs typeface="Verdana" panose="020B0604030504040204" pitchFamily="34" charset="0"/>
              </a:rPr>
              <a:t>Business Project Sponsor</a:t>
            </a:r>
          </a:p>
          <a:p>
            <a:pPr algn="ctr"/>
            <a:r>
              <a:rPr lang="en-US" sz="1050">
                <a:solidFill>
                  <a:srgbClr val="333333"/>
                </a:solidFill>
                <a:latin typeface="Verdana" panose="020B0604030504040204" pitchFamily="34" charset="0"/>
                <a:ea typeface="Verdana" panose="020B0604030504040204" pitchFamily="34" charset="0"/>
              </a:rPr>
              <a:t>Head of UACE</a:t>
            </a:r>
          </a:p>
          <a:p>
            <a:r>
              <a:rPr lang="en-GB" sz="1050">
                <a:solidFill>
                  <a:srgbClr val="333333"/>
                </a:solidFill>
                <a:latin typeface="Verdana" panose="020B0604030504040204" pitchFamily="34" charset="0"/>
                <a:ea typeface="Verdana" panose="020B0604030504040204" pitchFamily="34" charset="0"/>
              </a:rPr>
              <a:t>Ina Czarina </a:t>
            </a:r>
            <a:r>
              <a:rPr lang="en-GB" sz="1050" err="1">
                <a:solidFill>
                  <a:srgbClr val="333333"/>
                </a:solidFill>
                <a:latin typeface="Verdana" panose="020B0604030504040204" pitchFamily="34" charset="0"/>
                <a:ea typeface="Verdana" panose="020B0604030504040204" pitchFamily="34" charset="0"/>
              </a:rPr>
              <a:t>Bt</a:t>
            </a:r>
            <a:r>
              <a:rPr lang="en-GB" sz="1050">
                <a:solidFill>
                  <a:srgbClr val="333333"/>
                </a:solidFill>
                <a:latin typeface="Verdana" panose="020B0604030504040204" pitchFamily="34" charset="0"/>
                <a:ea typeface="Verdana" panose="020B0604030504040204" pitchFamily="34" charset="0"/>
              </a:rPr>
              <a:t> Arief Tham</a:t>
            </a:r>
          </a:p>
        </p:txBody>
      </p:sp>
      <p:cxnSp>
        <p:nvCxnSpPr>
          <p:cNvPr id="154" name="Straight Connector 153"/>
          <p:cNvCxnSpPr>
            <a:cxnSpLocks/>
          </p:cNvCxnSpPr>
          <p:nvPr/>
        </p:nvCxnSpPr>
        <p:spPr>
          <a:xfrm flipV="1">
            <a:off x="3269520" y="1826758"/>
            <a:ext cx="10995" cy="1388772"/>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64" name="Rectangle 163"/>
          <p:cNvSpPr/>
          <p:nvPr/>
        </p:nvSpPr>
        <p:spPr>
          <a:xfrm>
            <a:off x="2134607" y="1183301"/>
            <a:ext cx="2351668" cy="699473"/>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Business Delivery – Upstream</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Head of BDUM</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Faizal Zainol Alam</a:t>
            </a:r>
          </a:p>
        </p:txBody>
      </p:sp>
      <p:sp>
        <p:nvSpPr>
          <p:cNvPr id="168" name="Rectangle 167"/>
          <p:cNvSpPr/>
          <p:nvPr/>
        </p:nvSpPr>
        <p:spPr>
          <a:xfrm>
            <a:off x="7970493" y="5393643"/>
            <a:ext cx="687731" cy="207057"/>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rgbClr val="FFFFFF"/>
                </a:solidFill>
                <a:latin typeface="Verdana" panose="020B0604030504040204" pitchFamily="34" charset="0"/>
                <a:ea typeface="Verdana" panose="020B0604030504040204" pitchFamily="34" charset="0"/>
                <a:cs typeface="Verdana" panose="020B0604030504040204" pitchFamily="34" charset="0"/>
              </a:rPr>
              <a:t>PETRONAS Digital</a:t>
            </a:r>
          </a:p>
        </p:txBody>
      </p:sp>
      <p:sp>
        <p:nvSpPr>
          <p:cNvPr id="175" name="Rectangle 174"/>
          <p:cNvSpPr/>
          <p:nvPr/>
        </p:nvSpPr>
        <p:spPr>
          <a:xfrm>
            <a:off x="7951443" y="5612718"/>
            <a:ext cx="706781" cy="23563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rgbClr val="333333"/>
                </a:solidFill>
                <a:latin typeface="Verdana" panose="020B0604030504040204" pitchFamily="34" charset="0"/>
                <a:ea typeface="Verdana" panose="020B0604030504040204" pitchFamily="34" charset="0"/>
                <a:cs typeface="Verdana" panose="020B0604030504040204" pitchFamily="34" charset="0"/>
              </a:rPr>
              <a:t>Business</a:t>
            </a:r>
            <a:endParaRPr lang="en-US" sz="600">
              <a:solidFill>
                <a:srgbClr val="333333"/>
              </a:solidFill>
            </a:endParaRPr>
          </a:p>
        </p:txBody>
      </p:sp>
      <p:sp>
        <p:nvSpPr>
          <p:cNvPr id="24" name="TextBox 23"/>
          <p:cNvSpPr txBox="1"/>
          <p:nvPr/>
        </p:nvSpPr>
        <p:spPr>
          <a:xfrm>
            <a:off x="7970494" y="5167247"/>
            <a:ext cx="731381" cy="230832"/>
          </a:xfrm>
          <a:prstGeom prst="rect">
            <a:avLst/>
          </a:prstGeom>
          <a:noFill/>
        </p:spPr>
        <p:txBody>
          <a:bodyPr wrap="square" rtlCol="0">
            <a:spAutoFit/>
          </a:bodyPr>
          <a:lstStyle/>
          <a:p>
            <a:r>
              <a:rPr lang="en-US" sz="900" b="1" u="sng">
                <a:solidFill>
                  <a:srgbClr val="333333"/>
                </a:solidFill>
                <a:latin typeface="Verdana" panose="020B0604030504040204" pitchFamily="34" charset="0"/>
                <a:ea typeface="Verdana" panose="020B0604030504040204" pitchFamily="34" charset="0"/>
                <a:cs typeface="Verdana" panose="020B0604030504040204" pitchFamily="34" charset="0"/>
              </a:rPr>
              <a:t>Legend:</a:t>
            </a:r>
          </a:p>
        </p:txBody>
      </p:sp>
      <p:sp>
        <p:nvSpPr>
          <p:cNvPr id="363" name="Title 1"/>
          <p:cNvSpPr>
            <a:spLocks noGrp="1"/>
          </p:cNvSpPr>
          <p:nvPr>
            <p:ph type="title"/>
          </p:nvPr>
        </p:nvSpPr>
        <p:spPr>
          <a:xfrm>
            <a:off x="276316" y="137894"/>
            <a:ext cx="8213244"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2.5 Team Structure</a:t>
            </a:r>
          </a:p>
        </p:txBody>
      </p:sp>
      <p:sp>
        <p:nvSpPr>
          <p:cNvPr id="6" name="Rectangle 5"/>
          <p:cNvSpPr/>
          <p:nvPr/>
        </p:nvSpPr>
        <p:spPr>
          <a:xfrm>
            <a:off x="470450" y="714375"/>
            <a:ext cx="8330649" cy="5334000"/>
          </a:xfrm>
          <a:prstGeom prst="rect">
            <a:avLst/>
          </a:prstGeom>
          <a:no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pic>
        <p:nvPicPr>
          <p:cNvPr id="98" name="Picture 97"/>
          <p:cNvPicPr/>
          <p:nvPr/>
        </p:nvPicPr>
        <p:blipFill>
          <a:blip r:embed="rId4">
            <a:extLst>
              <a:ext uri="{28A0092B-C50C-407E-A947-70E740481C1C}">
                <a14:useLocalDpi xmlns:a14="http://schemas.microsoft.com/office/drawing/2010/main" val="0"/>
              </a:ext>
            </a:extLst>
          </a:blip>
          <a:srcRect/>
          <a:stretch>
            <a:fillRect/>
          </a:stretch>
        </p:blipFill>
        <p:spPr bwMode="auto">
          <a:xfrm>
            <a:off x="6544124" y="1"/>
            <a:ext cx="2570321" cy="669131"/>
          </a:xfrm>
          <a:prstGeom prst="rect">
            <a:avLst/>
          </a:prstGeom>
          <a:noFill/>
        </p:spPr>
      </p:pic>
      <p:sp>
        <p:nvSpPr>
          <p:cNvPr id="43" name="Rectangle 42"/>
          <p:cNvSpPr/>
          <p:nvPr/>
        </p:nvSpPr>
        <p:spPr>
          <a:xfrm>
            <a:off x="1195196" y="2747485"/>
            <a:ext cx="4230489" cy="1600636"/>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Business Delivery – Upstream</a:t>
            </a:r>
          </a:p>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Tribe Leads</a:t>
            </a:r>
          </a:p>
          <a:p>
            <a:pPr algn="ctr"/>
            <a:endParaRPr lang="en-US" sz="825">
              <a:solidFill>
                <a:srgbClr val="FFFFFF"/>
              </a:solidFill>
              <a:latin typeface="Verdana" panose="020B0604030504040204" pitchFamily="34" charset="0"/>
              <a:ea typeface="Verdana" panose="020B0604030504040204" pitchFamily="34" charset="0"/>
              <a:cs typeface="Verdana" panose="020B0604030504040204" pitchFamily="34" charset="0"/>
            </a:endParaRPr>
          </a:p>
          <a:p>
            <a:pPr marL="228600" indent="-228600">
              <a:buAutoNum type="arabicPeriod"/>
            </a:pPr>
            <a:r>
              <a:rPr lang="en-US" sz="1050">
                <a:solidFill>
                  <a:srgbClr val="FFFFFF"/>
                </a:solidFill>
                <a:latin typeface="Verdana" panose="020B0604030504040204" pitchFamily="34" charset="0"/>
                <a:ea typeface="Verdana" panose="020B0604030504040204" pitchFamily="34" charset="0"/>
              </a:rPr>
              <a:t>Nur Shida Che Zakaria (Development)</a:t>
            </a:r>
          </a:p>
          <a:p>
            <a:pPr marL="228600" indent="-228600">
              <a:buAutoNum type="arabicPeriod"/>
            </a:pPr>
            <a:r>
              <a:rPr lang="en-US" sz="1050">
                <a:solidFill>
                  <a:srgbClr val="FFFFFF"/>
                </a:solidFill>
                <a:latin typeface="Verdana" panose="020B0604030504040204" pitchFamily="34" charset="0"/>
                <a:ea typeface="Verdana" panose="020B0604030504040204" pitchFamily="34" charset="0"/>
              </a:rPr>
              <a:t>Abdul Halim Mat Noh (Production)</a:t>
            </a:r>
          </a:p>
          <a:p>
            <a:pPr marL="228600" indent="-228600">
              <a:buAutoNum type="arabicPeriod"/>
            </a:pPr>
            <a:r>
              <a:rPr lang="en-US" sz="1050">
                <a:solidFill>
                  <a:srgbClr val="FFFFFF"/>
                </a:solidFill>
                <a:latin typeface="Verdana" panose="020B0604030504040204" pitchFamily="34" charset="0"/>
                <a:ea typeface="Verdana" panose="020B0604030504040204" pitchFamily="34" charset="0"/>
              </a:rPr>
              <a:t>Ahmad Hassan Harun (Regulator)</a:t>
            </a:r>
          </a:p>
          <a:p>
            <a:pPr marL="228600" indent="-228600">
              <a:buAutoNum type="arabicPeriod"/>
            </a:pPr>
            <a:r>
              <a:rPr lang="en-US" sz="1050" err="1">
                <a:solidFill>
                  <a:srgbClr val="FFFFFF"/>
                </a:solidFill>
                <a:latin typeface="Verdana" panose="020B0604030504040204" pitchFamily="34" charset="0"/>
                <a:ea typeface="Verdana" panose="020B0604030504040204" pitchFamily="34" charset="0"/>
              </a:rPr>
              <a:t>Khairulniza</a:t>
            </a:r>
            <a:r>
              <a:rPr lang="en-US" sz="1050">
                <a:solidFill>
                  <a:srgbClr val="FFFFFF"/>
                </a:solidFill>
                <a:latin typeface="Verdana" panose="020B0604030504040204" pitchFamily="34" charset="0"/>
                <a:ea typeface="Verdana" panose="020B0604030504040204" pitchFamily="34" charset="0"/>
              </a:rPr>
              <a:t> </a:t>
            </a:r>
            <a:r>
              <a:rPr lang="en-US" sz="1050" err="1">
                <a:solidFill>
                  <a:srgbClr val="FFFFFF"/>
                </a:solidFill>
                <a:latin typeface="Verdana" panose="020B0604030504040204" pitchFamily="34" charset="0"/>
                <a:ea typeface="Verdana" panose="020B0604030504040204" pitchFamily="34" charset="0"/>
              </a:rPr>
              <a:t>Kamiso</a:t>
            </a:r>
            <a:r>
              <a:rPr lang="en-US" sz="1050">
                <a:solidFill>
                  <a:srgbClr val="FFFFFF"/>
                </a:solidFill>
                <a:latin typeface="Verdana" panose="020B0604030504040204" pitchFamily="34" charset="0"/>
                <a:ea typeface="Verdana" panose="020B0604030504040204" pitchFamily="34" charset="0"/>
              </a:rPr>
              <a:t> (Malaysia Assets)</a:t>
            </a:r>
          </a:p>
        </p:txBody>
      </p:sp>
      <p:sp>
        <p:nvSpPr>
          <p:cNvPr id="2" name="BJPseudoFooter">
            <a:extLst>
              <a:ext uri="{FF2B5EF4-FFF2-40B4-BE49-F238E27FC236}">
                <a16:creationId xmlns:a16="http://schemas.microsoft.com/office/drawing/2014/main" id="{B9F784BE-4CD2-45B7-ACC4-6724639C8EA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7" name="Rectangle 6">
            <a:extLst>
              <a:ext uri="{FF2B5EF4-FFF2-40B4-BE49-F238E27FC236}">
                <a16:creationId xmlns:a16="http://schemas.microsoft.com/office/drawing/2014/main" id="{BE10D52E-CCAF-7C05-8D66-8217334BCC87}"/>
              </a:ext>
            </a:extLst>
          </p:cNvPr>
          <p:cNvSpPr/>
          <p:nvPr/>
        </p:nvSpPr>
        <p:spPr>
          <a:xfrm>
            <a:off x="5808385" y="2062250"/>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rgbClr val="333333"/>
                </a:solidFill>
                <a:latin typeface="Verdana" panose="020B0604030504040204" pitchFamily="34" charset="0"/>
                <a:ea typeface="Verdana" panose="020B0604030504040204" pitchFamily="34" charset="0"/>
                <a:cs typeface="Verdana" panose="020B0604030504040204" pitchFamily="34" charset="0"/>
              </a:rPr>
              <a:t>Business Focal</a:t>
            </a:r>
          </a:p>
          <a:p>
            <a:r>
              <a:rPr lang="en-GB" sz="1050">
                <a:solidFill>
                  <a:srgbClr val="333333"/>
                </a:solidFill>
                <a:latin typeface="Verdana" panose="020B0604030504040204" pitchFamily="34" charset="0"/>
                <a:ea typeface="Verdana" panose="020B0604030504040204" pitchFamily="34" charset="0"/>
              </a:rPr>
              <a:t>M </a:t>
            </a:r>
            <a:r>
              <a:rPr lang="en-GB" sz="1050" err="1">
                <a:solidFill>
                  <a:srgbClr val="333333"/>
                </a:solidFill>
                <a:latin typeface="Verdana" panose="020B0604030504040204" pitchFamily="34" charset="0"/>
                <a:ea typeface="Verdana" panose="020B0604030504040204" pitchFamily="34" charset="0"/>
              </a:rPr>
              <a:t>Agos</a:t>
            </a:r>
            <a:r>
              <a:rPr lang="en-GB" sz="1050">
                <a:solidFill>
                  <a:srgbClr val="333333"/>
                </a:solidFill>
                <a:latin typeface="Verdana" panose="020B0604030504040204" pitchFamily="34" charset="0"/>
                <a:ea typeface="Verdana" panose="020B0604030504040204" pitchFamily="34" charset="0"/>
              </a:rPr>
              <a:t> Abul Hasan Ashari</a:t>
            </a:r>
          </a:p>
        </p:txBody>
      </p:sp>
      <p:sp>
        <p:nvSpPr>
          <p:cNvPr id="4" name="Rectangle 3">
            <a:extLst>
              <a:ext uri="{FF2B5EF4-FFF2-40B4-BE49-F238E27FC236}">
                <a16:creationId xmlns:a16="http://schemas.microsoft.com/office/drawing/2014/main" id="{8BDCABD4-DAC1-4485-28DA-EAA959C488A9}"/>
              </a:ext>
            </a:extLst>
          </p:cNvPr>
          <p:cNvSpPr/>
          <p:nvPr/>
        </p:nvSpPr>
        <p:spPr>
          <a:xfrm>
            <a:off x="169961" y="5316682"/>
            <a:ext cx="1631132" cy="586612"/>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BDAs</a:t>
            </a:r>
            <a:endParaRPr lang="en-US" sz="1050">
              <a:solidFill>
                <a:srgbClr val="FFFFFF"/>
              </a:solidFill>
              <a:latin typeface="Verdana" panose="020B0604030504040204" pitchFamily="34" charset="0"/>
              <a:ea typeface="Verdana" panose="020B0604030504040204" pitchFamily="34" charset="0"/>
            </a:endParaRPr>
          </a:p>
        </p:txBody>
      </p:sp>
      <p:sp>
        <p:nvSpPr>
          <p:cNvPr id="5" name="Rectangle 4">
            <a:extLst>
              <a:ext uri="{FF2B5EF4-FFF2-40B4-BE49-F238E27FC236}">
                <a16:creationId xmlns:a16="http://schemas.microsoft.com/office/drawing/2014/main" id="{2A4A95AD-8ACB-6A30-46FB-FE54AF169232}"/>
              </a:ext>
            </a:extLst>
          </p:cNvPr>
          <p:cNvSpPr/>
          <p:nvPr/>
        </p:nvSpPr>
        <p:spPr>
          <a:xfrm>
            <a:off x="2080156" y="5295900"/>
            <a:ext cx="1631132" cy="586612"/>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BDAs</a:t>
            </a:r>
            <a:endParaRPr lang="en-US" sz="1050">
              <a:solidFill>
                <a:srgbClr val="FFFFFF"/>
              </a:solidFill>
              <a:latin typeface="Verdana" panose="020B0604030504040204" pitchFamily="34" charset="0"/>
              <a:ea typeface="Verdana" panose="020B0604030504040204" pitchFamily="34" charset="0"/>
            </a:endParaRPr>
          </a:p>
        </p:txBody>
      </p:sp>
      <p:sp>
        <p:nvSpPr>
          <p:cNvPr id="8" name="Rectangle 7">
            <a:extLst>
              <a:ext uri="{FF2B5EF4-FFF2-40B4-BE49-F238E27FC236}">
                <a16:creationId xmlns:a16="http://schemas.microsoft.com/office/drawing/2014/main" id="{39628A34-EB27-F84E-2F3B-F9D2658A8999}"/>
              </a:ext>
            </a:extLst>
          </p:cNvPr>
          <p:cNvSpPr/>
          <p:nvPr/>
        </p:nvSpPr>
        <p:spPr>
          <a:xfrm>
            <a:off x="4071747" y="5226628"/>
            <a:ext cx="1631132" cy="586612"/>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BDAs</a:t>
            </a:r>
            <a:endParaRPr lang="en-US" sz="1050">
              <a:solidFill>
                <a:srgbClr val="FFFFFF"/>
              </a:solidFill>
              <a:latin typeface="Verdana" panose="020B0604030504040204" pitchFamily="34" charset="0"/>
              <a:ea typeface="Verdana" panose="020B0604030504040204" pitchFamily="34" charset="0"/>
            </a:endParaRPr>
          </a:p>
        </p:txBody>
      </p:sp>
      <p:sp>
        <p:nvSpPr>
          <p:cNvPr id="9" name="Rectangle 8">
            <a:extLst>
              <a:ext uri="{FF2B5EF4-FFF2-40B4-BE49-F238E27FC236}">
                <a16:creationId xmlns:a16="http://schemas.microsoft.com/office/drawing/2014/main" id="{22759AA5-0A1F-7A7F-F0E9-AF41B19FC676}"/>
              </a:ext>
            </a:extLst>
          </p:cNvPr>
          <p:cNvSpPr/>
          <p:nvPr/>
        </p:nvSpPr>
        <p:spPr>
          <a:xfrm>
            <a:off x="5959429" y="5209309"/>
            <a:ext cx="1631132" cy="586612"/>
          </a:xfrm>
          <a:prstGeom prst="rect">
            <a:avLst/>
          </a:prstGeom>
          <a:solidFill>
            <a:srgbClr val="00ACA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50">
                <a:solidFill>
                  <a:srgbClr val="FFFFFF"/>
                </a:solidFill>
                <a:latin typeface="Verdana" panose="020B0604030504040204" pitchFamily="34" charset="0"/>
                <a:ea typeface="Verdana" panose="020B0604030504040204" pitchFamily="34" charset="0"/>
                <a:cs typeface="Verdana" panose="020B0604030504040204" pitchFamily="34" charset="0"/>
              </a:rPr>
              <a:t>BDAs</a:t>
            </a:r>
            <a:endParaRPr lang="en-US" sz="1050">
              <a:solidFill>
                <a:srgbClr val="FFFFFF"/>
              </a:solidFill>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3A61321D-FA1E-A075-040E-E65846A42FE2}"/>
              </a:ext>
            </a:extLst>
          </p:cNvPr>
          <p:cNvSpPr/>
          <p:nvPr/>
        </p:nvSpPr>
        <p:spPr>
          <a:xfrm>
            <a:off x="5778944" y="2993968"/>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Leads 1</a:t>
            </a:r>
            <a:endParaRPr lang="en-GB" sz="1050">
              <a:solidFill>
                <a:srgbClr val="333333"/>
              </a:solidFill>
              <a:latin typeface="Verdana" panose="020B0604030504040204" pitchFamily="34" charset="0"/>
              <a:ea typeface="Verdana" panose="020B0604030504040204" pitchFamily="34" charset="0"/>
            </a:endParaRPr>
          </a:p>
        </p:txBody>
      </p:sp>
      <p:sp>
        <p:nvSpPr>
          <p:cNvPr id="12" name="Rectangle 11">
            <a:extLst>
              <a:ext uri="{FF2B5EF4-FFF2-40B4-BE49-F238E27FC236}">
                <a16:creationId xmlns:a16="http://schemas.microsoft.com/office/drawing/2014/main" id="{4EC32C3C-42DE-08FF-A7BA-164AAF43486D}"/>
              </a:ext>
            </a:extLst>
          </p:cNvPr>
          <p:cNvSpPr/>
          <p:nvPr/>
        </p:nvSpPr>
        <p:spPr>
          <a:xfrm>
            <a:off x="5836094" y="3769822"/>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Leads 2</a:t>
            </a:r>
            <a:endParaRPr lang="en-GB" sz="1050">
              <a:solidFill>
                <a:srgbClr val="333333"/>
              </a:solidFill>
              <a:latin typeface="Verdana" panose="020B0604030504040204" pitchFamily="34" charset="0"/>
              <a:ea typeface="Verdana" panose="020B0604030504040204" pitchFamily="34" charset="0"/>
            </a:endParaRPr>
          </a:p>
        </p:txBody>
      </p:sp>
      <p:sp>
        <p:nvSpPr>
          <p:cNvPr id="13" name="Rectangle 12">
            <a:extLst>
              <a:ext uri="{FF2B5EF4-FFF2-40B4-BE49-F238E27FC236}">
                <a16:creationId xmlns:a16="http://schemas.microsoft.com/office/drawing/2014/main" id="{7C647087-A38A-3528-BA96-CC7916A5AA47}"/>
              </a:ext>
            </a:extLst>
          </p:cNvPr>
          <p:cNvSpPr/>
          <p:nvPr/>
        </p:nvSpPr>
        <p:spPr>
          <a:xfrm>
            <a:off x="5884585" y="4493723"/>
            <a:ext cx="2000118" cy="699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a:solidFill>
                  <a:srgbClr val="333333"/>
                </a:solidFill>
                <a:latin typeface="Verdana" panose="020B0604030504040204" pitchFamily="34" charset="0"/>
                <a:ea typeface="Verdana" panose="020B0604030504040204" pitchFamily="34" charset="0"/>
                <a:cs typeface="Verdana" panose="020B0604030504040204" pitchFamily="34" charset="0"/>
              </a:rPr>
              <a:t>Solution Leads 3</a:t>
            </a:r>
            <a:endParaRPr lang="en-GB" sz="1050">
              <a:solidFill>
                <a:srgbClr val="333333"/>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080257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Title 1"/>
          <p:cNvSpPr>
            <a:spLocks noGrp="1"/>
          </p:cNvSpPr>
          <p:nvPr>
            <p:ph type="title"/>
          </p:nvPr>
        </p:nvSpPr>
        <p:spPr>
          <a:xfrm>
            <a:off x="400049" y="143650"/>
            <a:ext cx="9496425" cy="548117"/>
          </a:xfrm>
        </p:spPr>
        <p:txBody>
          <a:bodyPr>
            <a:noAutofit/>
          </a:bodyPr>
          <a:lstStyle/>
          <a:p>
            <a:pPr>
              <a:spcBef>
                <a:spcPts val="0"/>
              </a:spcBef>
            </a:pPr>
            <a:r>
              <a:rPr lang="en-US" b="1">
                <a:latin typeface="Museo Sans 900" panose="02000000000000000000" pitchFamily="50" charset="0"/>
                <a:ea typeface="Verdana" panose="020B0604030504040204" pitchFamily="34" charset="0"/>
                <a:cs typeface="Verdana" panose="020B0604030504040204" pitchFamily="34" charset="0"/>
              </a:rPr>
              <a:t>2.6 Roles and Responsibilities </a:t>
            </a:r>
            <a:br>
              <a:rPr lang="en-US" b="1">
                <a:latin typeface="Museo Sans 900" panose="02000000000000000000" pitchFamily="50" charset="0"/>
                <a:ea typeface="Verdana" panose="020B0604030504040204" pitchFamily="34" charset="0"/>
                <a:cs typeface="Verdana" panose="020B0604030504040204" pitchFamily="34" charset="0"/>
              </a:rPr>
            </a:br>
            <a:r>
              <a:rPr lang="en-US" sz="2100">
                <a:latin typeface="Museo Sans 900" panose="02000000000000000000" pitchFamily="50" charset="0"/>
                <a:ea typeface="Verdana" panose="020B0604030504040204" pitchFamily="34" charset="0"/>
                <a:cs typeface="Verdana" panose="020B0604030504040204" pitchFamily="34" charset="0"/>
              </a:rPr>
              <a:t>(PETRONAS Digital)</a:t>
            </a:r>
          </a:p>
        </p:txBody>
      </p:sp>
      <p:graphicFrame>
        <p:nvGraphicFramePr>
          <p:cNvPr id="3" name="Table 2"/>
          <p:cNvGraphicFramePr>
            <a:graphicFrameLocks noGrp="1"/>
          </p:cNvGraphicFramePr>
          <p:nvPr/>
        </p:nvGraphicFramePr>
        <p:xfrm>
          <a:off x="444010" y="1121315"/>
          <a:ext cx="8242790" cy="4968023"/>
        </p:xfrm>
        <a:graphic>
          <a:graphicData uri="http://schemas.openxmlformats.org/drawingml/2006/table">
            <a:tbl>
              <a:tblPr firstRow="1" bandRow="1">
                <a:tableStyleId>{5940675A-B579-460E-94D1-54222C63F5DA}</a:tableStyleId>
              </a:tblPr>
              <a:tblGrid>
                <a:gridCol w="2463577">
                  <a:extLst>
                    <a:ext uri="{9D8B030D-6E8A-4147-A177-3AD203B41FA5}">
                      <a16:colId xmlns:a16="http://schemas.microsoft.com/office/drawing/2014/main" val="4126466257"/>
                    </a:ext>
                  </a:extLst>
                </a:gridCol>
                <a:gridCol w="5779213">
                  <a:extLst>
                    <a:ext uri="{9D8B030D-6E8A-4147-A177-3AD203B41FA5}">
                      <a16:colId xmlns:a16="http://schemas.microsoft.com/office/drawing/2014/main" val="4000571328"/>
                    </a:ext>
                  </a:extLst>
                </a:gridCol>
              </a:tblGrid>
              <a:tr h="416816">
                <a:tc>
                  <a:txBody>
                    <a:bodyPr/>
                    <a:lstStyle/>
                    <a:p>
                      <a:pPr algn="ctr"/>
                      <a:r>
                        <a:rPr lang="en-US" sz="1200" b="1">
                          <a:solidFill>
                            <a:schemeClr val="bg1"/>
                          </a:solidFill>
                          <a:latin typeface="Museo Sans 300" panose="02000000000000000000" pitchFamily="50" charset="0"/>
                          <a:ea typeface="Verdana" panose="020B0604030504040204" pitchFamily="34" charset="0"/>
                        </a:rPr>
                        <a:t>Role</a:t>
                      </a:r>
                    </a:p>
                  </a:txBody>
                  <a:tcPr marL="68580" marR="68580" marT="34290" marB="34290" anchor="ctr">
                    <a:solidFill>
                      <a:srgbClr val="00B1A9"/>
                    </a:solidFill>
                  </a:tcPr>
                </a:tc>
                <a:tc>
                  <a:txBody>
                    <a:bodyPr/>
                    <a:lstStyle/>
                    <a:p>
                      <a:pPr algn="ctr"/>
                      <a:r>
                        <a:rPr lang="en-US" sz="1200" b="1">
                          <a:solidFill>
                            <a:schemeClr val="bg1"/>
                          </a:solidFill>
                          <a:latin typeface="Museo Sans 300" panose="02000000000000000000" pitchFamily="50" charset="0"/>
                          <a:ea typeface="Verdana" panose="020B0604030504040204" pitchFamily="34" charset="0"/>
                          <a:cs typeface="Verdana" panose="020B0604030504040204" pitchFamily="34" charset="0"/>
                        </a:rPr>
                        <a:t>Responsibilities</a:t>
                      </a:r>
                    </a:p>
                  </a:txBody>
                  <a:tcPr marL="68580" marR="68580" marT="34290" marB="34290" anchor="ctr">
                    <a:solidFill>
                      <a:srgbClr val="00B1A9"/>
                    </a:solidFill>
                  </a:tcPr>
                </a:tc>
                <a:extLst>
                  <a:ext uri="{0D108BD9-81ED-4DB2-BD59-A6C34878D82A}">
                    <a16:rowId xmlns:a16="http://schemas.microsoft.com/office/drawing/2014/main" val="3795728164"/>
                  </a:ext>
                </a:extLst>
              </a:tr>
              <a:tr h="4551207">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endParaRPr lang="en-US" sz="1100" u="none" strike="noStrike" kern="1200">
                        <a:solidFill>
                          <a:srgbClr val="0000FF"/>
                        </a:solidFill>
                        <a:effectLst/>
                        <a:latin typeface="Museo Sans 300" panose="02000000000000000000" pitchFamily="50" charset="0"/>
                        <a:ea typeface="Verdana" panose="020B0604030504040204" pitchFamily="34" charset="0"/>
                      </a:endParaRPr>
                    </a:p>
                  </a:txBody>
                  <a:tcPr marL="7144" marR="7144" marT="7144" marB="0" anchor="ctr"/>
                </a:tc>
                <a:tc>
                  <a:txBody>
                    <a:bodyPr/>
                    <a:lstStyle/>
                    <a:p>
                      <a:pPr marL="0" marR="0" lvl="0" indent="0" algn="just"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u="none" strike="noStrike" kern="1200">
                        <a:solidFill>
                          <a:srgbClr val="0000FF"/>
                        </a:solidFill>
                        <a:effectLst/>
                        <a:latin typeface="Museo Sans 300" panose="02000000000000000000" pitchFamily="50" charset="0"/>
                        <a:ea typeface="Verdana" panose="020B0604030504040204" pitchFamily="34" charset="0"/>
                        <a:cs typeface="Verdana" panose="020B0604030504040204" pitchFamily="34" charset="0"/>
                      </a:endParaRPr>
                    </a:p>
                  </a:txBody>
                  <a:tcPr marL="7144" marR="7144" marT="7144" marB="0" anchor="ctr"/>
                </a:tc>
                <a:extLst>
                  <a:ext uri="{0D108BD9-81ED-4DB2-BD59-A6C34878D82A}">
                    <a16:rowId xmlns:a16="http://schemas.microsoft.com/office/drawing/2014/main" val="3110202095"/>
                  </a:ext>
                </a:extLst>
              </a:tr>
            </a:tbl>
          </a:graphicData>
        </a:graphic>
      </p:graphicFrame>
      <p:pic>
        <p:nvPicPr>
          <p:cNvPr id="11" name="Picture 10"/>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4" name="BJPseudoFooter">
            <a:extLst>
              <a:ext uri="{FF2B5EF4-FFF2-40B4-BE49-F238E27FC236}">
                <a16:creationId xmlns:a16="http://schemas.microsoft.com/office/drawing/2014/main" id="{A9AA9947-DE22-463B-9544-931516AE263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2" name="TextBox 1">
            <a:extLst>
              <a:ext uri="{FF2B5EF4-FFF2-40B4-BE49-F238E27FC236}">
                <a16:creationId xmlns:a16="http://schemas.microsoft.com/office/drawing/2014/main" id="{17D420E8-E80D-AF2B-375C-A8A92265E25F}"/>
              </a:ext>
            </a:extLst>
          </p:cNvPr>
          <p:cNvSpPr txBox="1"/>
          <p:nvPr/>
        </p:nvSpPr>
        <p:spPr>
          <a:xfrm>
            <a:off x="400049" y="768662"/>
            <a:ext cx="3894528" cy="338554"/>
          </a:xfrm>
          <a:prstGeom prst="rect">
            <a:avLst/>
          </a:prstGeom>
          <a:noFill/>
        </p:spPr>
        <p:txBody>
          <a:bodyPr wrap="none" rtlCol="0">
            <a:spAutoFit/>
          </a:bodyPr>
          <a:lstStyle/>
          <a:p>
            <a:r>
              <a:rPr lang="en-GB" sz="1600"/>
              <a:t>Manager – PDU EDPR Tech Apps Tribes</a:t>
            </a:r>
          </a:p>
        </p:txBody>
      </p:sp>
      <p:sp>
        <p:nvSpPr>
          <p:cNvPr id="5" name="TextBox 4">
            <a:extLst>
              <a:ext uri="{FF2B5EF4-FFF2-40B4-BE49-F238E27FC236}">
                <a16:creationId xmlns:a16="http://schemas.microsoft.com/office/drawing/2014/main" id="{F99BF892-4364-B469-2DC3-7954DBFC0AE4}"/>
              </a:ext>
            </a:extLst>
          </p:cNvPr>
          <p:cNvSpPr txBox="1"/>
          <p:nvPr/>
        </p:nvSpPr>
        <p:spPr>
          <a:xfrm>
            <a:off x="457200" y="1531310"/>
            <a:ext cx="2453301" cy="2631490"/>
          </a:xfrm>
          <a:prstGeom prst="rect">
            <a:avLst/>
          </a:prstGeom>
          <a:noFill/>
        </p:spPr>
        <p:txBody>
          <a:bodyPr wrap="square" rtlCol="0">
            <a:spAutoFit/>
          </a:bodyPr>
          <a:lstStyle/>
          <a:p>
            <a:pPr lvl="0" algn="just" defTabSz="914377">
              <a:defRPr/>
            </a:pPr>
            <a:r>
              <a:rPr lang="en-GB" sz="1100"/>
              <a:t>Oversee, direct, and supervise the implementation and execution of specialized technical and non-technical applications and infrastructure projects. Lead a hybrid DevOps team of IT engineers with domain expertise to deliver functional support across applications, workflows, and IT infrastructure for multidisciplinary EDPR. Drive strategic planning and execution of technical and business budgets, targets, and initiatives related to projects, applications, and workflows.</a:t>
            </a:r>
            <a:endParaRPr lang="en-US" sz="1100">
              <a:latin typeface="Museo Sans 300" panose="02000000000000000000" pitchFamily="50" charset="0"/>
              <a:ea typeface="Verdana" panose="020B0604030504040204" pitchFamily="34" charset="0"/>
            </a:endParaRPr>
          </a:p>
        </p:txBody>
      </p:sp>
      <p:sp>
        <p:nvSpPr>
          <p:cNvPr id="6" name="TextBox 5">
            <a:extLst>
              <a:ext uri="{FF2B5EF4-FFF2-40B4-BE49-F238E27FC236}">
                <a16:creationId xmlns:a16="http://schemas.microsoft.com/office/drawing/2014/main" id="{A6889EF2-44E3-1718-5516-9DCEF1E0F825}"/>
              </a:ext>
            </a:extLst>
          </p:cNvPr>
          <p:cNvSpPr txBox="1"/>
          <p:nvPr/>
        </p:nvSpPr>
        <p:spPr>
          <a:xfrm>
            <a:off x="2910501" y="1531310"/>
            <a:ext cx="5789489" cy="3816429"/>
          </a:xfrm>
          <a:prstGeom prst="rect">
            <a:avLst/>
          </a:prstGeom>
          <a:noFill/>
        </p:spPr>
        <p:txBody>
          <a:bodyPr wrap="square" lIns="91440" tIns="45720" rIns="91440" bIns="45720" rtlCol="0" anchor="t">
            <a:spAutoFit/>
          </a:bodyPr>
          <a:lstStyle/>
          <a:p>
            <a:pPr algn="just" defTabSz="914377">
              <a:defRPr/>
            </a:pPr>
            <a:r>
              <a:rPr lang="en-US" sz="1100" b="1">
                <a:ea typeface="Verdana" panose="020B0604030504040204" pitchFamily="34" charset="0"/>
              </a:rPr>
              <a:t>Planning and Budgeting </a:t>
            </a:r>
            <a:endParaRPr lang="en-US" sz="1100">
              <a:ea typeface="Verdana" panose="020B0604030504040204" pitchFamily="34" charset="0"/>
              <a:cs typeface="Arial"/>
            </a:endParaRPr>
          </a:p>
          <a:p>
            <a:pPr marL="171450" indent="-171450" algn="just" defTabSz="914377">
              <a:buFont typeface="Arial,Sans-Serif"/>
              <a:buChar char="•"/>
              <a:defRPr/>
            </a:pPr>
            <a:r>
              <a:rPr lang="en-US" sz="1100">
                <a:ea typeface="Verdana"/>
              </a:rPr>
              <a:t>Manage and drive portfolio plans by internal stakeholders to assure the budgets </a:t>
            </a:r>
            <a:r>
              <a:rPr lang="en-US" sz="1100" err="1">
                <a:ea typeface="Verdana"/>
              </a:rPr>
              <a:t>areapproved</a:t>
            </a:r>
            <a:r>
              <a:rPr lang="en-US" sz="1100">
                <a:ea typeface="Verdana"/>
              </a:rPr>
              <a:t> and executed while maintaining day-to-day technical decision-</a:t>
            </a:r>
            <a:r>
              <a:rPr lang="en-US" sz="1100" err="1">
                <a:ea typeface="Verdana"/>
              </a:rPr>
              <a:t>makingprocess</a:t>
            </a:r>
            <a:r>
              <a:rPr lang="en-US" sz="1100">
                <a:ea typeface="Verdana"/>
              </a:rPr>
              <a:t>, in order to enhance the capability.</a:t>
            </a:r>
            <a:endParaRPr lang="en-US" sz="1100">
              <a:ea typeface="Verdana"/>
              <a:cs typeface="Arial"/>
            </a:endParaRPr>
          </a:p>
          <a:p>
            <a:pPr lvl="0" algn="just" defTabSz="914377">
              <a:defRPr/>
            </a:pPr>
            <a:endParaRPr lang="en-US" sz="1100">
              <a:ea typeface="Verdana" panose="020B0604030504040204" pitchFamily="34" charset="0"/>
              <a:cs typeface="Arial"/>
            </a:endParaRPr>
          </a:p>
          <a:p>
            <a:pPr algn="just" defTabSz="914377">
              <a:defRPr/>
            </a:pPr>
            <a:r>
              <a:rPr lang="en-US" sz="1100" b="1">
                <a:ea typeface="Verdana"/>
              </a:rPr>
              <a:t>Contract Management &amp; Vendor Management</a:t>
            </a:r>
            <a:endParaRPr lang="en-US" sz="1100">
              <a:ea typeface="Verdana"/>
              <a:cs typeface="Arial"/>
            </a:endParaRPr>
          </a:p>
          <a:p>
            <a:pPr marL="171450" indent="-171450" algn="just" defTabSz="914377">
              <a:buFont typeface="Arial,Sans-Serif"/>
              <a:buChar char="•"/>
              <a:defRPr/>
            </a:pPr>
            <a:r>
              <a:rPr lang="en-US" sz="1100">
                <a:ea typeface="Verdana"/>
              </a:rPr>
              <a:t>Manage, advise and drive contracts to advance the business needs of Upstream </a:t>
            </a:r>
            <a:r>
              <a:rPr lang="en-US" sz="1100" err="1">
                <a:ea typeface="Verdana"/>
              </a:rPr>
              <a:t>andPETRONAS</a:t>
            </a:r>
            <a:r>
              <a:rPr lang="en-US" sz="1100">
                <a:ea typeface="Verdana"/>
              </a:rPr>
              <a:t> group at the best interest of the contract stakeholders. </a:t>
            </a:r>
            <a:endParaRPr lang="en-US" sz="1100">
              <a:ea typeface="Verdana"/>
              <a:cs typeface="Arial"/>
            </a:endParaRPr>
          </a:p>
          <a:p>
            <a:pPr lvl="0" algn="just" defTabSz="914377">
              <a:defRPr/>
            </a:pPr>
            <a:endParaRPr lang="en-US" sz="1100">
              <a:ea typeface="Verdana" panose="020B0604030504040204" pitchFamily="34" charset="0"/>
              <a:cs typeface="Arial"/>
            </a:endParaRPr>
          </a:p>
          <a:p>
            <a:pPr lvl="0" algn="just" defTabSz="914377">
              <a:defRPr/>
            </a:pPr>
            <a:r>
              <a:rPr lang="en-US" sz="1100" b="1">
                <a:ea typeface="Verdana"/>
              </a:rPr>
              <a:t>Technical &amp; Non-Technical Applications and Infrastructure Project Delivery</a:t>
            </a:r>
            <a:endParaRPr lang="en-US" sz="1100">
              <a:ea typeface="Verdana"/>
              <a:cs typeface="Arial"/>
            </a:endParaRPr>
          </a:p>
          <a:p>
            <a:pPr marL="171450" indent="-171450" algn="just" defTabSz="914377">
              <a:buFont typeface="Arial,Sans-Serif"/>
              <a:buChar char="•"/>
              <a:defRPr/>
            </a:pPr>
            <a:r>
              <a:rPr lang="en-US" sz="1100">
                <a:ea typeface="Verdana"/>
              </a:rPr>
              <a:t>Lead and drive project implementation and execution for Upstream Technical &amp; Non-Technical Application and Technical Infrastructure development projects domestic </a:t>
            </a:r>
            <a:r>
              <a:rPr lang="en-US" sz="1100" err="1">
                <a:ea typeface="Verdana"/>
              </a:rPr>
              <a:t>andglobally</a:t>
            </a:r>
            <a:r>
              <a:rPr lang="en-US" sz="1100">
                <a:ea typeface="Verdana"/>
              </a:rPr>
              <a:t> for Upstream business required by multi-disciplines in EDPR that </a:t>
            </a:r>
            <a:r>
              <a:rPr lang="en-US" sz="1100" err="1">
                <a:ea typeface="Verdana"/>
              </a:rPr>
              <a:t>maximizesvalue</a:t>
            </a:r>
            <a:r>
              <a:rPr lang="en-US" sz="1100">
                <a:ea typeface="Verdana"/>
              </a:rPr>
              <a:t> creation and return of investment holistically. </a:t>
            </a:r>
            <a:endParaRPr lang="en-US" sz="1100">
              <a:ea typeface="Verdana"/>
              <a:cs typeface="Arial"/>
            </a:endParaRPr>
          </a:p>
          <a:p>
            <a:pPr lvl="0" algn="just" defTabSz="914377">
              <a:defRPr/>
            </a:pPr>
            <a:endParaRPr lang="en-US" sz="1100">
              <a:ea typeface="Verdana" panose="020B0604030504040204" pitchFamily="34" charset="0"/>
              <a:cs typeface="Arial"/>
            </a:endParaRPr>
          </a:p>
          <a:p>
            <a:pPr algn="just" defTabSz="914377">
              <a:defRPr/>
            </a:pPr>
            <a:r>
              <a:rPr lang="en-US" sz="1100" b="1">
                <a:ea typeface="Verdana"/>
              </a:rPr>
              <a:t>Technical &amp; Non-Technical Application Functions &amp; Workflow Support</a:t>
            </a:r>
            <a:endParaRPr lang="en-US" sz="1100">
              <a:ea typeface="Verdana"/>
              <a:cs typeface="Arial"/>
            </a:endParaRPr>
          </a:p>
          <a:p>
            <a:pPr marL="171450" indent="-171450" algn="just" defTabSz="914377">
              <a:buFont typeface="Arial,Sans-Serif"/>
              <a:buChar char="•"/>
              <a:defRPr/>
            </a:pPr>
            <a:r>
              <a:rPr lang="en-US" sz="1100">
                <a:ea typeface="Verdana"/>
              </a:rPr>
              <a:t>Manage, drive and lead the technical specialized skilled technical domain staffs (EDPR)to provide hands-on technical system support on the technical and non-</a:t>
            </a:r>
            <a:r>
              <a:rPr lang="en-US" sz="1100" err="1">
                <a:ea typeface="Verdana"/>
              </a:rPr>
              <a:t>technicalapplications</a:t>
            </a:r>
            <a:r>
              <a:rPr lang="en-US" sz="1100">
                <a:ea typeface="Verdana"/>
              </a:rPr>
              <a:t>, functionalities and workflows in order to ensure business continuity </a:t>
            </a:r>
            <a:r>
              <a:rPr lang="en-US" sz="1100" err="1">
                <a:ea typeface="Verdana"/>
              </a:rPr>
              <a:t>andincrease</a:t>
            </a:r>
            <a:r>
              <a:rPr lang="en-US" sz="1100">
                <a:ea typeface="Verdana"/>
              </a:rPr>
              <a:t> end-user productivity by adding value for Upstream fraternity of users. </a:t>
            </a:r>
            <a:endParaRPr lang="en-US" sz="1100">
              <a:ea typeface="Verdana"/>
              <a:cs typeface="Arial"/>
            </a:endParaRPr>
          </a:p>
          <a:p>
            <a:pPr lvl="0" algn="just" defTabSz="914377">
              <a:defRPr/>
            </a:pPr>
            <a:endParaRPr lang="en-US" sz="1100">
              <a:ea typeface="Verdana" panose="020B0604030504040204" pitchFamily="34" charset="0"/>
              <a:cs typeface="Arial"/>
            </a:endParaRPr>
          </a:p>
        </p:txBody>
      </p:sp>
    </p:spTree>
    <p:extLst>
      <p:ext uri="{BB962C8B-B14F-4D97-AF65-F5344CB8AC3E}">
        <p14:creationId xmlns:p14="http://schemas.microsoft.com/office/powerpoint/2010/main" val="3606437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A538C-E701-63EC-A6E4-369EF7714E53}"/>
            </a:ext>
          </a:extLst>
        </p:cNvPr>
        <p:cNvGrpSpPr/>
        <p:nvPr/>
      </p:nvGrpSpPr>
      <p:grpSpPr>
        <a:xfrm>
          <a:off x="0" y="0"/>
          <a:ext cx="0" cy="0"/>
          <a:chOff x="0" y="0"/>
          <a:chExt cx="0" cy="0"/>
        </a:xfrm>
      </p:grpSpPr>
      <p:sp>
        <p:nvSpPr>
          <p:cNvPr id="337" name="Title 1">
            <a:extLst>
              <a:ext uri="{FF2B5EF4-FFF2-40B4-BE49-F238E27FC236}">
                <a16:creationId xmlns:a16="http://schemas.microsoft.com/office/drawing/2014/main" id="{DB970AFD-3AF2-28F3-4ADB-F4E7A1ED8AAC}"/>
              </a:ext>
            </a:extLst>
          </p:cNvPr>
          <p:cNvSpPr>
            <a:spLocks noGrp="1"/>
          </p:cNvSpPr>
          <p:nvPr>
            <p:ph type="title"/>
          </p:nvPr>
        </p:nvSpPr>
        <p:spPr>
          <a:xfrm>
            <a:off x="400049" y="143650"/>
            <a:ext cx="9496425" cy="548117"/>
          </a:xfrm>
        </p:spPr>
        <p:txBody>
          <a:bodyPr>
            <a:noAutofit/>
          </a:bodyPr>
          <a:lstStyle/>
          <a:p>
            <a:pPr>
              <a:spcBef>
                <a:spcPts val="0"/>
              </a:spcBef>
            </a:pPr>
            <a:r>
              <a:rPr lang="en-US" b="1">
                <a:latin typeface="Museo Sans 900" panose="02000000000000000000" pitchFamily="50" charset="0"/>
                <a:ea typeface="Verdana" panose="020B0604030504040204" pitchFamily="34" charset="0"/>
                <a:cs typeface="Verdana" panose="020B0604030504040204" pitchFamily="34" charset="0"/>
              </a:rPr>
              <a:t>2.6 Roles and Responsibilities </a:t>
            </a:r>
            <a:br>
              <a:rPr lang="en-US" b="1">
                <a:latin typeface="Museo Sans 900" panose="02000000000000000000" pitchFamily="50" charset="0"/>
                <a:ea typeface="Verdana" panose="020B0604030504040204" pitchFamily="34" charset="0"/>
                <a:cs typeface="Verdana" panose="020B0604030504040204" pitchFamily="34" charset="0"/>
              </a:rPr>
            </a:br>
            <a:r>
              <a:rPr lang="en-US" sz="2100">
                <a:latin typeface="Museo Sans 900" panose="02000000000000000000" pitchFamily="50" charset="0"/>
                <a:ea typeface="Verdana" panose="020B0604030504040204" pitchFamily="34" charset="0"/>
                <a:cs typeface="Verdana" panose="020B0604030504040204" pitchFamily="34" charset="0"/>
              </a:rPr>
              <a:t>(PETRONAS Digital)</a:t>
            </a:r>
          </a:p>
        </p:txBody>
      </p:sp>
      <p:graphicFrame>
        <p:nvGraphicFramePr>
          <p:cNvPr id="3" name="Table 2">
            <a:extLst>
              <a:ext uri="{FF2B5EF4-FFF2-40B4-BE49-F238E27FC236}">
                <a16:creationId xmlns:a16="http://schemas.microsoft.com/office/drawing/2014/main" id="{BA663B04-F99B-FFCB-BB06-D23C50F38356}"/>
              </a:ext>
            </a:extLst>
          </p:cNvPr>
          <p:cNvGraphicFramePr>
            <a:graphicFrameLocks noGrp="1"/>
          </p:cNvGraphicFramePr>
          <p:nvPr/>
        </p:nvGraphicFramePr>
        <p:xfrm>
          <a:off x="444010" y="1121315"/>
          <a:ext cx="8242790" cy="4745229"/>
        </p:xfrm>
        <a:graphic>
          <a:graphicData uri="http://schemas.openxmlformats.org/drawingml/2006/table">
            <a:tbl>
              <a:tblPr firstRow="1" bandRow="1">
                <a:tableStyleId>{5940675A-B579-460E-94D1-54222C63F5DA}</a:tableStyleId>
              </a:tblPr>
              <a:tblGrid>
                <a:gridCol w="2463577">
                  <a:extLst>
                    <a:ext uri="{9D8B030D-6E8A-4147-A177-3AD203B41FA5}">
                      <a16:colId xmlns:a16="http://schemas.microsoft.com/office/drawing/2014/main" val="4126466257"/>
                    </a:ext>
                  </a:extLst>
                </a:gridCol>
                <a:gridCol w="5779213">
                  <a:extLst>
                    <a:ext uri="{9D8B030D-6E8A-4147-A177-3AD203B41FA5}">
                      <a16:colId xmlns:a16="http://schemas.microsoft.com/office/drawing/2014/main" val="4000571328"/>
                    </a:ext>
                  </a:extLst>
                </a:gridCol>
              </a:tblGrid>
              <a:tr h="398124">
                <a:tc>
                  <a:txBody>
                    <a:bodyPr/>
                    <a:lstStyle/>
                    <a:p>
                      <a:pPr algn="ctr"/>
                      <a:r>
                        <a:rPr lang="en-US" sz="1200" b="1">
                          <a:solidFill>
                            <a:schemeClr val="bg1"/>
                          </a:solidFill>
                          <a:latin typeface="Museo Sans 300" panose="02000000000000000000" pitchFamily="50" charset="0"/>
                          <a:ea typeface="Verdana" panose="020B0604030504040204" pitchFamily="34" charset="0"/>
                        </a:rPr>
                        <a:t>Role</a:t>
                      </a:r>
                    </a:p>
                  </a:txBody>
                  <a:tcPr marL="68580" marR="68580" marT="34290" marB="34290" anchor="ctr">
                    <a:solidFill>
                      <a:srgbClr val="00B1A9"/>
                    </a:solidFill>
                  </a:tcPr>
                </a:tc>
                <a:tc>
                  <a:txBody>
                    <a:bodyPr/>
                    <a:lstStyle/>
                    <a:p>
                      <a:pPr algn="ctr"/>
                      <a:r>
                        <a:rPr lang="en-US" sz="1200" b="1">
                          <a:solidFill>
                            <a:schemeClr val="bg1"/>
                          </a:solidFill>
                          <a:latin typeface="Museo Sans 300" panose="02000000000000000000" pitchFamily="50" charset="0"/>
                          <a:ea typeface="Verdana" panose="020B0604030504040204" pitchFamily="34" charset="0"/>
                          <a:cs typeface="Verdana" panose="020B0604030504040204" pitchFamily="34" charset="0"/>
                        </a:rPr>
                        <a:t>Responsibilities</a:t>
                      </a:r>
                    </a:p>
                  </a:txBody>
                  <a:tcPr marL="68580" marR="68580" marT="34290" marB="34290" anchor="ctr">
                    <a:solidFill>
                      <a:srgbClr val="00B1A9"/>
                    </a:solidFill>
                  </a:tcPr>
                </a:tc>
                <a:extLst>
                  <a:ext uri="{0D108BD9-81ED-4DB2-BD59-A6C34878D82A}">
                    <a16:rowId xmlns:a16="http://schemas.microsoft.com/office/drawing/2014/main" val="3795728164"/>
                  </a:ext>
                </a:extLst>
              </a:tr>
              <a:tr h="4347105">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endParaRPr lang="en-US" sz="1100" u="none" strike="noStrike" kern="1200">
                        <a:solidFill>
                          <a:srgbClr val="0000FF"/>
                        </a:solidFill>
                        <a:effectLst/>
                        <a:latin typeface="Museo Sans 300" panose="02000000000000000000" pitchFamily="50" charset="0"/>
                        <a:ea typeface="Verdana" panose="020B0604030504040204" pitchFamily="34" charset="0"/>
                      </a:endParaRPr>
                    </a:p>
                  </a:txBody>
                  <a:tcPr marL="7144" marR="7144" marT="7144" marB="0" anchor="ctr"/>
                </a:tc>
                <a:tc>
                  <a:txBody>
                    <a:bodyPr/>
                    <a:lstStyle/>
                    <a:p>
                      <a:pPr marL="0" marR="0" lvl="0" indent="0" algn="just"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u="none" strike="noStrike" kern="1200">
                        <a:solidFill>
                          <a:srgbClr val="0000FF"/>
                        </a:solidFill>
                        <a:effectLst/>
                        <a:latin typeface="Museo Sans 300" panose="02000000000000000000" pitchFamily="50" charset="0"/>
                        <a:ea typeface="Verdana" panose="020B0604030504040204" pitchFamily="34" charset="0"/>
                        <a:cs typeface="Verdana" panose="020B0604030504040204" pitchFamily="34" charset="0"/>
                      </a:endParaRPr>
                    </a:p>
                  </a:txBody>
                  <a:tcPr marL="7144" marR="7144" marT="7144" marB="0" anchor="ctr"/>
                </a:tc>
                <a:extLst>
                  <a:ext uri="{0D108BD9-81ED-4DB2-BD59-A6C34878D82A}">
                    <a16:rowId xmlns:a16="http://schemas.microsoft.com/office/drawing/2014/main" val="3110202095"/>
                  </a:ext>
                </a:extLst>
              </a:tr>
            </a:tbl>
          </a:graphicData>
        </a:graphic>
      </p:graphicFrame>
      <p:pic>
        <p:nvPicPr>
          <p:cNvPr id="11" name="Picture 10">
            <a:extLst>
              <a:ext uri="{FF2B5EF4-FFF2-40B4-BE49-F238E27FC236}">
                <a16:creationId xmlns:a16="http://schemas.microsoft.com/office/drawing/2014/main" id="{84CAE5D6-3A41-6A47-28E1-7F555404BB12}"/>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4" name="BJPseudoFooter">
            <a:extLst>
              <a:ext uri="{FF2B5EF4-FFF2-40B4-BE49-F238E27FC236}">
                <a16:creationId xmlns:a16="http://schemas.microsoft.com/office/drawing/2014/main" id="{DF90CB65-6B0D-ECA0-F155-9D5B00680AF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2" name="TextBox 1">
            <a:extLst>
              <a:ext uri="{FF2B5EF4-FFF2-40B4-BE49-F238E27FC236}">
                <a16:creationId xmlns:a16="http://schemas.microsoft.com/office/drawing/2014/main" id="{F229CB82-DF13-74AB-98DE-F5622A74813F}"/>
              </a:ext>
            </a:extLst>
          </p:cNvPr>
          <p:cNvSpPr txBox="1"/>
          <p:nvPr/>
        </p:nvSpPr>
        <p:spPr>
          <a:xfrm>
            <a:off x="330993" y="812045"/>
            <a:ext cx="3973075" cy="338554"/>
          </a:xfrm>
          <a:prstGeom prst="rect">
            <a:avLst/>
          </a:prstGeom>
          <a:noFill/>
        </p:spPr>
        <p:txBody>
          <a:bodyPr wrap="none" rtlCol="0">
            <a:spAutoFit/>
          </a:bodyPr>
          <a:lstStyle/>
          <a:p>
            <a:r>
              <a:rPr lang="en-GB" sz="1600"/>
              <a:t>Executive – PDU EDPR Tech Apps Tribes</a:t>
            </a:r>
          </a:p>
        </p:txBody>
      </p:sp>
      <p:sp>
        <p:nvSpPr>
          <p:cNvPr id="5" name="TextBox 4">
            <a:extLst>
              <a:ext uri="{FF2B5EF4-FFF2-40B4-BE49-F238E27FC236}">
                <a16:creationId xmlns:a16="http://schemas.microsoft.com/office/drawing/2014/main" id="{550BC0AF-E088-9790-4E3E-270D5CA570A5}"/>
              </a:ext>
            </a:extLst>
          </p:cNvPr>
          <p:cNvSpPr txBox="1"/>
          <p:nvPr/>
        </p:nvSpPr>
        <p:spPr>
          <a:xfrm>
            <a:off x="444010" y="1522666"/>
            <a:ext cx="2453301" cy="3139321"/>
          </a:xfrm>
          <a:prstGeom prst="rect">
            <a:avLst/>
          </a:prstGeom>
          <a:noFill/>
        </p:spPr>
        <p:txBody>
          <a:bodyPr wrap="square" rtlCol="0">
            <a:spAutoFit/>
          </a:bodyPr>
          <a:lstStyle/>
          <a:p>
            <a:pPr lvl="0" algn="just" defTabSz="914377">
              <a:defRPr/>
            </a:pPr>
            <a:r>
              <a:rPr lang="en-US" sz="1100">
                <a:ea typeface="Verdana" panose="020B0604030504040204" pitchFamily="34" charset="0"/>
              </a:rPr>
              <a:t>Deliver, Implement, execute and support the EDPR technical &amp; non-technical applications functional &amp; workflow and technical IT infrastructure, for Upstream multidisciplinary domain in order to respond timely and address integrated functional issues and fast-track the operations to respond and harvest the benefit realization required by multi-disciplines within the domain fraternity, in order to ensure consistent high-efficiency, availability &amp; reliability of upstream technical &amp; non-technical applications hence increasing technical &amp; business users productivity and efficiency.</a:t>
            </a:r>
          </a:p>
        </p:txBody>
      </p:sp>
      <p:sp>
        <p:nvSpPr>
          <p:cNvPr id="6" name="TextBox 5">
            <a:extLst>
              <a:ext uri="{FF2B5EF4-FFF2-40B4-BE49-F238E27FC236}">
                <a16:creationId xmlns:a16="http://schemas.microsoft.com/office/drawing/2014/main" id="{AED6AD35-4BB9-6163-EE87-C99B80EA408C}"/>
              </a:ext>
            </a:extLst>
          </p:cNvPr>
          <p:cNvSpPr txBox="1"/>
          <p:nvPr/>
        </p:nvSpPr>
        <p:spPr>
          <a:xfrm>
            <a:off x="2897311" y="1531310"/>
            <a:ext cx="5789489" cy="2631490"/>
          </a:xfrm>
          <a:prstGeom prst="rect">
            <a:avLst/>
          </a:prstGeom>
          <a:noFill/>
        </p:spPr>
        <p:txBody>
          <a:bodyPr wrap="square" lIns="91440" tIns="45720" rIns="91440" bIns="45720" rtlCol="0" anchor="t">
            <a:spAutoFit/>
          </a:bodyPr>
          <a:lstStyle/>
          <a:p>
            <a:pPr lvl="0" algn="just" defTabSz="914377">
              <a:defRPr/>
            </a:pPr>
            <a:r>
              <a:rPr lang="en-US" sz="1100" b="1">
                <a:ea typeface="Verdana" panose="020B0604030504040204" pitchFamily="34" charset="0"/>
              </a:rPr>
              <a:t>Portfolio Management</a:t>
            </a:r>
            <a:endParaRPr lang="en-US" sz="1100">
              <a:ea typeface="Verdana" panose="020B0604030504040204" pitchFamily="34" charset="0"/>
            </a:endParaRPr>
          </a:p>
          <a:p>
            <a:pPr marL="171450" lvl="0" indent="-171450" algn="just" defTabSz="914377">
              <a:buFont typeface="Arial,Sans-Serif"/>
              <a:buChar char="•"/>
              <a:defRPr/>
            </a:pPr>
            <a:r>
              <a:rPr lang="en-US" sz="1100">
                <a:ea typeface="Verdana"/>
              </a:rPr>
              <a:t>Execute service delivery of Upstream projects/program to meet Upstream Business expectations and requirements.</a:t>
            </a:r>
          </a:p>
          <a:p>
            <a:pPr lvl="0" algn="just" defTabSz="914377">
              <a:defRPr/>
            </a:pPr>
            <a:endParaRPr lang="en-US" sz="1100">
              <a:ea typeface="Verdana" panose="020B0604030504040204" pitchFamily="34" charset="0"/>
            </a:endParaRPr>
          </a:p>
          <a:p>
            <a:pPr lvl="0" algn="just" defTabSz="914377">
              <a:defRPr/>
            </a:pPr>
            <a:r>
              <a:rPr lang="en-US" sz="1100" b="1">
                <a:ea typeface="Verdana"/>
              </a:rPr>
              <a:t>Delivery Excellence</a:t>
            </a:r>
            <a:endParaRPr lang="en-US" sz="1100">
              <a:ea typeface="Verdana"/>
            </a:endParaRPr>
          </a:p>
          <a:p>
            <a:pPr marL="171450" indent="-171450" algn="just" defTabSz="914377">
              <a:buFont typeface="Arial,Sans-Serif"/>
              <a:buChar char="•"/>
              <a:defRPr/>
            </a:pPr>
            <a:r>
              <a:rPr lang="en-US" sz="1100">
                <a:ea typeface="Verdana"/>
              </a:rPr>
              <a:t>Execute and facilitate end-to-end Upstream Projects activities for key projects and milestones.</a:t>
            </a:r>
          </a:p>
          <a:p>
            <a:pPr marL="171450" lvl="0" indent="-171450" algn="just" defTabSz="914377">
              <a:buFont typeface="Arial,Sans-Serif"/>
              <a:buChar char="•"/>
              <a:defRPr/>
            </a:pPr>
            <a:r>
              <a:rPr lang="en-US" sz="1100">
                <a:ea typeface="Verdana"/>
              </a:rPr>
              <a:t>Adopt, comply and enforce Upstream Projects with PDSB guidelines for project related.</a:t>
            </a:r>
          </a:p>
          <a:p>
            <a:pPr marL="171450" lvl="0" indent="-171450" algn="just" defTabSz="914377">
              <a:buFont typeface="Arial,Sans-Serif"/>
              <a:buChar char="•"/>
              <a:defRPr/>
            </a:pPr>
            <a:endParaRPr lang="en-US" sz="1100">
              <a:ea typeface="Verdana" panose="020B0604030504040204" pitchFamily="34" charset="0"/>
            </a:endParaRPr>
          </a:p>
          <a:p>
            <a:pPr algn="just" defTabSz="914377">
              <a:defRPr/>
            </a:pPr>
            <a:r>
              <a:rPr lang="en-US" sz="1100" b="1">
                <a:ea typeface="Verdana"/>
              </a:rPr>
              <a:t>Financial Management</a:t>
            </a:r>
            <a:endParaRPr lang="en-US" sz="1100">
              <a:ea typeface="Verdana"/>
            </a:endParaRPr>
          </a:p>
          <a:p>
            <a:pPr marL="171450" indent="-171450" algn="just" defTabSz="914377">
              <a:buFont typeface="Arial,Sans-Serif"/>
              <a:buChar char="•"/>
              <a:defRPr/>
            </a:pPr>
            <a:r>
              <a:rPr lang="en-US" sz="1100">
                <a:ea typeface="Verdana"/>
              </a:rPr>
              <a:t>Coordinate and manage the overall budget planning and utilization for the Upstream Project, while evaluating financial strategies to optimize costs and enhance project outcomes.</a:t>
            </a:r>
          </a:p>
          <a:p>
            <a:pPr marL="171450" indent="-171450" algn="just" defTabSz="914377">
              <a:buFont typeface="Arial,Sans-Serif"/>
              <a:buChar char="•"/>
              <a:defRPr/>
            </a:pPr>
            <a:endParaRPr lang="en-US" sz="1100">
              <a:ea typeface="Verdana" panose="020B0604030504040204" pitchFamily="34" charset="0"/>
            </a:endParaRPr>
          </a:p>
          <a:p>
            <a:pPr lvl="0" algn="just" defTabSz="914377">
              <a:defRPr/>
            </a:pPr>
            <a:endParaRPr lang="en-US" sz="1100">
              <a:ea typeface="Verdana" panose="020B0604030504040204" pitchFamily="34" charset="0"/>
            </a:endParaRPr>
          </a:p>
        </p:txBody>
      </p:sp>
    </p:spTree>
    <p:extLst>
      <p:ext uri="{BB962C8B-B14F-4D97-AF65-F5344CB8AC3E}">
        <p14:creationId xmlns:p14="http://schemas.microsoft.com/office/powerpoint/2010/main" val="1730829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Title 1"/>
          <p:cNvSpPr>
            <a:spLocks noGrp="1"/>
          </p:cNvSpPr>
          <p:nvPr>
            <p:ph type="title"/>
          </p:nvPr>
        </p:nvSpPr>
        <p:spPr>
          <a:xfrm>
            <a:off x="400049" y="143650"/>
            <a:ext cx="9496425" cy="548117"/>
          </a:xfrm>
        </p:spPr>
        <p:txBody>
          <a:bodyPr>
            <a:noAutofit/>
          </a:bodyPr>
          <a:lstStyle/>
          <a:p>
            <a:pPr>
              <a:spcBef>
                <a:spcPts val="0"/>
              </a:spcBef>
            </a:pPr>
            <a:r>
              <a:rPr lang="en-US" b="1">
                <a:latin typeface="Museo Sans 900" panose="02000000000000000000" pitchFamily="50" charset="0"/>
                <a:ea typeface="Verdana" panose="020B0604030504040204" pitchFamily="34" charset="0"/>
                <a:cs typeface="Verdana" panose="020B0604030504040204" pitchFamily="34" charset="0"/>
              </a:rPr>
              <a:t>2.6 Roles and Responsibilities </a:t>
            </a:r>
            <a:br>
              <a:rPr lang="en-US" b="1">
                <a:latin typeface="Museo Sans 900" panose="02000000000000000000" pitchFamily="50" charset="0"/>
                <a:ea typeface="Verdana" panose="020B0604030504040204" pitchFamily="34" charset="0"/>
                <a:cs typeface="Verdana" panose="020B0604030504040204" pitchFamily="34" charset="0"/>
              </a:rPr>
            </a:br>
            <a:r>
              <a:rPr lang="en-US" sz="2100">
                <a:latin typeface="Museo Sans 900" panose="02000000000000000000" pitchFamily="50" charset="0"/>
                <a:ea typeface="Verdana" panose="020B0604030504040204" pitchFamily="34" charset="0"/>
                <a:cs typeface="Verdana" panose="020B0604030504040204" pitchFamily="34" charset="0"/>
              </a:rPr>
              <a:t>(PETRONAS Digital)</a:t>
            </a:r>
          </a:p>
        </p:txBody>
      </p:sp>
      <p:graphicFrame>
        <p:nvGraphicFramePr>
          <p:cNvPr id="3" name="Table 2"/>
          <p:cNvGraphicFramePr>
            <a:graphicFrameLocks noGrp="1"/>
          </p:cNvGraphicFramePr>
          <p:nvPr/>
        </p:nvGraphicFramePr>
        <p:xfrm>
          <a:off x="444010" y="1121315"/>
          <a:ext cx="8242790" cy="4968023"/>
        </p:xfrm>
        <a:graphic>
          <a:graphicData uri="http://schemas.openxmlformats.org/drawingml/2006/table">
            <a:tbl>
              <a:tblPr firstRow="1" bandRow="1">
                <a:tableStyleId>{5940675A-B579-460E-94D1-54222C63F5DA}</a:tableStyleId>
              </a:tblPr>
              <a:tblGrid>
                <a:gridCol w="2463577">
                  <a:extLst>
                    <a:ext uri="{9D8B030D-6E8A-4147-A177-3AD203B41FA5}">
                      <a16:colId xmlns:a16="http://schemas.microsoft.com/office/drawing/2014/main" val="4126466257"/>
                    </a:ext>
                  </a:extLst>
                </a:gridCol>
                <a:gridCol w="5779213">
                  <a:extLst>
                    <a:ext uri="{9D8B030D-6E8A-4147-A177-3AD203B41FA5}">
                      <a16:colId xmlns:a16="http://schemas.microsoft.com/office/drawing/2014/main" val="4000571328"/>
                    </a:ext>
                  </a:extLst>
                </a:gridCol>
              </a:tblGrid>
              <a:tr h="416816">
                <a:tc>
                  <a:txBody>
                    <a:bodyPr/>
                    <a:lstStyle/>
                    <a:p>
                      <a:pPr algn="ctr"/>
                      <a:r>
                        <a:rPr lang="en-US" sz="1200" b="1">
                          <a:solidFill>
                            <a:schemeClr val="bg1"/>
                          </a:solidFill>
                          <a:latin typeface="Museo Sans 300" panose="02000000000000000000" pitchFamily="50" charset="0"/>
                          <a:ea typeface="Verdana" panose="020B0604030504040204" pitchFamily="34" charset="0"/>
                        </a:rPr>
                        <a:t>Role</a:t>
                      </a:r>
                    </a:p>
                  </a:txBody>
                  <a:tcPr marL="68580" marR="68580" marT="34290" marB="34290" anchor="ctr">
                    <a:solidFill>
                      <a:srgbClr val="00B1A9"/>
                    </a:solidFill>
                  </a:tcPr>
                </a:tc>
                <a:tc>
                  <a:txBody>
                    <a:bodyPr/>
                    <a:lstStyle/>
                    <a:p>
                      <a:pPr algn="ctr"/>
                      <a:r>
                        <a:rPr lang="en-US" sz="1200" b="1">
                          <a:solidFill>
                            <a:schemeClr val="bg1"/>
                          </a:solidFill>
                          <a:latin typeface="Museo Sans 300" panose="02000000000000000000" pitchFamily="50" charset="0"/>
                          <a:ea typeface="Verdana" panose="020B0604030504040204" pitchFamily="34" charset="0"/>
                          <a:cs typeface="Verdana" panose="020B0604030504040204" pitchFamily="34" charset="0"/>
                        </a:rPr>
                        <a:t>Responsibilities</a:t>
                      </a:r>
                    </a:p>
                  </a:txBody>
                  <a:tcPr marL="68580" marR="68580" marT="34290" marB="34290" anchor="ctr">
                    <a:solidFill>
                      <a:srgbClr val="00B1A9"/>
                    </a:solidFill>
                  </a:tcPr>
                </a:tc>
                <a:extLst>
                  <a:ext uri="{0D108BD9-81ED-4DB2-BD59-A6C34878D82A}">
                    <a16:rowId xmlns:a16="http://schemas.microsoft.com/office/drawing/2014/main" val="3795728164"/>
                  </a:ext>
                </a:extLst>
              </a:tr>
              <a:tr h="4551207">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endParaRPr lang="en-US" sz="1100" u="none" strike="noStrike" kern="1200">
                        <a:solidFill>
                          <a:srgbClr val="0000FF"/>
                        </a:solidFill>
                        <a:effectLst/>
                        <a:latin typeface="Museo Sans 300" panose="02000000000000000000" pitchFamily="50" charset="0"/>
                        <a:ea typeface="Verdana" panose="020B0604030504040204" pitchFamily="34" charset="0"/>
                      </a:endParaRPr>
                    </a:p>
                  </a:txBody>
                  <a:tcPr marL="7144" marR="7144" marT="7144" marB="0" anchor="ctr"/>
                </a:tc>
                <a:tc>
                  <a:txBody>
                    <a:bodyPr/>
                    <a:lstStyle/>
                    <a:p>
                      <a:pPr marL="0" marR="0" lvl="0" indent="0" algn="just"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u="none" strike="noStrike" kern="1200">
                        <a:solidFill>
                          <a:srgbClr val="0000FF"/>
                        </a:solidFill>
                        <a:effectLst/>
                        <a:latin typeface="Museo Sans 300" panose="02000000000000000000" pitchFamily="50" charset="0"/>
                        <a:ea typeface="Verdana" panose="020B0604030504040204" pitchFamily="34" charset="0"/>
                        <a:cs typeface="Verdana" panose="020B0604030504040204" pitchFamily="34" charset="0"/>
                      </a:endParaRPr>
                    </a:p>
                  </a:txBody>
                  <a:tcPr marL="7144" marR="7144" marT="7144" marB="0" anchor="ctr"/>
                </a:tc>
                <a:extLst>
                  <a:ext uri="{0D108BD9-81ED-4DB2-BD59-A6C34878D82A}">
                    <a16:rowId xmlns:a16="http://schemas.microsoft.com/office/drawing/2014/main" val="3110202095"/>
                  </a:ext>
                </a:extLst>
              </a:tr>
            </a:tbl>
          </a:graphicData>
        </a:graphic>
      </p:graphicFrame>
      <p:pic>
        <p:nvPicPr>
          <p:cNvPr id="11" name="Picture 10"/>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4" name="BJPseudoFooter">
            <a:extLst>
              <a:ext uri="{FF2B5EF4-FFF2-40B4-BE49-F238E27FC236}">
                <a16:creationId xmlns:a16="http://schemas.microsoft.com/office/drawing/2014/main" id="{A9AA9947-DE22-463B-9544-931516AE263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2" name="TextBox 1">
            <a:extLst>
              <a:ext uri="{FF2B5EF4-FFF2-40B4-BE49-F238E27FC236}">
                <a16:creationId xmlns:a16="http://schemas.microsoft.com/office/drawing/2014/main" id="{17D420E8-E80D-AF2B-375C-A8A92265E25F}"/>
              </a:ext>
            </a:extLst>
          </p:cNvPr>
          <p:cNvSpPr txBox="1"/>
          <p:nvPr/>
        </p:nvSpPr>
        <p:spPr>
          <a:xfrm>
            <a:off x="400049" y="768662"/>
            <a:ext cx="3182153" cy="338554"/>
          </a:xfrm>
          <a:prstGeom prst="rect">
            <a:avLst/>
          </a:prstGeom>
          <a:noFill/>
        </p:spPr>
        <p:txBody>
          <a:bodyPr wrap="none" lIns="91440" tIns="45720" rIns="91440" bIns="45720" rtlCol="0" anchor="t">
            <a:spAutoFit/>
          </a:bodyPr>
          <a:lstStyle/>
          <a:p>
            <a:r>
              <a:rPr lang="en-GB" sz="1600"/>
              <a:t>Manager – PDU Malaysia Assets</a:t>
            </a:r>
          </a:p>
        </p:txBody>
      </p:sp>
      <p:sp>
        <p:nvSpPr>
          <p:cNvPr id="5" name="TextBox 4">
            <a:extLst>
              <a:ext uri="{FF2B5EF4-FFF2-40B4-BE49-F238E27FC236}">
                <a16:creationId xmlns:a16="http://schemas.microsoft.com/office/drawing/2014/main" id="{F99BF892-4364-B469-2DC3-7954DBFC0AE4}"/>
              </a:ext>
            </a:extLst>
          </p:cNvPr>
          <p:cNvSpPr txBox="1"/>
          <p:nvPr/>
        </p:nvSpPr>
        <p:spPr>
          <a:xfrm>
            <a:off x="457200" y="1531310"/>
            <a:ext cx="2453301" cy="1954381"/>
          </a:xfrm>
          <a:prstGeom prst="rect">
            <a:avLst/>
          </a:prstGeom>
          <a:noFill/>
        </p:spPr>
        <p:txBody>
          <a:bodyPr wrap="square" rtlCol="0">
            <a:spAutoFit/>
          </a:bodyPr>
          <a:lstStyle/>
          <a:p>
            <a:pPr lvl="0" algn="just" defTabSz="914377">
              <a:defRPr/>
            </a:pPr>
            <a:r>
              <a:rPr lang="en-GB" sz="1100"/>
              <a:t>Oversee, direct, and supervise the implementation and execution of specialized technical and non-technical applications and infrastructure/telecommunication  projects and maintenance activities. Drive strategic planning and execution of technical and business budgets, targets, and initiatives related to infrastructure, projects, applications, and workflows.</a:t>
            </a:r>
            <a:endParaRPr lang="en-US" sz="1100">
              <a:latin typeface="Museo Sans 300" panose="02000000000000000000" pitchFamily="50" charset="0"/>
              <a:ea typeface="Verdana" panose="020B0604030504040204" pitchFamily="34" charset="0"/>
            </a:endParaRPr>
          </a:p>
        </p:txBody>
      </p:sp>
      <p:sp>
        <p:nvSpPr>
          <p:cNvPr id="6" name="TextBox 5">
            <a:extLst>
              <a:ext uri="{FF2B5EF4-FFF2-40B4-BE49-F238E27FC236}">
                <a16:creationId xmlns:a16="http://schemas.microsoft.com/office/drawing/2014/main" id="{A6889EF2-44E3-1718-5516-9DCEF1E0F825}"/>
              </a:ext>
            </a:extLst>
          </p:cNvPr>
          <p:cNvSpPr txBox="1"/>
          <p:nvPr/>
        </p:nvSpPr>
        <p:spPr>
          <a:xfrm>
            <a:off x="2910501" y="1531310"/>
            <a:ext cx="5789489" cy="4662815"/>
          </a:xfrm>
          <a:prstGeom prst="rect">
            <a:avLst/>
          </a:prstGeom>
          <a:noFill/>
        </p:spPr>
        <p:txBody>
          <a:bodyPr wrap="square" lIns="91440" tIns="45720" rIns="91440" bIns="45720" rtlCol="0" anchor="t">
            <a:spAutoFit/>
          </a:bodyPr>
          <a:lstStyle/>
          <a:p>
            <a:pPr algn="just" defTabSz="914377">
              <a:defRPr/>
            </a:pPr>
            <a:r>
              <a:rPr lang="en-US" sz="1100" b="1">
                <a:ea typeface="Verdana" panose="020B0604030504040204" pitchFamily="34" charset="0"/>
              </a:rPr>
              <a:t>Planning and Budgeting </a:t>
            </a:r>
            <a:endParaRPr lang="en-US" sz="1100">
              <a:ea typeface="Verdana" panose="020B0604030504040204" pitchFamily="34" charset="0"/>
              <a:cs typeface="Arial"/>
            </a:endParaRPr>
          </a:p>
          <a:p>
            <a:pPr marL="171450" indent="-171450" algn="just" defTabSz="914377">
              <a:buFont typeface="Arial,Sans-Serif"/>
              <a:buChar char="•"/>
              <a:defRPr/>
            </a:pPr>
            <a:r>
              <a:rPr lang="en-US" sz="1100">
                <a:ea typeface="Verdana"/>
              </a:rPr>
              <a:t>Manage and drive portfolio plans by internal stakeholders to assure the budgets are approved and executed while maintaining day-to-day technical decision-making process, in order to enhance the capability.</a:t>
            </a:r>
            <a:endParaRPr lang="en-US" sz="1100">
              <a:ea typeface="Verdana"/>
              <a:cs typeface="Arial"/>
            </a:endParaRPr>
          </a:p>
          <a:p>
            <a:pPr lvl="0" algn="just" defTabSz="914377">
              <a:defRPr/>
            </a:pPr>
            <a:endParaRPr lang="en-US" sz="1100">
              <a:ea typeface="Verdana" panose="020B0604030504040204" pitchFamily="34" charset="0"/>
              <a:cs typeface="Arial"/>
            </a:endParaRPr>
          </a:p>
          <a:p>
            <a:pPr algn="just" defTabSz="914377">
              <a:defRPr/>
            </a:pPr>
            <a:r>
              <a:rPr lang="en-US" sz="1100" b="1">
                <a:ea typeface="Verdana"/>
              </a:rPr>
              <a:t>Contract Management &amp; Vendor Management</a:t>
            </a:r>
            <a:endParaRPr lang="en-US" sz="1100">
              <a:ea typeface="Verdana"/>
              <a:cs typeface="Arial"/>
            </a:endParaRPr>
          </a:p>
          <a:p>
            <a:pPr marL="171450" indent="-171450" algn="just" defTabSz="914377">
              <a:buFont typeface="Arial,Sans-Serif"/>
              <a:buChar char="•"/>
              <a:defRPr/>
            </a:pPr>
            <a:r>
              <a:rPr lang="en-US" sz="1100">
                <a:ea typeface="Verdana"/>
              </a:rPr>
              <a:t>Manage, advise and drive contracts to advance the business needs of Upstream and PETRONAS group at the best interest of the contract stakeholders. </a:t>
            </a:r>
            <a:endParaRPr lang="en-US" sz="1100">
              <a:ea typeface="Verdana"/>
              <a:cs typeface="Arial"/>
            </a:endParaRPr>
          </a:p>
          <a:p>
            <a:pPr lvl="0" algn="just" defTabSz="914377">
              <a:defRPr/>
            </a:pPr>
            <a:endParaRPr lang="en-US" sz="1100">
              <a:ea typeface="Verdana" panose="020B0604030504040204" pitchFamily="34" charset="0"/>
              <a:cs typeface="Arial"/>
            </a:endParaRPr>
          </a:p>
          <a:p>
            <a:pPr lvl="0" algn="just" defTabSz="914377">
              <a:defRPr/>
            </a:pPr>
            <a:r>
              <a:rPr lang="en-US" sz="1100" b="1">
                <a:ea typeface="Verdana"/>
              </a:rPr>
              <a:t>Technical &amp; Non-Technical Applications and Infrastructure Project Delivery</a:t>
            </a:r>
            <a:endParaRPr lang="en-US" sz="1100">
              <a:ea typeface="Verdana"/>
              <a:cs typeface="Arial"/>
            </a:endParaRPr>
          </a:p>
          <a:p>
            <a:pPr marL="171450" indent="-171450" algn="just" defTabSz="914377">
              <a:buFont typeface="Arial,Sans-Serif"/>
              <a:buChar char="•"/>
              <a:defRPr/>
            </a:pPr>
            <a:r>
              <a:rPr lang="en-US" sz="1100">
                <a:ea typeface="Verdana"/>
              </a:rPr>
              <a:t>Lead and drive project implementation and execution for Upstream Technical &amp; Non-Technical Application and Technical Infrastructure development projects domestic and globally for Upstream business required by multi-disciplines that maximizes value creation and return of investment holistically. </a:t>
            </a:r>
            <a:endParaRPr lang="en-US" sz="1100">
              <a:ea typeface="Verdana"/>
              <a:cs typeface="Arial"/>
            </a:endParaRPr>
          </a:p>
          <a:p>
            <a:pPr lvl="0" algn="just" defTabSz="914377">
              <a:defRPr/>
            </a:pPr>
            <a:endParaRPr lang="en-US" sz="1100">
              <a:ea typeface="Verdana" panose="020B0604030504040204" pitchFamily="34" charset="0"/>
              <a:cs typeface="Arial"/>
            </a:endParaRPr>
          </a:p>
          <a:p>
            <a:pPr algn="just" defTabSz="914377">
              <a:defRPr/>
            </a:pPr>
            <a:r>
              <a:rPr lang="en-US" sz="1100" b="1">
                <a:ea typeface="Verdana"/>
              </a:rPr>
              <a:t>Technical &amp; Non-Technical Application Functions &amp; Workflow Support</a:t>
            </a:r>
            <a:endParaRPr lang="en-US" sz="1100">
              <a:ea typeface="Verdana"/>
              <a:cs typeface="Arial"/>
            </a:endParaRPr>
          </a:p>
          <a:p>
            <a:pPr marL="171450" indent="-171450" algn="just" defTabSz="914377">
              <a:buFont typeface="Arial,Sans-Serif"/>
              <a:buChar char="•"/>
              <a:defRPr/>
            </a:pPr>
            <a:r>
              <a:rPr lang="en-US" sz="1100">
                <a:ea typeface="Verdana"/>
              </a:rPr>
              <a:t>Manage, drive and lead the technical specialized skilled technical domain staffs to provide hands-on technical system support on the technical and non-technical applications, functionalities and workflows in order to ensure business continuity and increase end-user productivity by adding value for Upstream fraternity of users. </a:t>
            </a:r>
            <a:endParaRPr lang="en-US" sz="1100">
              <a:ea typeface="Verdana"/>
              <a:cs typeface="Arial"/>
            </a:endParaRPr>
          </a:p>
          <a:p>
            <a:pPr lvl="0" algn="just" defTabSz="914377">
              <a:defRPr/>
            </a:pPr>
            <a:endParaRPr lang="en-US" sz="1100">
              <a:ea typeface="Verdana" panose="020B0604030504040204" pitchFamily="34" charset="0"/>
              <a:cs typeface="Arial"/>
            </a:endParaRPr>
          </a:p>
          <a:p>
            <a:pPr algn="just" defTabSz="914377">
              <a:defRPr/>
            </a:pPr>
            <a:r>
              <a:rPr lang="en-US" sz="1100" b="1">
                <a:ea typeface="Verdana"/>
              </a:rPr>
              <a:t>IT Infrastructure &amp; Telecommunication Support</a:t>
            </a:r>
          </a:p>
          <a:p>
            <a:pPr marL="171450" indent="-171450" algn="just" defTabSz="914377">
              <a:buFont typeface="Arial,Sans-Serif"/>
              <a:buChar char="•"/>
              <a:defRPr/>
            </a:pPr>
            <a:r>
              <a:rPr lang="en-US" sz="1100">
                <a:ea typeface="Verdana"/>
              </a:rPr>
              <a:t>Manage, drive and lead the technical specialized IT engineers support team to provide technical IT infrastructure support in order to ensure high availability of Technical IT infrastructure ensuring the maximum value of Upstream fraternity users.</a:t>
            </a:r>
            <a:endParaRPr lang="en-US">
              <a:ea typeface="Verdana"/>
            </a:endParaRPr>
          </a:p>
          <a:p>
            <a:pPr lvl="0" algn="just" defTabSz="914377">
              <a:defRPr/>
            </a:pPr>
            <a:endParaRPr lang="en-US" sz="1100" b="1">
              <a:ea typeface="Verdana" panose="020B0604030504040204" pitchFamily="34" charset="0"/>
              <a:cs typeface="Arial"/>
            </a:endParaRPr>
          </a:p>
        </p:txBody>
      </p:sp>
    </p:spTree>
    <p:extLst>
      <p:ext uri="{BB962C8B-B14F-4D97-AF65-F5344CB8AC3E}">
        <p14:creationId xmlns:p14="http://schemas.microsoft.com/office/powerpoint/2010/main" val="1305781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A538C-E701-63EC-A6E4-369EF7714E53}"/>
            </a:ext>
          </a:extLst>
        </p:cNvPr>
        <p:cNvGrpSpPr/>
        <p:nvPr/>
      </p:nvGrpSpPr>
      <p:grpSpPr>
        <a:xfrm>
          <a:off x="0" y="0"/>
          <a:ext cx="0" cy="0"/>
          <a:chOff x="0" y="0"/>
          <a:chExt cx="0" cy="0"/>
        </a:xfrm>
      </p:grpSpPr>
      <p:sp>
        <p:nvSpPr>
          <p:cNvPr id="337" name="Title 1">
            <a:extLst>
              <a:ext uri="{FF2B5EF4-FFF2-40B4-BE49-F238E27FC236}">
                <a16:creationId xmlns:a16="http://schemas.microsoft.com/office/drawing/2014/main" id="{DB970AFD-3AF2-28F3-4ADB-F4E7A1ED8AAC}"/>
              </a:ext>
            </a:extLst>
          </p:cNvPr>
          <p:cNvSpPr>
            <a:spLocks noGrp="1"/>
          </p:cNvSpPr>
          <p:nvPr>
            <p:ph type="title"/>
          </p:nvPr>
        </p:nvSpPr>
        <p:spPr>
          <a:xfrm>
            <a:off x="400049" y="143650"/>
            <a:ext cx="9496425" cy="548117"/>
          </a:xfrm>
        </p:spPr>
        <p:txBody>
          <a:bodyPr>
            <a:noAutofit/>
          </a:bodyPr>
          <a:lstStyle/>
          <a:p>
            <a:pPr>
              <a:spcBef>
                <a:spcPts val="0"/>
              </a:spcBef>
            </a:pPr>
            <a:r>
              <a:rPr lang="en-US" b="1">
                <a:latin typeface="Museo Sans 900" panose="02000000000000000000" pitchFamily="50" charset="0"/>
                <a:ea typeface="Verdana" panose="020B0604030504040204" pitchFamily="34" charset="0"/>
                <a:cs typeface="Verdana" panose="020B0604030504040204" pitchFamily="34" charset="0"/>
              </a:rPr>
              <a:t>2.6 Roles and Responsibilities </a:t>
            </a:r>
            <a:br>
              <a:rPr lang="en-US" b="1">
                <a:latin typeface="Museo Sans 900" panose="02000000000000000000" pitchFamily="50" charset="0"/>
                <a:ea typeface="Verdana" panose="020B0604030504040204" pitchFamily="34" charset="0"/>
                <a:cs typeface="Verdana" panose="020B0604030504040204" pitchFamily="34" charset="0"/>
              </a:rPr>
            </a:br>
            <a:r>
              <a:rPr lang="en-US" sz="2100">
                <a:latin typeface="Museo Sans 900" panose="02000000000000000000" pitchFamily="50" charset="0"/>
                <a:ea typeface="Verdana" panose="020B0604030504040204" pitchFamily="34" charset="0"/>
                <a:cs typeface="Verdana" panose="020B0604030504040204" pitchFamily="34" charset="0"/>
              </a:rPr>
              <a:t>(PETRONAS Digital)</a:t>
            </a:r>
          </a:p>
        </p:txBody>
      </p:sp>
      <p:graphicFrame>
        <p:nvGraphicFramePr>
          <p:cNvPr id="3" name="Table 2">
            <a:extLst>
              <a:ext uri="{FF2B5EF4-FFF2-40B4-BE49-F238E27FC236}">
                <a16:creationId xmlns:a16="http://schemas.microsoft.com/office/drawing/2014/main" id="{BA663B04-F99B-FFCB-BB06-D23C50F38356}"/>
              </a:ext>
            </a:extLst>
          </p:cNvPr>
          <p:cNvGraphicFramePr>
            <a:graphicFrameLocks noGrp="1"/>
          </p:cNvGraphicFramePr>
          <p:nvPr/>
        </p:nvGraphicFramePr>
        <p:xfrm>
          <a:off x="444010" y="1121315"/>
          <a:ext cx="8242790" cy="4745229"/>
        </p:xfrm>
        <a:graphic>
          <a:graphicData uri="http://schemas.openxmlformats.org/drawingml/2006/table">
            <a:tbl>
              <a:tblPr firstRow="1" bandRow="1">
                <a:tableStyleId>{5940675A-B579-460E-94D1-54222C63F5DA}</a:tableStyleId>
              </a:tblPr>
              <a:tblGrid>
                <a:gridCol w="2463577">
                  <a:extLst>
                    <a:ext uri="{9D8B030D-6E8A-4147-A177-3AD203B41FA5}">
                      <a16:colId xmlns:a16="http://schemas.microsoft.com/office/drawing/2014/main" val="4126466257"/>
                    </a:ext>
                  </a:extLst>
                </a:gridCol>
                <a:gridCol w="5779213">
                  <a:extLst>
                    <a:ext uri="{9D8B030D-6E8A-4147-A177-3AD203B41FA5}">
                      <a16:colId xmlns:a16="http://schemas.microsoft.com/office/drawing/2014/main" val="4000571328"/>
                    </a:ext>
                  </a:extLst>
                </a:gridCol>
              </a:tblGrid>
              <a:tr h="398124">
                <a:tc>
                  <a:txBody>
                    <a:bodyPr/>
                    <a:lstStyle/>
                    <a:p>
                      <a:pPr algn="ctr"/>
                      <a:r>
                        <a:rPr lang="en-US" sz="1200" b="1">
                          <a:solidFill>
                            <a:schemeClr val="bg1"/>
                          </a:solidFill>
                          <a:latin typeface="Museo Sans 300" panose="02000000000000000000" pitchFamily="50" charset="0"/>
                          <a:ea typeface="Verdana" panose="020B0604030504040204" pitchFamily="34" charset="0"/>
                        </a:rPr>
                        <a:t>Role</a:t>
                      </a:r>
                    </a:p>
                  </a:txBody>
                  <a:tcPr marL="68580" marR="68580" marT="34290" marB="34290" anchor="ctr">
                    <a:solidFill>
                      <a:srgbClr val="00B1A9"/>
                    </a:solidFill>
                  </a:tcPr>
                </a:tc>
                <a:tc>
                  <a:txBody>
                    <a:bodyPr/>
                    <a:lstStyle/>
                    <a:p>
                      <a:pPr algn="ctr"/>
                      <a:r>
                        <a:rPr lang="en-US" sz="1200" b="1">
                          <a:solidFill>
                            <a:schemeClr val="bg1"/>
                          </a:solidFill>
                          <a:latin typeface="Museo Sans 300" panose="02000000000000000000" pitchFamily="50" charset="0"/>
                          <a:ea typeface="Verdana" panose="020B0604030504040204" pitchFamily="34" charset="0"/>
                          <a:cs typeface="Verdana" panose="020B0604030504040204" pitchFamily="34" charset="0"/>
                        </a:rPr>
                        <a:t>Responsibilities</a:t>
                      </a:r>
                    </a:p>
                  </a:txBody>
                  <a:tcPr marL="68580" marR="68580" marT="34290" marB="34290" anchor="ctr">
                    <a:solidFill>
                      <a:srgbClr val="00B1A9"/>
                    </a:solidFill>
                  </a:tcPr>
                </a:tc>
                <a:extLst>
                  <a:ext uri="{0D108BD9-81ED-4DB2-BD59-A6C34878D82A}">
                    <a16:rowId xmlns:a16="http://schemas.microsoft.com/office/drawing/2014/main" val="3795728164"/>
                  </a:ext>
                </a:extLst>
              </a:tr>
              <a:tr h="4347105">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endParaRPr lang="en-US" sz="1100" u="none" strike="noStrike" kern="1200">
                        <a:solidFill>
                          <a:srgbClr val="0000FF"/>
                        </a:solidFill>
                        <a:effectLst/>
                        <a:latin typeface="Museo Sans 300" panose="02000000000000000000" pitchFamily="50" charset="0"/>
                        <a:ea typeface="Verdana" panose="020B0604030504040204" pitchFamily="34" charset="0"/>
                      </a:endParaRPr>
                    </a:p>
                  </a:txBody>
                  <a:tcPr marL="7144" marR="7144" marT="7144" marB="0" anchor="ctr"/>
                </a:tc>
                <a:tc>
                  <a:txBody>
                    <a:bodyPr/>
                    <a:lstStyle/>
                    <a:p>
                      <a:pPr marL="0" marR="0" lvl="0" indent="0" algn="just"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u="none" strike="noStrike" kern="1200">
                        <a:solidFill>
                          <a:srgbClr val="0000FF"/>
                        </a:solidFill>
                        <a:effectLst/>
                        <a:latin typeface="Museo Sans 300" panose="02000000000000000000" pitchFamily="50" charset="0"/>
                        <a:ea typeface="Verdana" panose="020B0604030504040204" pitchFamily="34" charset="0"/>
                        <a:cs typeface="Verdana" panose="020B0604030504040204" pitchFamily="34" charset="0"/>
                      </a:endParaRPr>
                    </a:p>
                  </a:txBody>
                  <a:tcPr marL="7144" marR="7144" marT="7144" marB="0" anchor="ctr"/>
                </a:tc>
                <a:extLst>
                  <a:ext uri="{0D108BD9-81ED-4DB2-BD59-A6C34878D82A}">
                    <a16:rowId xmlns:a16="http://schemas.microsoft.com/office/drawing/2014/main" val="3110202095"/>
                  </a:ext>
                </a:extLst>
              </a:tr>
            </a:tbl>
          </a:graphicData>
        </a:graphic>
      </p:graphicFrame>
      <p:pic>
        <p:nvPicPr>
          <p:cNvPr id="11" name="Picture 10">
            <a:extLst>
              <a:ext uri="{FF2B5EF4-FFF2-40B4-BE49-F238E27FC236}">
                <a16:creationId xmlns:a16="http://schemas.microsoft.com/office/drawing/2014/main" id="{84CAE5D6-3A41-6A47-28E1-7F555404BB12}"/>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4" name="BJPseudoFooter">
            <a:extLst>
              <a:ext uri="{FF2B5EF4-FFF2-40B4-BE49-F238E27FC236}">
                <a16:creationId xmlns:a16="http://schemas.microsoft.com/office/drawing/2014/main" id="{DF90CB65-6B0D-ECA0-F155-9D5B00680AF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2" name="TextBox 1">
            <a:extLst>
              <a:ext uri="{FF2B5EF4-FFF2-40B4-BE49-F238E27FC236}">
                <a16:creationId xmlns:a16="http://schemas.microsoft.com/office/drawing/2014/main" id="{F229CB82-DF13-74AB-98DE-F5622A74813F}"/>
              </a:ext>
            </a:extLst>
          </p:cNvPr>
          <p:cNvSpPr txBox="1"/>
          <p:nvPr/>
        </p:nvSpPr>
        <p:spPr>
          <a:xfrm>
            <a:off x="330993" y="812045"/>
            <a:ext cx="3260701" cy="338554"/>
          </a:xfrm>
          <a:prstGeom prst="rect">
            <a:avLst/>
          </a:prstGeom>
          <a:noFill/>
        </p:spPr>
        <p:txBody>
          <a:bodyPr wrap="none" lIns="91440" tIns="45720" rIns="91440" bIns="45720" rtlCol="0" anchor="t">
            <a:spAutoFit/>
          </a:bodyPr>
          <a:lstStyle/>
          <a:p>
            <a:r>
              <a:rPr lang="en-GB" sz="1600"/>
              <a:t>Executive – PDU Malaysia Assets</a:t>
            </a:r>
          </a:p>
        </p:txBody>
      </p:sp>
      <p:sp>
        <p:nvSpPr>
          <p:cNvPr id="5" name="TextBox 4">
            <a:extLst>
              <a:ext uri="{FF2B5EF4-FFF2-40B4-BE49-F238E27FC236}">
                <a16:creationId xmlns:a16="http://schemas.microsoft.com/office/drawing/2014/main" id="{550BC0AF-E088-9790-4E3E-270D5CA570A5}"/>
              </a:ext>
            </a:extLst>
          </p:cNvPr>
          <p:cNvSpPr txBox="1"/>
          <p:nvPr/>
        </p:nvSpPr>
        <p:spPr>
          <a:xfrm>
            <a:off x="444010" y="1522666"/>
            <a:ext cx="2453301" cy="3477875"/>
          </a:xfrm>
          <a:prstGeom prst="rect">
            <a:avLst/>
          </a:prstGeom>
          <a:noFill/>
        </p:spPr>
        <p:txBody>
          <a:bodyPr wrap="square" rtlCol="0">
            <a:spAutoFit/>
          </a:bodyPr>
          <a:lstStyle/>
          <a:p>
            <a:pPr lvl="0" algn="just" defTabSz="914377">
              <a:defRPr/>
            </a:pPr>
            <a:r>
              <a:rPr lang="en-US" sz="1100">
                <a:ea typeface="Verdana" panose="020B0604030504040204" pitchFamily="34" charset="0"/>
              </a:rPr>
              <a:t>Deliver, Implement, execute and support the technical &amp; non-technical applications functional &amp; workflow and technical IT infrastructure/telecommunication, for Upstream multidisciplinary domain in order to respond timely and address integrated functional issues and fast-track the operations to respond and harvest the benefit realization required by multi-disciplines within the domain fraternity, in order to ensure consistent high-efficiency, availability &amp; reliability of upstream technical &amp; non-technical applications and ICT infrastructure hence increasing technical &amp; business users productivity and efficiency.</a:t>
            </a:r>
          </a:p>
        </p:txBody>
      </p:sp>
      <p:sp>
        <p:nvSpPr>
          <p:cNvPr id="6" name="TextBox 5">
            <a:extLst>
              <a:ext uri="{FF2B5EF4-FFF2-40B4-BE49-F238E27FC236}">
                <a16:creationId xmlns:a16="http://schemas.microsoft.com/office/drawing/2014/main" id="{AED6AD35-4BB9-6163-EE87-C99B80EA408C}"/>
              </a:ext>
            </a:extLst>
          </p:cNvPr>
          <p:cNvSpPr txBox="1"/>
          <p:nvPr/>
        </p:nvSpPr>
        <p:spPr>
          <a:xfrm>
            <a:off x="2897311" y="1531310"/>
            <a:ext cx="5789489" cy="3816429"/>
          </a:xfrm>
          <a:prstGeom prst="rect">
            <a:avLst/>
          </a:prstGeom>
          <a:noFill/>
        </p:spPr>
        <p:txBody>
          <a:bodyPr wrap="square" lIns="91440" tIns="45720" rIns="91440" bIns="45720" rtlCol="0" anchor="t">
            <a:spAutoFit/>
          </a:bodyPr>
          <a:lstStyle/>
          <a:p>
            <a:pPr lvl="0" algn="just" defTabSz="914377">
              <a:defRPr/>
            </a:pPr>
            <a:r>
              <a:rPr lang="en-US" sz="1100" b="1">
                <a:ea typeface="Verdana" panose="020B0604030504040204" pitchFamily="34" charset="0"/>
              </a:rPr>
              <a:t>Portfolio Management</a:t>
            </a:r>
            <a:endParaRPr lang="en-US" sz="1100">
              <a:ea typeface="Verdana" panose="020B0604030504040204" pitchFamily="34" charset="0"/>
            </a:endParaRPr>
          </a:p>
          <a:p>
            <a:pPr marL="171450" lvl="0" indent="-171450" algn="just" defTabSz="914377">
              <a:buFont typeface="Arial,Sans-Serif"/>
              <a:buChar char="•"/>
              <a:defRPr/>
            </a:pPr>
            <a:r>
              <a:rPr lang="en-US" sz="1100">
                <a:ea typeface="Verdana" panose="020B0604030504040204" pitchFamily="34" charset="0"/>
              </a:rPr>
              <a:t>Execute service delivery of Upstream projects/program to meet Upstream Business expectations and requirements.</a:t>
            </a:r>
          </a:p>
          <a:p>
            <a:pPr lvl="0" algn="just" defTabSz="914377">
              <a:defRPr/>
            </a:pPr>
            <a:endParaRPr lang="en-US" sz="1100">
              <a:ea typeface="Verdana" panose="020B0604030504040204" pitchFamily="34" charset="0"/>
            </a:endParaRPr>
          </a:p>
          <a:p>
            <a:pPr lvl="0" algn="just" defTabSz="914377">
              <a:defRPr/>
            </a:pPr>
            <a:r>
              <a:rPr lang="en-US" sz="1100" b="1">
                <a:ea typeface="Verdana" panose="020B0604030504040204" pitchFamily="34" charset="0"/>
              </a:rPr>
              <a:t>Delivery Excellence</a:t>
            </a:r>
            <a:endParaRPr lang="en-US" sz="1100">
              <a:ea typeface="Verdana" panose="020B0604030504040204" pitchFamily="34" charset="0"/>
            </a:endParaRPr>
          </a:p>
          <a:p>
            <a:pPr marL="171450" indent="-171450" algn="just" defTabSz="914377">
              <a:buFont typeface="Arial,Sans-Serif"/>
              <a:buChar char="•"/>
              <a:defRPr/>
            </a:pPr>
            <a:r>
              <a:rPr lang="en-US" sz="1100">
                <a:ea typeface="Verdana" panose="020B0604030504040204" pitchFamily="34" charset="0"/>
              </a:rPr>
              <a:t>Execute and facilitate end-to-end Upstream Projects activities for key projects and milestones.</a:t>
            </a:r>
          </a:p>
          <a:p>
            <a:pPr marL="171450" indent="-171450" algn="just" defTabSz="914377">
              <a:buFont typeface="Arial,Sans-Serif"/>
              <a:buChar char="•"/>
              <a:defRPr/>
            </a:pPr>
            <a:r>
              <a:rPr lang="en-US" sz="1100">
                <a:ea typeface="Verdana" panose="020B0604030504040204" pitchFamily="34" charset="0"/>
              </a:rPr>
              <a:t>Planning, budgeting, contract management, vendor management.</a:t>
            </a:r>
          </a:p>
          <a:p>
            <a:pPr marL="171450" indent="-171450" algn="just" defTabSz="914377">
              <a:buFont typeface="Arial,Sans-Serif"/>
              <a:buChar char="•"/>
              <a:defRPr/>
            </a:pPr>
            <a:r>
              <a:rPr lang="en-US" sz="1100">
                <a:ea typeface="Verdana"/>
              </a:rPr>
              <a:t>Adopt, comply and enforce Upstream Projects with PDSB guidelines for project related.</a:t>
            </a:r>
          </a:p>
          <a:p>
            <a:pPr marL="171450" indent="-171450" algn="just" defTabSz="914377">
              <a:buFont typeface="Arial,Sans-Serif"/>
              <a:buChar char="•"/>
              <a:defRPr/>
            </a:pPr>
            <a:endParaRPr lang="en-US" sz="1100">
              <a:ea typeface="Verdana" panose="020B0604030504040204" pitchFamily="34" charset="0"/>
            </a:endParaRPr>
          </a:p>
          <a:p>
            <a:pPr algn="just" defTabSz="914377">
              <a:defRPr/>
            </a:pPr>
            <a:r>
              <a:rPr lang="en-US" sz="1100" b="1">
                <a:ea typeface="Verdana"/>
              </a:rPr>
              <a:t>Financial Management</a:t>
            </a:r>
            <a:endParaRPr lang="en-US" sz="1100">
              <a:ea typeface="Verdana"/>
            </a:endParaRPr>
          </a:p>
          <a:p>
            <a:pPr marL="171450" indent="-171450" algn="just" defTabSz="914377">
              <a:buFont typeface="Arial,Sans-Serif"/>
              <a:buChar char="•"/>
              <a:defRPr/>
            </a:pPr>
            <a:r>
              <a:rPr lang="en-US" sz="1100">
                <a:ea typeface="Verdana"/>
              </a:rPr>
              <a:t>Coordinate and manage the overall budget planning and utilization for the Upstream Project, while evaluating financial strategies to optimize costs and enhance project outcomes.</a:t>
            </a:r>
          </a:p>
          <a:p>
            <a:pPr algn="just" defTabSz="914377">
              <a:defRPr/>
            </a:pPr>
            <a:endParaRPr lang="en-US" sz="1100">
              <a:ea typeface="Verdana" panose="020B0604030504040204" pitchFamily="34" charset="0"/>
            </a:endParaRPr>
          </a:p>
          <a:p>
            <a:pPr algn="just" defTabSz="914377">
              <a:defRPr/>
            </a:pPr>
            <a:r>
              <a:rPr lang="en-US" sz="1100" b="1">
                <a:ea typeface="Verdana"/>
              </a:rPr>
              <a:t>IT Infrastructure &amp; Telecommunication Support</a:t>
            </a:r>
          </a:p>
          <a:p>
            <a:pPr marL="171450" indent="-171450" algn="just" defTabSz="914377">
              <a:buFont typeface="Arial,Sans-Serif"/>
              <a:buChar char="•"/>
              <a:defRPr/>
            </a:pPr>
            <a:r>
              <a:rPr lang="en-US" sz="1100">
                <a:ea typeface="Verdana"/>
              </a:rPr>
              <a:t>Execute and facilitate the technical specialized IT engineers support team to provide technical IT infrastructure support in order to ensure high availability of Technical IT infrastructure ensuring the maximum value of Upstream fraternity users. </a:t>
            </a:r>
          </a:p>
          <a:p>
            <a:pPr lvl="0" algn="just" defTabSz="914377">
              <a:defRPr/>
            </a:pPr>
            <a:endParaRPr lang="en-US" sz="1100">
              <a:ea typeface="Verdana" panose="020B0604030504040204" pitchFamily="34" charset="0"/>
            </a:endParaRPr>
          </a:p>
          <a:p>
            <a:pPr lvl="0" algn="just" defTabSz="914377">
              <a:defRPr/>
            </a:pPr>
            <a:endParaRPr lang="en-US" sz="1100" b="1">
              <a:ea typeface="Verdana" panose="020B0604030504040204" pitchFamily="34" charset="0"/>
            </a:endParaRPr>
          </a:p>
          <a:p>
            <a:pPr lvl="0" algn="just" defTabSz="914377">
              <a:defRPr/>
            </a:pPr>
            <a:endParaRPr lang="en-US" sz="1100">
              <a:ea typeface="Verdana" panose="020B0604030504040204" pitchFamily="34" charset="0"/>
            </a:endParaRPr>
          </a:p>
        </p:txBody>
      </p:sp>
    </p:spTree>
    <p:extLst>
      <p:ext uri="{BB962C8B-B14F-4D97-AF65-F5344CB8AC3E}">
        <p14:creationId xmlns:p14="http://schemas.microsoft.com/office/powerpoint/2010/main" val="3967277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69730-803B-C9D2-E5AD-38DF58290A3B}"/>
            </a:ext>
          </a:extLst>
        </p:cNvPr>
        <p:cNvGrpSpPr/>
        <p:nvPr/>
      </p:nvGrpSpPr>
      <p:grpSpPr>
        <a:xfrm>
          <a:off x="0" y="0"/>
          <a:ext cx="0" cy="0"/>
          <a:chOff x="0" y="0"/>
          <a:chExt cx="0" cy="0"/>
        </a:xfrm>
      </p:grpSpPr>
      <p:sp>
        <p:nvSpPr>
          <p:cNvPr id="337" name="Title 1">
            <a:extLst>
              <a:ext uri="{FF2B5EF4-FFF2-40B4-BE49-F238E27FC236}">
                <a16:creationId xmlns:a16="http://schemas.microsoft.com/office/drawing/2014/main" id="{1161AB7B-74E3-D9FB-3CD2-EE80169486BB}"/>
              </a:ext>
            </a:extLst>
          </p:cNvPr>
          <p:cNvSpPr>
            <a:spLocks noGrp="1"/>
          </p:cNvSpPr>
          <p:nvPr>
            <p:ph type="title"/>
          </p:nvPr>
        </p:nvSpPr>
        <p:spPr>
          <a:xfrm>
            <a:off x="400049" y="143650"/>
            <a:ext cx="9496425" cy="548117"/>
          </a:xfrm>
        </p:spPr>
        <p:txBody>
          <a:bodyPr>
            <a:noAutofit/>
          </a:bodyPr>
          <a:lstStyle/>
          <a:p>
            <a:pPr>
              <a:spcBef>
                <a:spcPts val="0"/>
              </a:spcBef>
            </a:pPr>
            <a:r>
              <a:rPr lang="en-US" b="1">
                <a:latin typeface="Museo Sans 900" panose="02000000000000000000" pitchFamily="50" charset="0"/>
                <a:ea typeface="Verdana" panose="020B0604030504040204" pitchFamily="34" charset="0"/>
                <a:cs typeface="Verdana" panose="020B0604030504040204" pitchFamily="34" charset="0"/>
              </a:rPr>
              <a:t>2.6 Roles and Responsibilities </a:t>
            </a:r>
            <a:br>
              <a:rPr lang="en-US" b="1">
                <a:latin typeface="Museo Sans 900" panose="02000000000000000000" pitchFamily="50" charset="0"/>
                <a:ea typeface="Verdana" panose="020B0604030504040204" pitchFamily="34" charset="0"/>
                <a:cs typeface="Verdana" panose="020B0604030504040204" pitchFamily="34" charset="0"/>
              </a:rPr>
            </a:br>
            <a:r>
              <a:rPr lang="en-US" sz="2100">
                <a:latin typeface="Museo Sans 900" panose="02000000000000000000" pitchFamily="50" charset="0"/>
                <a:ea typeface="Verdana" panose="020B0604030504040204" pitchFamily="34" charset="0"/>
                <a:cs typeface="Verdana" panose="020B0604030504040204" pitchFamily="34" charset="0"/>
              </a:rPr>
              <a:t>(PETRONAS Digital)</a:t>
            </a:r>
          </a:p>
        </p:txBody>
      </p:sp>
      <p:graphicFrame>
        <p:nvGraphicFramePr>
          <p:cNvPr id="3" name="Table 2">
            <a:extLst>
              <a:ext uri="{FF2B5EF4-FFF2-40B4-BE49-F238E27FC236}">
                <a16:creationId xmlns:a16="http://schemas.microsoft.com/office/drawing/2014/main" id="{3F2564CF-A853-58FD-6327-CE301C2E65D8}"/>
              </a:ext>
            </a:extLst>
          </p:cNvPr>
          <p:cNvGraphicFramePr>
            <a:graphicFrameLocks noGrp="1"/>
          </p:cNvGraphicFramePr>
          <p:nvPr>
            <p:extLst>
              <p:ext uri="{D42A27DB-BD31-4B8C-83A1-F6EECF244321}">
                <p14:modId xmlns:p14="http://schemas.microsoft.com/office/powerpoint/2010/main" val="897212967"/>
              </p:ext>
            </p:extLst>
          </p:nvPr>
        </p:nvGraphicFramePr>
        <p:xfrm>
          <a:off x="444010" y="1121315"/>
          <a:ext cx="8242790" cy="1302369"/>
        </p:xfrm>
        <a:graphic>
          <a:graphicData uri="http://schemas.openxmlformats.org/drawingml/2006/table">
            <a:tbl>
              <a:tblPr firstRow="1" bandRow="1">
                <a:tableStyleId>{5940675A-B579-460E-94D1-54222C63F5DA}</a:tableStyleId>
              </a:tblPr>
              <a:tblGrid>
                <a:gridCol w="513469">
                  <a:extLst>
                    <a:ext uri="{9D8B030D-6E8A-4147-A177-3AD203B41FA5}">
                      <a16:colId xmlns:a16="http://schemas.microsoft.com/office/drawing/2014/main" val="4126466257"/>
                    </a:ext>
                  </a:extLst>
                </a:gridCol>
                <a:gridCol w="1547229">
                  <a:extLst>
                    <a:ext uri="{9D8B030D-6E8A-4147-A177-3AD203B41FA5}">
                      <a16:colId xmlns:a16="http://schemas.microsoft.com/office/drawing/2014/main" val="468899593"/>
                    </a:ext>
                  </a:extLst>
                </a:gridCol>
                <a:gridCol w="6182092">
                  <a:extLst>
                    <a:ext uri="{9D8B030D-6E8A-4147-A177-3AD203B41FA5}">
                      <a16:colId xmlns:a16="http://schemas.microsoft.com/office/drawing/2014/main" val="4000571328"/>
                    </a:ext>
                  </a:extLst>
                </a:gridCol>
              </a:tblGrid>
              <a:tr h="323069">
                <a:tc>
                  <a:txBody>
                    <a:bodyPr/>
                    <a:lstStyle/>
                    <a:p>
                      <a:pPr algn="ctr"/>
                      <a:r>
                        <a:rPr lang="en-US" sz="1200" b="1">
                          <a:solidFill>
                            <a:schemeClr val="bg1"/>
                          </a:solidFill>
                          <a:latin typeface="Museo Sans 300"/>
                          <a:ea typeface="Verdana"/>
                          <a:cs typeface="Verdana" panose="020B0604030504040204" pitchFamily="34" charset="0"/>
                        </a:rPr>
                        <a:t>No.</a:t>
                      </a:r>
                    </a:p>
                  </a:txBody>
                  <a:tcPr marL="68580" marR="68580" marT="34290" marB="34290" anchor="ctr">
                    <a:solidFill>
                      <a:srgbClr val="00B1A9"/>
                    </a:solidFill>
                  </a:tcPr>
                </a:tc>
                <a:tc>
                  <a:txBody>
                    <a:bodyPr/>
                    <a:lstStyle/>
                    <a:p>
                      <a:pPr algn="ctr"/>
                      <a:r>
                        <a:rPr lang="en-US" sz="1200" b="1">
                          <a:solidFill>
                            <a:schemeClr val="bg1"/>
                          </a:solidFill>
                          <a:latin typeface="Museo Sans 300"/>
                          <a:ea typeface="Verdana"/>
                          <a:cs typeface="Verdana" panose="020B0604030504040204" pitchFamily="34" charset="0"/>
                        </a:rPr>
                        <a:t>Role</a:t>
                      </a:r>
                    </a:p>
                  </a:txBody>
                  <a:tcPr marL="68580" marR="68580" marT="34290" marB="34290" anchor="ctr">
                    <a:solidFill>
                      <a:srgbClr val="00B1A9"/>
                    </a:solidFill>
                  </a:tcPr>
                </a:tc>
                <a:tc>
                  <a:txBody>
                    <a:bodyPr/>
                    <a:lstStyle/>
                    <a:p>
                      <a:pPr algn="ctr"/>
                      <a:r>
                        <a:rPr lang="en-US" sz="1200" b="1">
                          <a:solidFill>
                            <a:schemeClr val="bg1"/>
                          </a:solidFill>
                          <a:latin typeface="Museo Sans 300"/>
                          <a:ea typeface="Verdana"/>
                          <a:cs typeface="Verdana" panose="020B0604030504040204" pitchFamily="34" charset="0"/>
                        </a:rPr>
                        <a:t>Responsibilities</a:t>
                      </a:r>
                    </a:p>
                  </a:txBody>
                  <a:tcPr marL="68580" marR="68580" marT="34290" marB="34290" anchor="ctr">
                    <a:solidFill>
                      <a:srgbClr val="00B1A9"/>
                    </a:solidFill>
                  </a:tcPr>
                </a:tc>
                <a:extLst>
                  <a:ext uri="{0D108BD9-81ED-4DB2-BD59-A6C34878D82A}">
                    <a16:rowId xmlns:a16="http://schemas.microsoft.com/office/drawing/2014/main" val="3795728164"/>
                  </a:ext>
                </a:extLst>
              </a:tr>
              <a:tr h="979300">
                <a:tc>
                  <a:txBody>
                    <a:bodyPr/>
                    <a:lstStyle/>
                    <a:p>
                      <a:pPr algn="ctr" fontAlgn="t"/>
                      <a:r>
                        <a:rPr lang="en-US" sz="1200" b="0" kern="1200">
                          <a:solidFill>
                            <a:schemeClr val="tx1"/>
                          </a:solidFill>
                          <a:latin typeface="Museo Sans 300"/>
                          <a:ea typeface="Verdana"/>
                          <a:cs typeface="Verdana" panose="020B0604030504040204" pitchFamily="34" charset="0"/>
                        </a:rPr>
                        <a:t>1</a:t>
                      </a:r>
                    </a:p>
                  </a:txBody>
                  <a:tcPr marL="7144" marR="7144" marT="7144" marB="0" anchor="ctr"/>
                </a:tc>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r>
                        <a:rPr lang="en-US" sz="1200" u="none" strike="noStrike" kern="1200">
                          <a:solidFill>
                            <a:schemeClr val="tx1"/>
                          </a:solidFill>
                          <a:effectLst/>
                          <a:latin typeface="Museo Sans 300"/>
                          <a:ea typeface="Verdana"/>
                          <a:cs typeface="Verdana" panose="020B0604030504040204" pitchFamily="34" charset="0"/>
                        </a:rPr>
                        <a:t>Service Owner</a:t>
                      </a:r>
                    </a:p>
                  </a:txBody>
                  <a:tcPr marL="68580" marR="68580" marT="34290" marB="34290" anchor="ctr"/>
                </a:tc>
                <a:tc>
                  <a:txBody>
                    <a:bodyPr/>
                    <a:lstStyle/>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Lead and be accountable for identifying resources for 2S activities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Manage and track the utilization of the budget for 2S activities </a:t>
                      </a:r>
                      <a:endParaRPr lang="en-GB" sz="1200" u="none" strike="noStrike" kern="1200">
                        <a:solidFill>
                          <a:schemeClr val="tx1"/>
                        </a:solidFill>
                        <a:effectLst/>
                        <a:latin typeface="Museo Sans 300"/>
                        <a:ea typeface="Verdana"/>
                        <a:cs typeface="Verdana" panose="020B0604030504040204" pitchFamily="34" charset="0"/>
                      </a:endParaRPr>
                    </a:p>
                  </a:txBody>
                  <a:tcPr marL="7144" marR="7144" marT="7144" marB="0" anchor="ctr"/>
                </a:tc>
                <a:extLst>
                  <a:ext uri="{0D108BD9-81ED-4DB2-BD59-A6C34878D82A}">
                    <a16:rowId xmlns:a16="http://schemas.microsoft.com/office/drawing/2014/main" val="3110202095"/>
                  </a:ext>
                </a:extLst>
              </a:tr>
            </a:tbl>
          </a:graphicData>
        </a:graphic>
      </p:graphicFrame>
      <p:pic>
        <p:nvPicPr>
          <p:cNvPr id="11" name="Picture 10">
            <a:extLst>
              <a:ext uri="{FF2B5EF4-FFF2-40B4-BE49-F238E27FC236}">
                <a16:creationId xmlns:a16="http://schemas.microsoft.com/office/drawing/2014/main" id="{36F3C9E4-41FC-54D6-A7C0-DBD8D1B704F4}"/>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573679" y="0"/>
            <a:ext cx="2570321" cy="669131"/>
          </a:xfrm>
          <a:prstGeom prst="rect">
            <a:avLst/>
          </a:prstGeom>
          <a:noFill/>
        </p:spPr>
      </p:pic>
      <p:sp>
        <p:nvSpPr>
          <p:cNvPr id="4" name="BJPseudoFooter">
            <a:extLst>
              <a:ext uri="{FF2B5EF4-FFF2-40B4-BE49-F238E27FC236}">
                <a16:creationId xmlns:a16="http://schemas.microsoft.com/office/drawing/2014/main" id="{40D8AB37-BA99-7FE5-EE79-2E22BA814793}"/>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2" name="TextBox 1">
            <a:extLst>
              <a:ext uri="{FF2B5EF4-FFF2-40B4-BE49-F238E27FC236}">
                <a16:creationId xmlns:a16="http://schemas.microsoft.com/office/drawing/2014/main" id="{90957FCD-F3F3-AE92-0D03-E1004A601A0B}"/>
              </a:ext>
            </a:extLst>
          </p:cNvPr>
          <p:cNvSpPr txBox="1"/>
          <p:nvPr/>
        </p:nvSpPr>
        <p:spPr>
          <a:xfrm>
            <a:off x="330993" y="812045"/>
            <a:ext cx="2973763" cy="338554"/>
          </a:xfrm>
          <a:prstGeom prst="rect">
            <a:avLst/>
          </a:prstGeom>
          <a:noFill/>
        </p:spPr>
        <p:txBody>
          <a:bodyPr wrap="none" rtlCol="0">
            <a:spAutoFit/>
          </a:bodyPr>
          <a:lstStyle/>
          <a:p>
            <a:r>
              <a:rPr lang="en-GB" sz="1600"/>
              <a:t>Executive – PDU EDPR Tribes</a:t>
            </a:r>
          </a:p>
        </p:txBody>
      </p:sp>
    </p:spTree>
    <p:extLst>
      <p:ext uri="{BB962C8B-B14F-4D97-AF65-F5344CB8AC3E}">
        <p14:creationId xmlns:p14="http://schemas.microsoft.com/office/powerpoint/2010/main" val="3775399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 name="Table 71"/>
          <p:cNvGraphicFramePr>
            <a:graphicFrameLocks noGrp="1"/>
          </p:cNvGraphicFramePr>
          <p:nvPr>
            <p:extLst>
              <p:ext uri="{D42A27DB-BD31-4B8C-83A1-F6EECF244321}">
                <p14:modId xmlns:p14="http://schemas.microsoft.com/office/powerpoint/2010/main" val="1751138192"/>
              </p:ext>
            </p:extLst>
          </p:nvPr>
        </p:nvGraphicFramePr>
        <p:xfrm>
          <a:off x="514349" y="1914506"/>
          <a:ext cx="8172451" cy="1965960"/>
        </p:xfrm>
        <a:graphic>
          <a:graphicData uri="http://schemas.openxmlformats.org/drawingml/2006/table">
            <a:tbl>
              <a:tblPr firstRow="1" bandRow="1">
                <a:tableStyleId>{5940675A-B579-460E-94D1-54222C63F5DA}</a:tableStyleId>
              </a:tblPr>
              <a:tblGrid>
                <a:gridCol w="1724462">
                  <a:extLst>
                    <a:ext uri="{9D8B030D-6E8A-4147-A177-3AD203B41FA5}">
                      <a16:colId xmlns:a16="http://schemas.microsoft.com/office/drawing/2014/main" val="20000"/>
                    </a:ext>
                  </a:extLst>
                </a:gridCol>
                <a:gridCol w="6447989">
                  <a:extLst>
                    <a:ext uri="{9D8B030D-6E8A-4147-A177-3AD203B41FA5}">
                      <a16:colId xmlns:a16="http://schemas.microsoft.com/office/drawing/2014/main" val="20001"/>
                    </a:ext>
                  </a:extLst>
                </a:gridCol>
              </a:tblGrid>
              <a:tr h="244366">
                <a:tc>
                  <a:txBody>
                    <a:bodyPr/>
                    <a:lstStyle/>
                    <a:p>
                      <a:pPr algn="ctr"/>
                      <a:r>
                        <a:rPr lang="en-US" sz="1200" b="1">
                          <a:solidFill>
                            <a:schemeClr val="bg1"/>
                          </a:solidFill>
                          <a:latin typeface="Museo Sans 300"/>
                          <a:ea typeface="Verdana"/>
                          <a:cs typeface="Verdana" panose="020B0604030504040204" pitchFamily="34" charset="0"/>
                        </a:rPr>
                        <a:t>Roles</a:t>
                      </a:r>
                    </a:p>
                  </a:txBody>
                  <a:tcPr marL="68580" marR="68580" marT="34290" marB="34290" anchor="ctr">
                    <a:solidFill>
                      <a:srgbClr val="00B1A9"/>
                    </a:solidFill>
                  </a:tcPr>
                </a:tc>
                <a:tc>
                  <a:txBody>
                    <a:bodyPr/>
                    <a:lstStyle/>
                    <a:p>
                      <a:pPr algn="ctr"/>
                      <a:r>
                        <a:rPr lang="en-US" sz="1200" b="1">
                          <a:solidFill>
                            <a:schemeClr val="bg1"/>
                          </a:solidFill>
                          <a:latin typeface="Museo Sans 300"/>
                          <a:ea typeface="Verdana"/>
                          <a:cs typeface="Verdana" panose="020B0604030504040204" pitchFamily="34" charset="0"/>
                        </a:rPr>
                        <a:t>Responsibilities</a:t>
                      </a:r>
                    </a:p>
                  </a:txBody>
                  <a:tcPr marL="68580" marR="68580" marT="34290" marB="34290" anchor="ctr">
                    <a:solidFill>
                      <a:srgbClr val="00B1A9"/>
                    </a:solidFill>
                  </a:tcPr>
                </a:tc>
                <a:extLst>
                  <a:ext uri="{0D108BD9-81ED-4DB2-BD59-A6C34878D82A}">
                    <a16:rowId xmlns:a16="http://schemas.microsoft.com/office/drawing/2014/main" val="10000"/>
                  </a:ext>
                </a:extLst>
              </a:tr>
              <a:tr h="0">
                <a:tc>
                  <a:txBody>
                    <a:bodyPr/>
                    <a:lstStyle/>
                    <a:p>
                      <a:pPr marL="0" marR="0" lvl="0" indent="0" algn="just" defTabSz="914377" rtl="0" eaLnBrk="1" fontAlgn="auto" latinLnBrk="0" hangingPunct="1">
                        <a:lnSpc>
                          <a:spcPct val="100000"/>
                        </a:lnSpc>
                        <a:spcBef>
                          <a:spcPts val="0"/>
                        </a:spcBef>
                        <a:spcAft>
                          <a:spcPts val="0"/>
                        </a:spcAft>
                        <a:buClrTx/>
                        <a:buSzTx/>
                        <a:buNone/>
                        <a:tabLst/>
                        <a:defRPr/>
                      </a:pPr>
                      <a:r>
                        <a:rPr lang="en-US" sz="1200" u="none" strike="noStrike" kern="1200">
                          <a:solidFill>
                            <a:schemeClr val="tx1"/>
                          </a:solidFill>
                          <a:effectLst/>
                          <a:latin typeface="Museo Sans 300"/>
                          <a:ea typeface="Verdana"/>
                          <a:cs typeface="Verdana" panose="020B0604030504040204" pitchFamily="34" charset="0"/>
                        </a:rPr>
                        <a:t>Business Team </a:t>
                      </a:r>
                    </a:p>
                  </a:txBody>
                  <a:tcPr marL="68580" marR="68580" marT="34290" marB="34290" anchor="ctr"/>
                </a:tc>
                <a:tc>
                  <a:txBody>
                    <a:bodyPr/>
                    <a:lstStyle/>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Provide key information for identification of user requirements.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Provide key information for the documentation of user practices, policies and procedures.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Confirm user requirements.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Provide key information for identification of gaps/issues.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Confirm the approach and resolution for gaps/issues.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Identify job and organization change resulting from the implementation and identify required user profiles and IDs.</a:t>
                      </a:r>
                    </a:p>
                    <a:p>
                      <a:pPr marL="171450" marR="0" lvl="0" indent="-171450" algn="just"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u="none" strike="noStrike" kern="1200">
                          <a:solidFill>
                            <a:schemeClr val="tx1"/>
                          </a:solidFill>
                          <a:effectLst/>
                          <a:latin typeface="Museo Sans 300"/>
                          <a:ea typeface="Verdana"/>
                          <a:cs typeface="Verdana" panose="020B0604030504040204" pitchFamily="34" charset="0"/>
                        </a:rPr>
                        <a:t>Document and user practices, policies and procedures.</a:t>
                      </a:r>
                    </a:p>
                  </a:txBody>
                  <a:tcPr marL="68580" marR="68580" marT="34290" marB="34290" anchor="ctr"/>
                </a:tc>
                <a:extLst>
                  <a:ext uri="{0D108BD9-81ED-4DB2-BD59-A6C34878D82A}">
                    <a16:rowId xmlns:a16="http://schemas.microsoft.com/office/drawing/2014/main" val="10001"/>
                  </a:ext>
                </a:extLst>
              </a:tr>
            </a:tbl>
          </a:graphicData>
        </a:graphic>
      </p:graphicFrame>
      <p:sp>
        <p:nvSpPr>
          <p:cNvPr id="71" name="Text Box 148"/>
          <p:cNvSpPr txBox="1">
            <a:spLocks noChangeArrowheads="1"/>
          </p:cNvSpPr>
          <p:nvPr/>
        </p:nvSpPr>
        <p:spPr bwMode="auto">
          <a:xfrm>
            <a:off x="440601" y="1265118"/>
            <a:ext cx="8241030" cy="548117"/>
          </a:xfrm>
          <a:prstGeom prst="rect">
            <a:avLst/>
          </a:prstGeom>
          <a:noFill/>
          <a:ln w="12700">
            <a:noFill/>
            <a:miter lim="800000"/>
            <a:headEnd/>
            <a:tailEnd/>
          </a:ln>
        </p:spPr>
        <p:txBody>
          <a:bodyPr wrap="square">
            <a:noAutofit/>
          </a:bodyPr>
          <a:lstStyle/>
          <a:p>
            <a:r>
              <a:rPr lang="en-US" sz="1200">
                <a:solidFill>
                  <a:srgbClr val="333333"/>
                </a:solidFill>
                <a:latin typeface="Museo Sans 300" panose="02000000000000000000" pitchFamily="50" charset="0"/>
                <a:ea typeface="Verdana" panose="020B0604030504040204" pitchFamily="34" charset="0"/>
                <a:cs typeface="Verdana" panose="020B0604030504040204" pitchFamily="34" charset="0"/>
              </a:rPr>
              <a:t>The following is a list of the Business responsibilities.  If these responsibilities are not met, </a:t>
            </a:r>
            <a:r>
              <a:rPr lang="en-US" sz="1200">
                <a:latin typeface="Museo Sans 300" panose="02000000000000000000" pitchFamily="50" charset="0"/>
                <a:ea typeface="Verdana" panose="020B0604030504040204" pitchFamily="34" charset="0"/>
                <a:cs typeface="Verdana" panose="020B0604030504040204" pitchFamily="34" charset="0"/>
              </a:rPr>
              <a:t>PETRONAS Digital</a:t>
            </a:r>
            <a:r>
              <a:rPr lang="en-US" sz="1200">
                <a:solidFill>
                  <a:srgbClr val="333333"/>
                </a:solidFill>
                <a:latin typeface="Museo Sans 300" panose="02000000000000000000" pitchFamily="50" charset="0"/>
                <a:ea typeface="Verdana" panose="020B0604030504040204" pitchFamily="34" charset="0"/>
                <a:cs typeface="Verdana" panose="020B0604030504040204" pitchFamily="34" charset="0"/>
              </a:rPr>
              <a:t> will advise Business in writing of the impact on the Plan and Charges.  </a:t>
            </a:r>
          </a:p>
          <a:p>
            <a:endParaRPr lang="en-US" sz="1200">
              <a:solidFill>
                <a:srgbClr val="333333"/>
              </a:solidFill>
              <a:latin typeface="Museo Sans 300" panose="02000000000000000000" pitchFamily="50" charset="0"/>
              <a:ea typeface="Verdana" panose="020B0604030504040204" pitchFamily="34" charset="0"/>
              <a:cs typeface="Verdana" panose="020B0604030504040204" pitchFamily="34" charset="0"/>
            </a:endParaRPr>
          </a:p>
          <a:p>
            <a:endParaRPr lang="en-US" sz="1200">
              <a:solidFill>
                <a:srgbClr val="333333"/>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338" name="Title 1"/>
          <p:cNvSpPr>
            <a:spLocks noGrp="1"/>
          </p:cNvSpPr>
          <p:nvPr>
            <p:ph type="title"/>
          </p:nvPr>
        </p:nvSpPr>
        <p:spPr>
          <a:xfrm>
            <a:off x="369640" y="705554"/>
            <a:ext cx="8229600" cy="548117"/>
          </a:xfrm>
        </p:spPr>
        <p:txBody>
          <a:bodyPr>
            <a:noAutofit/>
          </a:bodyPr>
          <a:lstStyle/>
          <a:p>
            <a:pPr>
              <a:spcBef>
                <a:spcPts val="0"/>
              </a:spcBef>
            </a:pPr>
            <a:r>
              <a:rPr lang="en-US" b="1">
                <a:latin typeface="Museo Sans 900" panose="02000000000000000000" pitchFamily="50" charset="0"/>
                <a:ea typeface="Verdana" panose="020B0604030504040204" pitchFamily="34" charset="0"/>
                <a:cs typeface="Verdana" panose="020B0604030504040204" pitchFamily="34" charset="0"/>
              </a:rPr>
              <a:t>2.7 Roles and Responsibilities </a:t>
            </a:r>
            <a:r>
              <a:rPr lang="en-US" sz="2100">
                <a:latin typeface="Museo Sans 900" panose="02000000000000000000" pitchFamily="50" charset="0"/>
                <a:ea typeface="Verdana" panose="020B0604030504040204" pitchFamily="34" charset="0"/>
                <a:cs typeface="Verdana" panose="020B0604030504040204" pitchFamily="34" charset="0"/>
              </a:rPr>
              <a:t>(Business)</a:t>
            </a:r>
          </a:p>
        </p:txBody>
      </p:sp>
      <p:pic>
        <p:nvPicPr>
          <p:cNvPr id="12" name="Picture 11"/>
          <p:cNvPicPr/>
          <p:nvPr/>
        </p:nvPicPr>
        <p:blipFill>
          <a:blip r:embed="rId4">
            <a:extLst>
              <a:ext uri="{28A0092B-C50C-407E-A947-70E740481C1C}">
                <a14:useLocalDpi xmlns:a14="http://schemas.microsoft.com/office/drawing/2010/main" val="0"/>
              </a:ext>
            </a:extLst>
          </a:blip>
          <a:srcRect/>
          <a:stretch>
            <a:fillRect/>
          </a:stretch>
        </p:blipFill>
        <p:spPr bwMode="auto">
          <a:xfrm>
            <a:off x="6573679" y="-6531"/>
            <a:ext cx="2570321" cy="669131"/>
          </a:xfrm>
          <a:prstGeom prst="rect">
            <a:avLst/>
          </a:prstGeom>
          <a:noFill/>
        </p:spPr>
      </p:pic>
      <p:sp>
        <p:nvSpPr>
          <p:cNvPr id="4" name="BJPseudoFooter">
            <a:extLst>
              <a:ext uri="{FF2B5EF4-FFF2-40B4-BE49-F238E27FC236}">
                <a16:creationId xmlns:a16="http://schemas.microsoft.com/office/drawing/2014/main" id="{645109FB-AD0D-48E5-A9CD-FA856F5DB55D}"/>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233679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436961643"/>
              </p:ext>
            </p:extLst>
          </p:nvPr>
        </p:nvGraphicFramePr>
        <p:xfrm>
          <a:off x="427949" y="2054822"/>
          <a:ext cx="8288103" cy="1662567"/>
        </p:xfrm>
        <a:graphic>
          <a:graphicData uri="http://schemas.openxmlformats.org/drawingml/2006/table">
            <a:tbl>
              <a:tblPr firstRow="1" bandRow="1">
                <a:tableStyleId>{5940675A-B579-460E-94D1-54222C63F5DA}</a:tableStyleId>
              </a:tblPr>
              <a:tblGrid>
                <a:gridCol w="1107477">
                  <a:extLst>
                    <a:ext uri="{9D8B030D-6E8A-4147-A177-3AD203B41FA5}">
                      <a16:colId xmlns:a16="http://schemas.microsoft.com/office/drawing/2014/main" val="20000"/>
                    </a:ext>
                  </a:extLst>
                </a:gridCol>
                <a:gridCol w="2300230">
                  <a:extLst>
                    <a:ext uri="{9D8B030D-6E8A-4147-A177-3AD203B41FA5}">
                      <a16:colId xmlns:a16="http://schemas.microsoft.com/office/drawing/2014/main" val="20001"/>
                    </a:ext>
                  </a:extLst>
                </a:gridCol>
                <a:gridCol w="2300230">
                  <a:extLst>
                    <a:ext uri="{9D8B030D-6E8A-4147-A177-3AD203B41FA5}">
                      <a16:colId xmlns:a16="http://schemas.microsoft.com/office/drawing/2014/main" val="3759269758"/>
                    </a:ext>
                  </a:extLst>
                </a:gridCol>
                <a:gridCol w="903258">
                  <a:extLst>
                    <a:ext uri="{9D8B030D-6E8A-4147-A177-3AD203B41FA5}">
                      <a16:colId xmlns:a16="http://schemas.microsoft.com/office/drawing/2014/main" val="20002"/>
                    </a:ext>
                  </a:extLst>
                </a:gridCol>
                <a:gridCol w="1676908">
                  <a:extLst>
                    <a:ext uri="{9D8B030D-6E8A-4147-A177-3AD203B41FA5}">
                      <a16:colId xmlns:a16="http://schemas.microsoft.com/office/drawing/2014/main" val="4208051227"/>
                    </a:ext>
                  </a:extLst>
                </a:gridCol>
              </a:tblGrid>
              <a:tr h="744522">
                <a:tc>
                  <a:txBody>
                    <a:bodyPr/>
                    <a:lstStyle/>
                    <a:p>
                      <a:pPr algn="ctr"/>
                      <a:r>
                        <a:rPr lang="en-GB" sz="1200" b="1" baseline="0">
                          <a:solidFill>
                            <a:schemeClr val="bg1"/>
                          </a:solidFill>
                          <a:latin typeface="Museo Sans 300"/>
                          <a:ea typeface="Verdana"/>
                          <a:cs typeface="Verdana" panose="020B0604030504040204" pitchFamily="34" charset="0"/>
                        </a:rPr>
                        <a:t>No.</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algn="ctr"/>
                      <a:r>
                        <a:rPr lang="en-US" sz="1200" b="1">
                          <a:solidFill>
                            <a:schemeClr val="bg1"/>
                          </a:solidFill>
                          <a:latin typeface="Museo Sans 300"/>
                          <a:ea typeface="Verdana"/>
                          <a:cs typeface="Verdana" panose="020B0604030504040204" pitchFamily="34" charset="0"/>
                        </a:rPr>
                        <a:t>Billing Schedule</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algn="ctr"/>
                      <a:r>
                        <a:rPr lang="en-GB" sz="1200" b="1">
                          <a:solidFill>
                            <a:schemeClr val="bg1"/>
                          </a:solidFill>
                          <a:latin typeface="Museo Sans 300"/>
                          <a:ea typeface="Verdana"/>
                          <a:cs typeface="Verdana" panose="020B0604030504040204" pitchFamily="34" charset="0"/>
                        </a:rPr>
                        <a:t>Billing Frequency (Monthly/Quarterly/One off)</a:t>
                      </a:r>
                    </a:p>
                  </a:txBody>
                  <a:tcPr marL="68580" marR="68580" marT="34290" marB="34290" anchor="ctr">
                    <a:solidFill>
                      <a:srgbClr val="00B1A9"/>
                    </a:solidFill>
                  </a:tcPr>
                </a:tc>
                <a:tc>
                  <a:txBody>
                    <a:bodyPr/>
                    <a:lstStyle/>
                    <a:p>
                      <a:pPr algn="ctr"/>
                      <a:r>
                        <a:rPr lang="en-US" sz="1200" b="1">
                          <a:solidFill>
                            <a:schemeClr val="bg1"/>
                          </a:solidFill>
                          <a:latin typeface="Museo Sans 300"/>
                          <a:ea typeface="Verdana"/>
                          <a:cs typeface="Verdana" panose="020B0604030504040204" pitchFamily="34" charset="0"/>
                        </a:rPr>
                        <a:t>%</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algn="ctr"/>
                      <a:r>
                        <a:rPr lang="en-GB" sz="1200" b="1">
                          <a:solidFill>
                            <a:schemeClr val="bg1"/>
                          </a:solidFill>
                          <a:latin typeface="Museo Sans 300"/>
                          <a:ea typeface="Verdana"/>
                          <a:cs typeface="Verdana" panose="020B0604030504040204" pitchFamily="34" charset="0"/>
                        </a:rPr>
                        <a:t>[A]</a:t>
                      </a:r>
                    </a:p>
                    <a:p>
                      <a:pPr algn="ctr"/>
                      <a:r>
                        <a:rPr lang="en-GB" sz="1200" b="1">
                          <a:solidFill>
                            <a:schemeClr val="bg1"/>
                          </a:solidFill>
                          <a:latin typeface="Museo Sans 300"/>
                          <a:ea typeface="Verdana"/>
                          <a:cs typeface="Verdana" panose="020B0604030504040204" pitchFamily="34" charset="0"/>
                        </a:rPr>
                        <a:t>Business Specific Charges (RM)</a:t>
                      </a:r>
                    </a:p>
                  </a:txBody>
                  <a:tcPr marL="68580" marR="68580" marT="34290" marB="34290" anchor="ctr">
                    <a:solidFill>
                      <a:srgbClr val="00B1A9"/>
                    </a:solidFill>
                  </a:tcPr>
                </a:tc>
                <a:extLst>
                  <a:ext uri="{0D108BD9-81ED-4DB2-BD59-A6C34878D82A}">
                    <a16:rowId xmlns:a16="http://schemas.microsoft.com/office/drawing/2014/main" val="10000"/>
                  </a:ext>
                </a:extLst>
              </a:tr>
              <a:tr h="250173">
                <a:tc>
                  <a:txBody>
                    <a:bodyPr/>
                    <a:lstStyle/>
                    <a:p>
                      <a:pPr algn="ctr"/>
                      <a:r>
                        <a:rPr lang="en-GB" sz="1100">
                          <a:latin typeface="Museo Sans 300"/>
                          <a:ea typeface="Verdana"/>
                          <a:cs typeface="Verdana" panose="020B0604030504040204" pitchFamily="34" charset="0"/>
                        </a:rPr>
                        <a:t>1</a:t>
                      </a:r>
                    </a:p>
                  </a:txBody>
                  <a:tcPr marL="68580" marR="68580" marT="34290" marB="34290"/>
                </a:tc>
                <a:tc>
                  <a:txBody>
                    <a:bodyPr/>
                    <a:lstStyle/>
                    <a:p>
                      <a:r>
                        <a:rPr lang="en-GB" sz="1200" kern="1200">
                          <a:solidFill>
                            <a:schemeClr val="tx1"/>
                          </a:solidFill>
                          <a:latin typeface="Museo Sans 300"/>
                          <a:ea typeface="Verdana"/>
                          <a:cs typeface="+mn-cs"/>
                        </a:rPr>
                        <a:t>FY2026 Billing – BDU Managed Services for UTD1 001</a:t>
                      </a:r>
                    </a:p>
                  </a:txBody>
                  <a:tcPr marL="68580" marR="68580" marT="34290" marB="34290"/>
                </a:tc>
                <a:tc>
                  <a:txBody>
                    <a:bodyPr/>
                    <a:lstStyle/>
                    <a:p>
                      <a:r>
                        <a:rPr lang="en-GB" sz="1200" kern="1200">
                          <a:solidFill>
                            <a:schemeClr val="tx1"/>
                          </a:solidFill>
                          <a:latin typeface="Museo Sans 300"/>
                          <a:ea typeface="Verdana"/>
                          <a:cs typeface="+mn-cs"/>
                        </a:rPr>
                        <a:t>One Off</a:t>
                      </a:r>
                    </a:p>
                  </a:txBody>
                  <a:tcPr marL="68580" marR="68580" marT="34290" marB="34290"/>
                </a:tc>
                <a:tc>
                  <a:txBody>
                    <a:bodyPr/>
                    <a:lstStyle/>
                    <a:p>
                      <a:pPr algn="ctr"/>
                      <a:r>
                        <a:rPr lang="en-GB" sz="1200" kern="1200">
                          <a:solidFill>
                            <a:schemeClr val="tx1"/>
                          </a:solidFill>
                          <a:latin typeface="Museo Sans 300"/>
                          <a:ea typeface="Verdana"/>
                          <a:cs typeface="+mn-cs"/>
                        </a:rPr>
                        <a:t>100</a:t>
                      </a:r>
                    </a:p>
                  </a:txBody>
                  <a:tcPr marL="68580" marR="68580" marT="34290" marB="34290"/>
                </a:tc>
                <a:tc>
                  <a:txBody>
                    <a:bodyPr/>
                    <a:lstStyle/>
                    <a:p>
                      <a:pPr marL="0" marR="0" lvl="0" indent="0" algn="r" defTabSz="914400" rtl="0" eaLnBrk="1" latinLnBrk="0" hangingPunct="1">
                        <a:lnSpc>
                          <a:spcPct val="100000"/>
                        </a:lnSpc>
                        <a:spcBef>
                          <a:spcPts val="0"/>
                        </a:spcBef>
                        <a:spcAft>
                          <a:spcPts val="0"/>
                        </a:spcAft>
                        <a:buNone/>
                        <a:tabLst/>
                        <a:defRPr/>
                      </a:pPr>
                      <a:r>
                        <a:rPr lang="en-MY" sz="1200" kern="1200" noProof="0">
                          <a:solidFill>
                            <a:schemeClr val="tx1"/>
                          </a:solidFill>
                          <a:latin typeface="Museo Sans 300"/>
                          <a:ea typeface="Verdana"/>
                          <a:cs typeface="+mn-cs"/>
                        </a:rPr>
                        <a:t>2,477,768</a:t>
                      </a:r>
                      <a:endParaRPr lang="en-US" sz="1200" kern="1200">
                        <a:solidFill>
                          <a:schemeClr val="tx1"/>
                        </a:solidFill>
                        <a:latin typeface="Museo Sans 300"/>
                        <a:ea typeface="Verdana"/>
                        <a:cs typeface="+mn-cs"/>
                      </a:endParaRPr>
                    </a:p>
                  </a:txBody>
                  <a:tcPr marL="68580" marR="68580" marT="34290" marB="34290"/>
                </a:tc>
                <a:extLst>
                  <a:ext uri="{0D108BD9-81ED-4DB2-BD59-A6C34878D82A}">
                    <a16:rowId xmlns:a16="http://schemas.microsoft.com/office/drawing/2014/main" val="10001"/>
                  </a:ext>
                </a:extLst>
              </a:tr>
              <a:tr h="300825">
                <a:tc gridSpan="4">
                  <a:txBody>
                    <a:bodyPr/>
                    <a:lstStyle/>
                    <a:p>
                      <a:pPr algn="r"/>
                      <a:r>
                        <a:rPr lang="en-GB" sz="1100" b="1">
                          <a:latin typeface="Museo Sans 300"/>
                          <a:ea typeface="Verdana"/>
                          <a:cs typeface="Verdana" panose="020B0604030504040204" pitchFamily="34" charset="0"/>
                        </a:rPr>
                        <a:t>Total</a:t>
                      </a:r>
                    </a:p>
                  </a:txBody>
                  <a:tcPr marL="68580" marR="68580" marT="34290" marB="34290" anchor="ctr">
                    <a:solidFill>
                      <a:schemeClr val="bg1">
                        <a:lumMod val="85000"/>
                      </a:schemeClr>
                    </a:solidFill>
                  </a:tcPr>
                </a:tc>
                <a:tc hMerge="1">
                  <a:txBody>
                    <a:bodyPr/>
                    <a:lstStyle/>
                    <a:p>
                      <a:pPr algn="l"/>
                      <a:endParaRPr lang="en-GB" sz="1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algn="ctr"/>
                      <a:endParaRPr lang="en-GB" sz="1400" b="1">
                        <a:latin typeface="Verdana" panose="020B0604030504040204" pitchFamily="34" charset="0"/>
                        <a:ea typeface="Verdana" panose="020B0604030504040204" pitchFamily="34" charset="0"/>
                        <a:cs typeface="Verdana" panose="020B0604030504040204" pitchFamily="34" charset="0"/>
                      </a:endParaRPr>
                    </a:p>
                  </a:txBody>
                  <a:tcPr anchor="ctr">
                    <a:solidFill>
                      <a:schemeClr val="bg1">
                        <a:lumMod val="85000"/>
                      </a:schemeClr>
                    </a:solidFill>
                  </a:tcPr>
                </a:tc>
                <a:tc>
                  <a:txBody>
                    <a:bodyPr/>
                    <a:lstStyle/>
                    <a:p>
                      <a:pPr marL="0" marR="0" lvl="0" indent="0" algn="r" defTabSz="914400" rtl="0" eaLnBrk="1" latinLnBrk="0" hangingPunct="1">
                        <a:lnSpc>
                          <a:spcPct val="100000"/>
                        </a:lnSpc>
                        <a:spcBef>
                          <a:spcPts val="0"/>
                        </a:spcBef>
                        <a:spcAft>
                          <a:spcPts val="0"/>
                        </a:spcAft>
                        <a:buNone/>
                        <a:tabLst/>
                        <a:defRPr/>
                      </a:pPr>
                      <a:r>
                        <a:rPr lang="en-US" sz="1200" kern="1200" noProof="0">
                          <a:solidFill>
                            <a:schemeClr val="tx1"/>
                          </a:solidFill>
                          <a:latin typeface="Museo Sans 300"/>
                          <a:ea typeface="Verdana"/>
                          <a:cs typeface="+mn-cs"/>
                        </a:rPr>
                        <a:t>2,477,768</a:t>
                      </a:r>
                      <a:endParaRPr lang="en-US" sz="1200" kern="1200">
                        <a:solidFill>
                          <a:schemeClr val="tx1"/>
                        </a:solidFill>
                        <a:latin typeface="Museo Sans 300"/>
                        <a:ea typeface="Verdana"/>
                        <a:cs typeface="+mn-cs"/>
                      </a:endParaRPr>
                    </a:p>
                  </a:txBody>
                  <a:tcPr marL="68580" marR="68580" marT="34290" marB="34290" anchor="c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82466" y="998783"/>
            <a:ext cx="8167525" cy="646331"/>
          </a:xfrm>
          <a:prstGeom prst="rect">
            <a:avLst/>
          </a:prstGeom>
        </p:spPr>
        <p:txBody>
          <a:bodyPr wrap="square" lIns="91440" tIns="45720" rIns="91440" bIns="45720" anchor="t">
            <a:spAutoFit/>
          </a:bodyPr>
          <a:lstStyle/>
          <a:p>
            <a:r>
              <a:rPr lang="en-US" sz="1200" b="1">
                <a:solidFill>
                  <a:srgbClr val="333333"/>
                </a:solidFill>
                <a:latin typeface="Museo Sans 300"/>
                <a:ea typeface="Verdana"/>
                <a:cs typeface="Verdana" panose="020B0604030504040204" pitchFamily="34" charset="0"/>
              </a:rPr>
              <a:t>The overall estimated Costs is [RM </a:t>
            </a:r>
            <a:r>
              <a:rPr lang="en-US" sz="1200" b="1">
                <a:solidFill>
                  <a:srgbClr val="333333"/>
                </a:solidFill>
                <a:latin typeface="Museo Sans 300"/>
                <a:ea typeface="Verdana"/>
              </a:rPr>
              <a:t>2,477,767.59]</a:t>
            </a:r>
          </a:p>
          <a:p>
            <a:endParaRPr lang="en-US" sz="1200">
              <a:solidFill>
                <a:srgbClr val="333333"/>
              </a:solidFill>
              <a:latin typeface="Museo Sans 300" panose="02000000000000000000" pitchFamily="50" charset="0"/>
              <a:ea typeface="Verdana" panose="020B0604030504040204" pitchFamily="34" charset="0"/>
              <a:cs typeface="Verdana" panose="020B0604030504040204" pitchFamily="34" charset="0"/>
            </a:endParaRPr>
          </a:p>
          <a:p>
            <a:r>
              <a:rPr lang="en-US" sz="1200">
                <a:solidFill>
                  <a:srgbClr val="333333"/>
                </a:solidFill>
                <a:latin typeface="Museo Sans 300"/>
                <a:ea typeface="Verdana"/>
                <a:cs typeface="Verdana" panose="020B0604030504040204" pitchFamily="34" charset="0"/>
              </a:rPr>
              <a:t>The estimated </a:t>
            </a:r>
            <a:r>
              <a:rPr lang="en-US" sz="1200" b="1">
                <a:solidFill>
                  <a:srgbClr val="333333"/>
                </a:solidFill>
                <a:latin typeface="Museo Sans 300"/>
                <a:ea typeface="Verdana"/>
                <a:cs typeface="Verdana" panose="020B0604030504040204" pitchFamily="34" charset="0"/>
              </a:rPr>
              <a:t>Business Specific Charges </a:t>
            </a:r>
            <a:r>
              <a:rPr lang="en-US" sz="1200">
                <a:solidFill>
                  <a:srgbClr val="333333"/>
                </a:solidFill>
                <a:latin typeface="Museo Sans 300"/>
                <a:ea typeface="Verdana"/>
                <a:cs typeface="Verdana" panose="020B0604030504040204" pitchFamily="34" charset="0"/>
              </a:rPr>
              <a:t>and the payment schedules are as follows:</a:t>
            </a:r>
            <a:endParaRPr lang="en-US" sz="1200">
              <a:latin typeface="Museo Sans 300"/>
              <a:ea typeface="Verdana"/>
              <a:cs typeface="Verdana" panose="020B0604030504040204" pitchFamily="34" charset="0"/>
            </a:endParaRPr>
          </a:p>
        </p:txBody>
      </p:sp>
      <p:sp>
        <p:nvSpPr>
          <p:cNvPr id="277" name="Title 1"/>
          <p:cNvSpPr>
            <a:spLocks noGrp="1"/>
          </p:cNvSpPr>
          <p:nvPr>
            <p:ph type="title"/>
          </p:nvPr>
        </p:nvSpPr>
        <p:spPr>
          <a:xfrm>
            <a:off x="378666" y="389799"/>
            <a:ext cx="8213244" cy="548117"/>
          </a:xfrm>
        </p:spPr>
        <p:txBody>
          <a:bodyPr/>
          <a:lstStyle/>
          <a:p>
            <a:r>
              <a:rPr lang="en-US">
                <a:solidFill>
                  <a:schemeClr val="tx2"/>
                </a:solidFill>
                <a:latin typeface="Museo Sans 900" panose="02000000000000000000" pitchFamily="50" charset="0"/>
                <a:ea typeface="Verdana" panose="020B0604030504040204" pitchFamily="34" charset="0"/>
              </a:rPr>
              <a:t>3.1 Budget</a:t>
            </a:r>
            <a:endParaRPr lang="en-US" b="1">
              <a:latin typeface="Museo Sans 900" panose="02000000000000000000" pitchFamily="50" charset="0"/>
              <a:ea typeface="Verdana" panose="020B0604030504040204" pitchFamily="34" charset="0"/>
              <a:cs typeface="Verdana" panose="020B0604030504040204" pitchFamily="34" charset="0"/>
            </a:endParaRPr>
          </a:p>
        </p:txBody>
      </p:sp>
      <p:pic>
        <p:nvPicPr>
          <p:cNvPr id="78" name="Picture 77"/>
          <p:cNvPicPr/>
          <p:nvPr/>
        </p:nvPicPr>
        <p:blipFill>
          <a:blip r:embed="rId4">
            <a:extLst>
              <a:ext uri="{28A0092B-C50C-407E-A947-70E740481C1C}">
                <a14:useLocalDpi xmlns:a14="http://schemas.microsoft.com/office/drawing/2010/main" val="0"/>
              </a:ext>
            </a:extLst>
          </a:blip>
          <a:srcRect/>
          <a:stretch>
            <a:fillRect/>
          </a:stretch>
        </p:blipFill>
        <p:spPr bwMode="auto">
          <a:xfrm>
            <a:off x="6527231" y="12833"/>
            <a:ext cx="2586514" cy="666750"/>
          </a:xfrm>
          <a:prstGeom prst="rect">
            <a:avLst/>
          </a:prstGeom>
          <a:noFill/>
        </p:spPr>
      </p:pic>
      <p:sp>
        <p:nvSpPr>
          <p:cNvPr id="8" name="BJPseudoFooter">
            <a:extLst>
              <a:ext uri="{FF2B5EF4-FFF2-40B4-BE49-F238E27FC236}">
                <a16:creationId xmlns:a16="http://schemas.microsoft.com/office/drawing/2014/main" id="{251FC818-1D27-4D7C-AB50-C9E00B5F6CFF}"/>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
        <p:nvSpPr>
          <p:cNvPr id="15" name="TextBox 14">
            <a:extLst>
              <a:ext uri="{FF2B5EF4-FFF2-40B4-BE49-F238E27FC236}">
                <a16:creationId xmlns:a16="http://schemas.microsoft.com/office/drawing/2014/main" id="{2704D881-59B3-4926-BA83-6969B84656F3}"/>
              </a:ext>
            </a:extLst>
          </p:cNvPr>
          <p:cNvSpPr txBox="1"/>
          <p:nvPr/>
        </p:nvSpPr>
        <p:spPr>
          <a:xfrm>
            <a:off x="4224527" y="939250"/>
            <a:ext cx="4798503" cy="300082"/>
          </a:xfrm>
          <a:prstGeom prst="rect">
            <a:avLst/>
          </a:prstGeom>
          <a:solidFill>
            <a:srgbClr val="C00000"/>
          </a:solidFill>
        </p:spPr>
        <p:txBody>
          <a:bodyPr wrap="square" rtlCol="0">
            <a:spAutoFit/>
          </a:bodyPr>
          <a:lstStyle/>
          <a:p>
            <a:r>
              <a:rPr lang="en-US" sz="1350">
                <a:solidFill>
                  <a:schemeClr val="bg1"/>
                </a:solidFill>
                <a:latin typeface="Museo Sans 300" panose="02000000000000000000" pitchFamily="50" charset="0"/>
                <a:ea typeface="Verdana" panose="020B0604030504040204" pitchFamily="34" charset="0"/>
              </a:rPr>
              <a:t>Commercial Arrangement:  Fixed Price</a:t>
            </a:r>
          </a:p>
        </p:txBody>
      </p:sp>
      <p:sp>
        <p:nvSpPr>
          <p:cNvPr id="4" name="TextBox 3">
            <a:extLst>
              <a:ext uri="{FF2B5EF4-FFF2-40B4-BE49-F238E27FC236}">
                <a16:creationId xmlns:a16="http://schemas.microsoft.com/office/drawing/2014/main" id="{9B4D83F0-A58D-1C0B-E4DB-BECC7E6E2641}"/>
              </a:ext>
            </a:extLst>
          </p:cNvPr>
          <p:cNvSpPr txBox="1"/>
          <p:nvPr/>
        </p:nvSpPr>
        <p:spPr>
          <a:xfrm>
            <a:off x="427949" y="1587360"/>
            <a:ext cx="4650632" cy="461665"/>
          </a:xfrm>
          <a:prstGeom prst="rect">
            <a:avLst/>
          </a:prstGeom>
          <a:solidFill>
            <a:schemeClr val="bg2"/>
          </a:solidFill>
        </p:spPr>
        <p:txBody>
          <a:bodyPr wrap="none" lIns="91440" tIns="45720" rIns="91440" bIns="45720" rtlCol="0" anchor="t">
            <a:spAutoFit/>
          </a:bodyPr>
          <a:lstStyle/>
          <a:p>
            <a:r>
              <a:rPr lang="en-US" sz="1200"/>
              <a:t>Billable Cost Centre:001512-40B </a:t>
            </a:r>
            <a:endParaRPr lang="en-US" sz="1100">
              <a:cs typeface="Arial"/>
            </a:endParaRPr>
          </a:p>
          <a:p>
            <a:r>
              <a:rPr lang="en-US" sz="1200" i="1"/>
              <a:t>*Billable cost </a:t>
            </a:r>
            <a:r>
              <a:rPr lang="en-US" sz="1200" i="1" err="1"/>
              <a:t>centre</a:t>
            </a:r>
            <a:r>
              <a:rPr lang="en-US" sz="1200" i="1"/>
              <a:t> referring to the Business WBS or cost </a:t>
            </a:r>
            <a:r>
              <a:rPr lang="en-US" sz="1200" i="1" err="1"/>
              <a:t>centre</a:t>
            </a:r>
            <a:endParaRPr lang="en-US" sz="1200" i="1"/>
          </a:p>
        </p:txBody>
      </p:sp>
    </p:spTree>
    <p:extLst>
      <p:ext uri="{BB962C8B-B14F-4D97-AF65-F5344CB8AC3E}">
        <p14:creationId xmlns:p14="http://schemas.microsoft.com/office/powerpoint/2010/main" val="17825373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61052900"/>
              </p:ext>
            </p:extLst>
          </p:nvPr>
        </p:nvGraphicFramePr>
        <p:xfrm>
          <a:off x="514351" y="3179881"/>
          <a:ext cx="8000999" cy="1311066"/>
        </p:xfrm>
        <a:graphic>
          <a:graphicData uri="http://schemas.openxmlformats.org/drawingml/2006/table">
            <a:tbl>
              <a:tblPr bandRow="1">
                <a:tableStyleId>{00A15C55-8517-42AA-B614-E9B94910E393}</a:tableStyleId>
              </a:tblPr>
              <a:tblGrid>
                <a:gridCol w="1400175">
                  <a:extLst>
                    <a:ext uri="{9D8B030D-6E8A-4147-A177-3AD203B41FA5}">
                      <a16:colId xmlns:a16="http://schemas.microsoft.com/office/drawing/2014/main" val="20000"/>
                    </a:ext>
                  </a:extLst>
                </a:gridCol>
                <a:gridCol w="1933575">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666874">
                  <a:extLst>
                    <a:ext uri="{9D8B030D-6E8A-4147-A177-3AD203B41FA5}">
                      <a16:colId xmlns:a16="http://schemas.microsoft.com/office/drawing/2014/main" val="20003"/>
                    </a:ext>
                  </a:extLst>
                </a:gridCol>
                <a:gridCol w="1266825">
                  <a:extLst>
                    <a:ext uri="{9D8B030D-6E8A-4147-A177-3AD203B41FA5}">
                      <a16:colId xmlns:a16="http://schemas.microsoft.com/office/drawing/2014/main" val="20004"/>
                    </a:ext>
                  </a:extLst>
                </a:gridCol>
              </a:tblGrid>
              <a:tr h="346923">
                <a:tc gridSpan="5">
                  <a:txBody>
                    <a:bodyPr/>
                    <a:lstStyle/>
                    <a:p>
                      <a:pPr algn="ctr"/>
                      <a:r>
                        <a:rPr lang="en-GB" sz="1200" b="1" baseline="0">
                          <a:solidFill>
                            <a:schemeClr val="bg2"/>
                          </a:solidFill>
                          <a:latin typeface="Museo Sans 300"/>
                          <a:ea typeface="Verdana"/>
                          <a:cs typeface="Verdana" panose="020B0604030504040204" pitchFamily="34" charset="0"/>
                        </a:rPr>
                        <a:t>APPROVAL INFORMATION</a:t>
                      </a:r>
                      <a:endParaRPr lang="en-GB" sz="1200" b="1">
                        <a:solidFill>
                          <a:schemeClr val="bg2"/>
                        </a:solidFill>
                        <a:latin typeface="Museo Sans 300"/>
                        <a:ea typeface="Verdana"/>
                        <a:cs typeface="Verdana" panose="020B060403050404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hMerge="1">
                  <a:txBody>
                    <a:bodyPr/>
                    <a:lstStyle/>
                    <a:p>
                      <a:endParaRPr lang="en-GB" sz="1050"/>
                    </a:p>
                  </a:txBody>
                  <a:tcPr>
                    <a:solidFill>
                      <a:schemeClr val="tx2"/>
                    </a:solidFill>
                  </a:tcPr>
                </a:tc>
                <a:tc hMerge="1">
                  <a:txBody>
                    <a:bodyPr/>
                    <a:lstStyle/>
                    <a:p>
                      <a:pPr algn="ctr"/>
                      <a:endParaRPr lang="en-GB" sz="1050"/>
                    </a:p>
                  </a:txBody>
                  <a:tcPr>
                    <a:solidFill>
                      <a:schemeClr val="tx2"/>
                    </a:solidFill>
                  </a:tcPr>
                </a:tc>
                <a:tc hMerge="1">
                  <a:txBody>
                    <a:bodyPr/>
                    <a:lstStyle/>
                    <a:p>
                      <a:pPr algn="ctr"/>
                      <a:endParaRPr lang="en-GB" sz="1050"/>
                    </a:p>
                  </a:txBody>
                  <a:tcPr>
                    <a:solidFill>
                      <a:schemeClr val="tx2"/>
                    </a:solidFill>
                  </a:tcPr>
                </a:tc>
                <a:tc hMerge="1">
                  <a:txBody>
                    <a:bodyPr/>
                    <a:lstStyle/>
                    <a:p>
                      <a:pPr algn="ctr"/>
                      <a:endParaRPr lang="en-GB" sz="1050"/>
                    </a:p>
                  </a:txBody>
                  <a:tcPr>
                    <a:solidFill>
                      <a:schemeClr val="tx2"/>
                    </a:solidFill>
                  </a:tcPr>
                </a:tc>
                <a:extLst>
                  <a:ext uri="{0D108BD9-81ED-4DB2-BD59-A6C34878D82A}">
                    <a16:rowId xmlns:a16="http://schemas.microsoft.com/office/drawing/2014/main" val="10000"/>
                  </a:ext>
                </a:extLst>
              </a:tr>
              <a:tr h="346923">
                <a:tc gridSpan="2">
                  <a:txBody>
                    <a:bodyPr/>
                    <a:lstStyle/>
                    <a:p>
                      <a:pPr algn="ctr"/>
                      <a:r>
                        <a:rPr lang="en-GB" sz="1200" b="1">
                          <a:solidFill>
                            <a:schemeClr val="bg2"/>
                          </a:solidFill>
                          <a:latin typeface="Museo Sans 300"/>
                          <a:ea typeface="Verdana"/>
                          <a:cs typeface="Verdana" panose="020B0604030504040204" pitchFamily="34" charset="0"/>
                        </a:rPr>
                        <a:t>Name </a:t>
                      </a:r>
                    </a:p>
                  </a:txBody>
                  <a:tcPr marL="68580" marR="68580" marT="34290" marB="3429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hMerge="1">
                  <a:txBody>
                    <a:bodyPr/>
                    <a:lstStyle/>
                    <a:p>
                      <a:endParaRPr lang="en-GB" sz="1050" b="1">
                        <a:solidFill>
                          <a:schemeClr val="bg2"/>
                        </a:solidFill>
                      </a:endParaRPr>
                    </a:p>
                  </a:txBody>
                  <a:tcPr>
                    <a:solidFill>
                      <a:schemeClr val="tx2"/>
                    </a:solidFill>
                  </a:tcPr>
                </a:tc>
                <a:tc>
                  <a:txBody>
                    <a:bodyPr/>
                    <a:lstStyle/>
                    <a:p>
                      <a:pPr algn="ctr"/>
                      <a:r>
                        <a:rPr lang="en-GB" sz="1200" b="1">
                          <a:solidFill>
                            <a:schemeClr val="bg2"/>
                          </a:solidFill>
                          <a:latin typeface="Museo Sans 300"/>
                          <a:ea typeface="Verdana"/>
                          <a:cs typeface="Verdana" panose="020B0604030504040204" pitchFamily="34" charset="0"/>
                        </a:rPr>
                        <a:t>Designation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algn="ctr"/>
                      <a:r>
                        <a:rPr lang="en-GB" sz="1200" b="1">
                          <a:solidFill>
                            <a:schemeClr val="bg2"/>
                          </a:solidFill>
                          <a:latin typeface="Museo Sans 300"/>
                          <a:ea typeface="Verdana"/>
                          <a:cs typeface="Verdana" panose="020B0604030504040204" pitchFamily="34" charset="0"/>
                        </a:rPr>
                        <a:t>Signature</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algn="ctr"/>
                      <a:r>
                        <a:rPr lang="en-GB" sz="1200" b="1">
                          <a:solidFill>
                            <a:schemeClr val="bg2"/>
                          </a:solidFill>
                          <a:latin typeface="Museo Sans 300"/>
                          <a:ea typeface="Verdana"/>
                          <a:cs typeface="Verdana" panose="020B0604030504040204" pitchFamily="34" charset="0"/>
                        </a:rPr>
                        <a:t>Date</a:t>
                      </a:r>
                    </a:p>
                  </a:txBody>
                  <a:tcPr marL="68580" marR="68580" marT="34290" marB="3429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55507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200" b="0">
                          <a:solidFill>
                            <a:schemeClr val="tx1"/>
                          </a:solidFill>
                          <a:latin typeface="Museo Sans 300"/>
                          <a:ea typeface="Verdana"/>
                          <a:cs typeface="Verdana" panose="020B0604030504040204" pitchFamily="34" charset="0"/>
                        </a:rPr>
                        <a:t>Approved By </a:t>
                      </a:r>
                    </a:p>
                    <a:p>
                      <a:pPr marL="0" marR="0" lvl="1" indent="0" algn="l" defTabSz="914400" rtl="0" eaLnBrk="1" fontAlgn="auto" latinLnBrk="0" hangingPunct="1">
                        <a:lnSpc>
                          <a:spcPct val="100000"/>
                        </a:lnSpc>
                        <a:spcBef>
                          <a:spcPts val="0"/>
                        </a:spcBef>
                        <a:spcAft>
                          <a:spcPts val="0"/>
                        </a:spcAft>
                        <a:buClrTx/>
                        <a:buSzTx/>
                        <a:buFontTx/>
                        <a:buNone/>
                        <a:tabLst/>
                        <a:defRPr/>
                      </a:pPr>
                      <a:r>
                        <a:rPr lang="en-GB" sz="1200" b="0">
                          <a:solidFill>
                            <a:schemeClr val="tx1"/>
                          </a:solidFill>
                          <a:latin typeface="Museo Sans 300"/>
                          <a:ea typeface="Verdana"/>
                          <a:cs typeface="Verdana" panose="020B0604030504040204" pitchFamily="34" charset="0"/>
                        </a:rPr>
                        <a:t>(PETRONAS Digital)</a:t>
                      </a:r>
                    </a:p>
                  </a:txBody>
                  <a:tcPr marL="68580" marR="68580" marT="34290" marB="3429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rtl="0" eaLnBrk="1" fontAlgn="auto" latinLnBrk="0" hangingPunct="1">
                        <a:lnSpc>
                          <a:spcPct val="115000"/>
                        </a:lnSpc>
                        <a:spcBef>
                          <a:spcPts val="0"/>
                        </a:spcBef>
                        <a:spcAft>
                          <a:spcPts val="0"/>
                        </a:spcAft>
                        <a:buClrTx/>
                        <a:buSzTx/>
                        <a:buFontTx/>
                        <a:buNone/>
                      </a:pPr>
                      <a:r>
                        <a:rPr lang="en-US" sz="1200" b="0" kern="1200" noProof="0">
                          <a:solidFill>
                            <a:schemeClr val="tx1"/>
                          </a:solidFill>
                          <a:effectLst/>
                          <a:latin typeface="Museo Sans 300"/>
                          <a:ea typeface="Verdana"/>
                          <a:cs typeface="+mn-cs"/>
                        </a:rPr>
                        <a:t>Ahmad Hassan B Harun</a:t>
                      </a:r>
                      <a:endParaRPr lang="en-US" sz="1200" b="0" kern="1200">
                        <a:solidFill>
                          <a:schemeClr val="tx1"/>
                        </a:solidFill>
                        <a:effectLst/>
                        <a:latin typeface="Museo Sans 300"/>
                        <a:ea typeface="Verdana"/>
                        <a:cs typeface="+mn-cs"/>
                      </a:endParaRPr>
                    </a:p>
                  </a:txBody>
                  <a:tcPr marL="20479" marR="204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a:lnSpc>
                          <a:spcPct val="114999"/>
                        </a:lnSpc>
                        <a:spcBef>
                          <a:spcPts val="0"/>
                        </a:spcBef>
                        <a:spcAft>
                          <a:spcPts val="0"/>
                        </a:spcAft>
                        <a:buNone/>
                      </a:pPr>
                      <a:r>
                        <a:rPr lang="en-US" sz="1200" b="0" kern="1200" noProof="0">
                          <a:solidFill>
                            <a:schemeClr val="tx1"/>
                          </a:solidFill>
                          <a:effectLst/>
                          <a:latin typeface="Museo Sans 300"/>
                          <a:ea typeface="Verdana"/>
                          <a:cs typeface="+mn-cs"/>
                        </a:rPr>
                        <a:t>Senior Manager (Regulator Tribe)</a:t>
                      </a:r>
                      <a:endParaRPr lang="en-US" sz="1200" b="0" kern="1200">
                        <a:solidFill>
                          <a:schemeClr val="tx1"/>
                        </a:solidFill>
                        <a:effectLst/>
                        <a:latin typeface="Museo Sans 300"/>
                        <a:ea typeface="Verdana"/>
                        <a:cs typeface="+mn-cs"/>
                      </a:endParaRPr>
                    </a:p>
                  </a:txBody>
                  <a:tcPr marL="20479" marR="204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endParaRPr lang="en-GB" sz="1200" b="0">
                        <a:latin typeface="Museo Sans 300" panose="02000000000000000000" pitchFamily="50" charset="0"/>
                        <a:ea typeface="Verdana" panose="020B0604030504040204" pitchFamily="34" charset="0"/>
                        <a:cs typeface="Verdana" panose="020B0604030504040204" pitchFamily="34" charset="0"/>
                      </a:endParaRP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1" indent="0" algn="ctr" defTabSz="914400">
                        <a:lnSpc>
                          <a:spcPct val="100000"/>
                        </a:lnSpc>
                        <a:spcBef>
                          <a:spcPts val="0"/>
                        </a:spcBef>
                        <a:spcAft>
                          <a:spcPts val="0"/>
                        </a:spcAft>
                        <a:buNone/>
                        <a:tabLst/>
                        <a:defRPr/>
                      </a:pPr>
                      <a:r>
                        <a:rPr lang="en-US" sz="1200" b="0">
                          <a:solidFill>
                            <a:schemeClr val="tx1"/>
                          </a:solidFill>
                          <a:effectLst/>
                          <a:latin typeface="Museo Sans 300"/>
                          <a:ea typeface="Verdana"/>
                        </a:rPr>
                        <a:t>27-10-2025</a:t>
                      </a:r>
                      <a:endParaRPr lang="en-US">
                        <a:solidFill>
                          <a:schemeClr val="tx1"/>
                        </a:solidFill>
                      </a:endParaRPr>
                    </a:p>
                  </a:txBody>
                  <a:tcPr marL="20479" marR="20479" marT="0" marB="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76" name="Table 75"/>
          <p:cNvGraphicFramePr>
            <a:graphicFrameLocks noGrp="1"/>
          </p:cNvGraphicFramePr>
          <p:nvPr>
            <p:extLst>
              <p:ext uri="{D42A27DB-BD31-4B8C-83A1-F6EECF244321}">
                <p14:modId xmlns:p14="http://schemas.microsoft.com/office/powerpoint/2010/main" val="4267005193"/>
              </p:ext>
            </p:extLst>
          </p:nvPr>
        </p:nvGraphicFramePr>
        <p:xfrm>
          <a:off x="499878" y="1216624"/>
          <a:ext cx="8005732" cy="1527792"/>
        </p:xfrm>
        <a:graphic>
          <a:graphicData uri="http://schemas.openxmlformats.org/drawingml/2006/table">
            <a:tbl>
              <a:tblPr bandRow="1">
                <a:tableStyleId>{00A15C55-8517-42AA-B614-E9B94910E393}</a:tableStyleId>
              </a:tblPr>
              <a:tblGrid>
                <a:gridCol w="2385411">
                  <a:extLst>
                    <a:ext uri="{9D8B030D-6E8A-4147-A177-3AD203B41FA5}">
                      <a16:colId xmlns:a16="http://schemas.microsoft.com/office/drawing/2014/main" val="20000"/>
                    </a:ext>
                  </a:extLst>
                </a:gridCol>
                <a:gridCol w="2961929">
                  <a:extLst>
                    <a:ext uri="{9D8B030D-6E8A-4147-A177-3AD203B41FA5}">
                      <a16:colId xmlns:a16="http://schemas.microsoft.com/office/drawing/2014/main" val="20001"/>
                    </a:ext>
                  </a:extLst>
                </a:gridCol>
                <a:gridCol w="2658392">
                  <a:extLst>
                    <a:ext uri="{9D8B030D-6E8A-4147-A177-3AD203B41FA5}">
                      <a16:colId xmlns:a16="http://schemas.microsoft.com/office/drawing/2014/main" val="20002"/>
                    </a:ext>
                  </a:extLst>
                </a:gridCol>
              </a:tblGrid>
              <a:tr h="342900">
                <a:tc>
                  <a:txBody>
                    <a:bodyPr/>
                    <a:lstStyle/>
                    <a:p>
                      <a:pPr algn="ctr"/>
                      <a:endParaRPr lang="en-GB" sz="1200" b="1">
                        <a:solidFill>
                          <a:schemeClr val="bg2"/>
                        </a:solidFill>
                        <a:latin typeface="Museo Sans 300" panose="02000000000000000000" pitchFamily="50" charset="0"/>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2"/>
                          </a:solidFill>
                          <a:latin typeface="Museo Sans 300"/>
                          <a:ea typeface="Verdana"/>
                          <a:cs typeface="Verdana" panose="020B0604030504040204" pitchFamily="34" charset="0"/>
                        </a:rPr>
                        <a:t>Name </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algn="ctr"/>
                      <a:r>
                        <a:rPr lang="en-GB" sz="1200" b="1">
                          <a:solidFill>
                            <a:schemeClr val="bg2"/>
                          </a:solidFill>
                          <a:latin typeface="Museo Sans 300"/>
                          <a:ea typeface="Verdana"/>
                          <a:cs typeface="Verdana" panose="020B0604030504040204" pitchFamily="34" charset="0"/>
                        </a:rPr>
                        <a:t>Date</a:t>
                      </a:r>
                    </a:p>
                  </a:txBody>
                  <a:tcPr marL="68580" marR="68580" marT="34290" marB="3429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244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200" b="0">
                          <a:latin typeface="Museo Sans 300"/>
                          <a:ea typeface="Verdana"/>
                          <a:cs typeface="Verdana" panose="020B0604030504040204" pitchFamily="34" charset="0"/>
                        </a:rPr>
                        <a:t>Prepared By</a:t>
                      </a:r>
                    </a:p>
                    <a:p>
                      <a:pPr marL="0" marR="0" lvl="1" indent="0" algn="l" defTabSz="914400" rtl="0" eaLnBrk="1" fontAlgn="auto" latinLnBrk="0" hangingPunct="1">
                        <a:lnSpc>
                          <a:spcPct val="100000"/>
                        </a:lnSpc>
                        <a:spcBef>
                          <a:spcPts val="0"/>
                        </a:spcBef>
                        <a:spcAft>
                          <a:spcPts val="0"/>
                        </a:spcAft>
                        <a:buClrTx/>
                        <a:buSzTx/>
                        <a:buFontTx/>
                        <a:buNone/>
                        <a:tabLst/>
                        <a:defRPr/>
                      </a:pPr>
                      <a:r>
                        <a:rPr lang="en-GB" sz="1200" b="0">
                          <a:latin typeface="Museo Sans 300"/>
                          <a:ea typeface="Verdana"/>
                          <a:cs typeface="Verdana" panose="020B0604030504040204" pitchFamily="34" charset="0"/>
                        </a:rPr>
                        <a:t>(PDSB Service Owner)</a:t>
                      </a:r>
                    </a:p>
                  </a:txBody>
                  <a:tcPr marL="68580" marR="68580" marT="34290" marB="3429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0" err="1">
                          <a:solidFill>
                            <a:schemeClr val="tx1"/>
                          </a:solidFill>
                          <a:effectLst/>
                          <a:latin typeface="Museo Sans 300"/>
                          <a:ea typeface="Verdana"/>
                          <a:cs typeface="Verdana" panose="020B0604030504040204" pitchFamily="34" charset="0"/>
                        </a:rPr>
                        <a:t>Rabiatul</a:t>
                      </a:r>
                      <a:r>
                        <a:rPr lang="en-US" sz="1200" b="0">
                          <a:solidFill>
                            <a:schemeClr val="tx1"/>
                          </a:solidFill>
                          <a:effectLst/>
                          <a:latin typeface="Museo Sans 300"/>
                          <a:ea typeface="Verdana"/>
                          <a:cs typeface="Verdana" panose="020B0604030504040204" pitchFamily="34" charset="0"/>
                        </a:rPr>
                        <a:t> Adawiyah Saad</a:t>
                      </a:r>
                    </a:p>
                  </a:txBody>
                  <a:tcPr marL="20479" marR="204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effectLst/>
                          <a:latin typeface="Museo Sans 300"/>
                          <a:ea typeface="Verdana"/>
                          <a:cs typeface="Verdana" panose="020B0604030504040204" pitchFamily="34" charset="0"/>
                        </a:rPr>
                        <a:t>27-10-2025</a:t>
                      </a:r>
                    </a:p>
                  </a:txBody>
                  <a:tcPr marL="20479" marR="20479" marT="0" marB="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9244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200" b="0">
                          <a:latin typeface="Museo Sans 300"/>
                          <a:ea typeface="Verdana"/>
                          <a:cs typeface="Verdana" panose="020B0604030504040204" pitchFamily="34" charset="0"/>
                        </a:rPr>
                        <a:t>Reviewed by</a:t>
                      </a:r>
                    </a:p>
                  </a:txBody>
                  <a:tcPr marL="68580" marR="68580" marT="34290" marB="3429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a:lnSpc>
                          <a:spcPct val="114999"/>
                        </a:lnSpc>
                        <a:spcBef>
                          <a:spcPts val="0"/>
                        </a:spcBef>
                        <a:spcAft>
                          <a:spcPts val="0"/>
                        </a:spcAft>
                        <a:buNone/>
                      </a:pPr>
                      <a:r>
                        <a:rPr lang="en-US" sz="1200" b="0" kern="1200" noProof="0" err="1">
                          <a:solidFill>
                            <a:schemeClr val="tx1"/>
                          </a:solidFill>
                          <a:effectLst/>
                          <a:latin typeface="Museo Sans 300"/>
                          <a:ea typeface="Verdana"/>
                        </a:rPr>
                        <a:t>Khir</a:t>
                      </a:r>
                      <a:r>
                        <a:rPr lang="en-US" sz="1200" b="0" kern="1200" noProof="0">
                          <a:solidFill>
                            <a:schemeClr val="tx1"/>
                          </a:solidFill>
                          <a:effectLst/>
                          <a:latin typeface="Museo Sans 300"/>
                          <a:ea typeface="Verdana"/>
                        </a:rPr>
                        <a:t> Zainal Omar </a:t>
                      </a:r>
                      <a:r>
                        <a:rPr lang="en-US" sz="1200" b="0" kern="1200" noProof="0" err="1">
                          <a:solidFill>
                            <a:schemeClr val="tx1"/>
                          </a:solidFill>
                          <a:effectLst/>
                          <a:latin typeface="Museo Sans 300"/>
                          <a:ea typeface="Verdana"/>
                        </a:rPr>
                        <a:t>Shakri</a:t>
                      </a:r>
                      <a:r>
                        <a:rPr lang="en-US" sz="1200" b="0" kern="1200" noProof="0">
                          <a:solidFill>
                            <a:schemeClr val="tx1"/>
                          </a:solidFill>
                          <a:effectLst/>
                          <a:latin typeface="Museo Sans 300"/>
                          <a:ea typeface="Verdana"/>
                        </a:rPr>
                        <a:t> </a:t>
                      </a:r>
                      <a:endParaRPr lang="en-US" sz="1200" b="0" kern="1200">
                        <a:solidFill>
                          <a:schemeClr val="tx1"/>
                        </a:solidFill>
                        <a:effectLst/>
                        <a:latin typeface="Museo Sans 300"/>
                        <a:ea typeface="Verdana"/>
                      </a:endParaRPr>
                    </a:p>
                  </a:txBody>
                  <a:tcPr marL="20479" marR="204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a:lnSpc>
                          <a:spcPct val="100000"/>
                        </a:lnSpc>
                        <a:spcBef>
                          <a:spcPts val="0"/>
                        </a:spcBef>
                        <a:spcAft>
                          <a:spcPts val="0"/>
                        </a:spcAft>
                        <a:buNone/>
                        <a:tabLst/>
                        <a:defRPr/>
                      </a:pPr>
                      <a:r>
                        <a:rPr lang="en-US" sz="1200" b="0">
                          <a:solidFill>
                            <a:schemeClr val="tx1"/>
                          </a:solidFill>
                          <a:effectLst/>
                          <a:latin typeface="Museo Sans 300"/>
                          <a:ea typeface="Verdana"/>
                        </a:rPr>
                        <a:t>27-10-2025</a:t>
                      </a:r>
                      <a:endParaRPr lang="en-US">
                        <a:solidFill>
                          <a:schemeClr val="tx1"/>
                        </a:solidFill>
                      </a:endParaRPr>
                    </a:p>
                  </a:txBody>
                  <a:tcPr marL="20479" marR="20479" marT="0" marB="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575193"/>
                  </a:ext>
                </a:extLst>
              </a:tr>
            </a:tbl>
          </a:graphicData>
        </a:graphic>
      </p:graphicFrame>
      <p:sp>
        <p:nvSpPr>
          <p:cNvPr id="340" name="Title 1"/>
          <p:cNvSpPr>
            <a:spLocks noGrp="1"/>
          </p:cNvSpPr>
          <p:nvPr>
            <p:ph type="title"/>
          </p:nvPr>
        </p:nvSpPr>
        <p:spPr>
          <a:xfrm>
            <a:off x="396482" y="409296"/>
            <a:ext cx="8213244"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4.1 Service Proposal Approval</a:t>
            </a:r>
          </a:p>
        </p:txBody>
      </p:sp>
      <p:pic>
        <p:nvPicPr>
          <p:cNvPr id="78" name="Picture 77"/>
          <p:cNvPicPr/>
          <p:nvPr/>
        </p:nvPicPr>
        <p:blipFill>
          <a:blip r:embed="rId4">
            <a:extLst>
              <a:ext uri="{28A0092B-C50C-407E-A947-70E740481C1C}">
                <a14:useLocalDpi xmlns:a14="http://schemas.microsoft.com/office/drawing/2010/main" val="0"/>
              </a:ext>
            </a:extLst>
          </a:blip>
          <a:srcRect/>
          <a:stretch>
            <a:fillRect/>
          </a:stretch>
        </p:blipFill>
        <p:spPr bwMode="auto">
          <a:xfrm>
            <a:off x="6565582" y="157626"/>
            <a:ext cx="2578418" cy="666750"/>
          </a:xfrm>
          <a:prstGeom prst="rect">
            <a:avLst/>
          </a:prstGeom>
          <a:noFill/>
        </p:spPr>
      </p:pic>
      <p:sp>
        <p:nvSpPr>
          <p:cNvPr id="3" name="BJPseudoFooter">
            <a:extLst>
              <a:ext uri="{FF2B5EF4-FFF2-40B4-BE49-F238E27FC236}">
                <a16:creationId xmlns:a16="http://schemas.microsoft.com/office/drawing/2014/main" id="{A887D592-8CA4-4E3F-8013-89C64D33C0B8}"/>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pic>
        <p:nvPicPr>
          <p:cNvPr id="2" name="Picture 1" descr="A signature on a white background&#10;&#10;AI-generated content may be incorrect.">
            <a:extLst>
              <a:ext uri="{FF2B5EF4-FFF2-40B4-BE49-F238E27FC236}">
                <a16:creationId xmlns:a16="http://schemas.microsoft.com/office/drawing/2014/main" id="{02876F46-4DF2-3C13-F81E-8257912732CA}"/>
              </a:ext>
            </a:extLst>
          </p:cNvPr>
          <p:cNvPicPr>
            <a:picLocks noChangeAspect="1"/>
          </p:cNvPicPr>
          <p:nvPr/>
        </p:nvPicPr>
        <p:blipFill>
          <a:blip r:embed="rId5"/>
          <a:stretch>
            <a:fillRect/>
          </a:stretch>
        </p:blipFill>
        <p:spPr>
          <a:xfrm>
            <a:off x="6191179" y="3924915"/>
            <a:ext cx="386131" cy="500868"/>
          </a:xfrm>
          <a:prstGeom prst="rect">
            <a:avLst/>
          </a:prstGeom>
        </p:spPr>
      </p:pic>
    </p:spTree>
    <p:extLst>
      <p:ext uri="{BB962C8B-B14F-4D97-AF65-F5344CB8AC3E}">
        <p14:creationId xmlns:p14="http://schemas.microsoft.com/office/powerpoint/2010/main" val="2108396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2857500" y="2809875"/>
            <a:ext cx="8229600" cy="400050"/>
          </a:xfrm>
        </p:spPr>
        <p:txBody>
          <a:bodyPr/>
          <a:lstStyle/>
          <a:p>
            <a:r>
              <a:rPr lang="en-US" b="1">
                <a:latin typeface="Museo Sans 300" panose="02000000000000000000" pitchFamily="50" charset="0"/>
                <a:ea typeface="Verdana" panose="020B0604030504040204" pitchFamily="34" charset="0"/>
                <a:cs typeface="Verdana" panose="020B0604030504040204" pitchFamily="34" charset="0"/>
              </a:rPr>
              <a:t> Appendices</a:t>
            </a:r>
          </a:p>
        </p:txBody>
      </p:sp>
      <p:pic>
        <p:nvPicPr>
          <p:cNvPr id="79" name="Picture 78"/>
          <p:cNvPicPr/>
          <p:nvPr/>
        </p:nvPicPr>
        <p:blipFill>
          <a:blip r:embed="rId4">
            <a:extLst>
              <a:ext uri="{28A0092B-C50C-407E-A947-70E740481C1C}">
                <a14:useLocalDpi xmlns:a14="http://schemas.microsoft.com/office/drawing/2010/main" val="0"/>
              </a:ext>
            </a:extLst>
          </a:blip>
          <a:srcRect/>
          <a:stretch>
            <a:fillRect/>
          </a:stretch>
        </p:blipFill>
        <p:spPr bwMode="auto">
          <a:xfrm>
            <a:off x="6448985" y="-9525"/>
            <a:ext cx="2578418" cy="666750"/>
          </a:xfrm>
          <a:prstGeom prst="rect">
            <a:avLst/>
          </a:prstGeom>
          <a:noFill/>
        </p:spPr>
      </p:pic>
      <p:sp>
        <p:nvSpPr>
          <p:cNvPr id="3" name="BJPseudoFooter">
            <a:extLst>
              <a:ext uri="{FF2B5EF4-FFF2-40B4-BE49-F238E27FC236}">
                <a16:creationId xmlns:a16="http://schemas.microsoft.com/office/drawing/2014/main" id="{A74AE5D1-5F6D-4773-9048-952115541A4B}"/>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961707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DB73A-6F34-3022-809A-0CA96821821E}"/>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2FB4E31F-0796-C669-BED5-F68B79EB4D3C}"/>
              </a:ext>
            </a:extLst>
          </p:cNvPr>
          <p:cNvGraphicFramePr>
            <a:graphicFrameLocks noGrp="1"/>
          </p:cNvGraphicFramePr>
          <p:nvPr>
            <p:extLst>
              <p:ext uri="{D42A27DB-BD31-4B8C-83A1-F6EECF244321}">
                <p14:modId xmlns:p14="http://schemas.microsoft.com/office/powerpoint/2010/main" val="3909974075"/>
              </p:ext>
            </p:extLst>
          </p:nvPr>
        </p:nvGraphicFramePr>
        <p:xfrm>
          <a:off x="383301" y="871001"/>
          <a:ext cx="8378662" cy="2428459"/>
        </p:xfrm>
        <a:graphic>
          <a:graphicData uri="http://schemas.openxmlformats.org/drawingml/2006/table">
            <a:tbl>
              <a:tblPr firstRow="1" bandRow="1">
                <a:tableStyleId>{5940675A-B579-460E-94D1-54222C63F5DA}</a:tableStyleId>
              </a:tblPr>
              <a:tblGrid>
                <a:gridCol w="5009041">
                  <a:extLst>
                    <a:ext uri="{9D8B030D-6E8A-4147-A177-3AD203B41FA5}">
                      <a16:colId xmlns:a16="http://schemas.microsoft.com/office/drawing/2014/main" val="20000"/>
                    </a:ext>
                  </a:extLst>
                </a:gridCol>
                <a:gridCol w="1513839">
                  <a:extLst>
                    <a:ext uri="{9D8B030D-6E8A-4147-A177-3AD203B41FA5}">
                      <a16:colId xmlns:a16="http://schemas.microsoft.com/office/drawing/2014/main" val="2900886020"/>
                    </a:ext>
                  </a:extLst>
                </a:gridCol>
                <a:gridCol w="1855782">
                  <a:extLst>
                    <a:ext uri="{9D8B030D-6E8A-4147-A177-3AD203B41FA5}">
                      <a16:colId xmlns:a16="http://schemas.microsoft.com/office/drawing/2014/main" val="20002"/>
                    </a:ext>
                  </a:extLst>
                </a:gridCol>
              </a:tblGrid>
              <a:tr h="919699">
                <a:tc>
                  <a:txBody>
                    <a:bodyPr/>
                    <a:lstStyle/>
                    <a:p>
                      <a:pPr algn="ctr"/>
                      <a:r>
                        <a:rPr lang="en-GB" sz="1200" b="1" baseline="0">
                          <a:solidFill>
                            <a:schemeClr val="bg1"/>
                          </a:solidFill>
                          <a:latin typeface="Museo Sans 300"/>
                          <a:ea typeface="Verdana"/>
                          <a:cs typeface="Verdana" panose="020B0604030504040204" pitchFamily="34" charset="0"/>
                        </a:rPr>
                        <a:t>Tribe</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lvl="0" algn="ctr">
                        <a:buNone/>
                      </a:pPr>
                      <a:r>
                        <a:rPr lang="en-GB" sz="1200" b="1">
                          <a:solidFill>
                            <a:schemeClr val="bg1"/>
                          </a:solidFill>
                          <a:latin typeface="Museo Sans 300"/>
                          <a:ea typeface="Verdana"/>
                          <a:cs typeface="Verdana" panose="020B0604030504040204" pitchFamily="34" charset="0"/>
                        </a:rPr>
                        <a:t>FTE</a:t>
                      </a:r>
                    </a:p>
                  </a:txBody>
                  <a:tcPr marL="68580" marR="68580" marT="34290" marB="34290" anchor="ctr">
                    <a:solidFill>
                      <a:srgbClr val="00B1A9"/>
                    </a:solidFill>
                  </a:tcPr>
                </a:tc>
                <a:tc>
                  <a:txBody>
                    <a:bodyPr/>
                    <a:lstStyle/>
                    <a:p>
                      <a:pPr lvl="0" algn="ctr">
                        <a:buNone/>
                      </a:pPr>
                      <a:r>
                        <a:rPr lang="en-US" sz="1200" b="1">
                          <a:solidFill>
                            <a:schemeClr val="bg1"/>
                          </a:solidFill>
                          <a:latin typeface="Museo Sans 300"/>
                          <a:ea typeface="Verdana"/>
                        </a:rPr>
                        <a:t>Total (RM)</a:t>
                      </a:r>
                      <a:endParaRPr lang="en-US"/>
                    </a:p>
                  </a:txBody>
                  <a:tcPr marL="68580" marR="68580" marT="34290" marB="34290" anchor="ctr">
                    <a:solidFill>
                      <a:srgbClr val="00B1A9"/>
                    </a:solidFill>
                  </a:tcPr>
                </a:tc>
                <a:extLst>
                  <a:ext uri="{0D108BD9-81ED-4DB2-BD59-A6C34878D82A}">
                    <a16:rowId xmlns:a16="http://schemas.microsoft.com/office/drawing/2014/main" val="10000"/>
                  </a:ext>
                </a:extLst>
              </a:tr>
              <a:tr h="250173">
                <a:tc>
                  <a:txBody>
                    <a:bodyPr/>
                    <a:lstStyle/>
                    <a:p>
                      <a:pPr lvl="0" algn="ctr">
                        <a:buNone/>
                      </a:pPr>
                      <a:r>
                        <a:rPr lang="en-GB" sz="1100">
                          <a:latin typeface="Museo Sans 300"/>
                          <a:ea typeface="Verdana"/>
                          <a:cs typeface="Verdana" panose="020B0604030504040204" pitchFamily="34" charset="0"/>
                        </a:rPr>
                        <a:t>Development</a:t>
                      </a:r>
                    </a:p>
                  </a:txBody>
                  <a:tcPr marL="68580" marR="68580" marT="34290" marB="34290"/>
                </a:tc>
                <a:tc>
                  <a:txBody>
                    <a:bodyPr/>
                    <a:lstStyle/>
                    <a:p>
                      <a:pPr lvl="0" algn="ctr">
                        <a:buNone/>
                      </a:pPr>
                      <a:r>
                        <a:rPr lang="en-GB" sz="1200" kern="1200">
                          <a:solidFill>
                            <a:schemeClr val="tx1"/>
                          </a:solidFill>
                          <a:latin typeface="Museo Sans 300"/>
                          <a:ea typeface="Verdana"/>
                          <a:cs typeface="+mn-cs"/>
                        </a:rPr>
                        <a:t>2.23</a:t>
                      </a:r>
                    </a:p>
                  </a:txBody>
                  <a:tcPr marL="68580" marR="68580" marT="34290" marB="34290"/>
                </a:tc>
                <a:tc>
                  <a:txBody>
                    <a:bodyPr/>
                    <a:lstStyle/>
                    <a:p>
                      <a:pPr lvl="0" algn="ctr">
                        <a:buNone/>
                      </a:pPr>
                      <a:r>
                        <a:rPr lang="en-GB" sz="1200" kern="1200">
                          <a:solidFill>
                            <a:schemeClr val="tx1"/>
                          </a:solidFill>
                          <a:latin typeface="Museo Sans 300"/>
                          <a:ea typeface="Verdana"/>
                          <a:cs typeface="+mn-cs"/>
                        </a:rPr>
                        <a:t>553,831</a:t>
                      </a:r>
                    </a:p>
                  </a:txBody>
                  <a:tcPr marL="68580" marR="68580" marT="34290" marB="34290"/>
                </a:tc>
                <a:extLst>
                  <a:ext uri="{0D108BD9-81ED-4DB2-BD59-A6C34878D82A}">
                    <a16:rowId xmlns:a16="http://schemas.microsoft.com/office/drawing/2014/main" val="1961103381"/>
                  </a:ext>
                </a:extLst>
              </a:tr>
              <a:tr h="250173">
                <a:tc>
                  <a:txBody>
                    <a:bodyPr/>
                    <a:lstStyle/>
                    <a:p>
                      <a:pPr lvl="0" algn="ctr">
                        <a:buNone/>
                      </a:pPr>
                      <a:r>
                        <a:rPr lang="en-GB" sz="1100">
                          <a:latin typeface="Museo Sans 300"/>
                          <a:ea typeface="Verdana"/>
                          <a:cs typeface="Verdana" panose="020B0604030504040204" pitchFamily="34" charset="0"/>
                        </a:rPr>
                        <a:t>Production</a:t>
                      </a:r>
                    </a:p>
                  </a:txBody>
                  <a:tcPr marL="68580" marR="68580" marT="34290" marB="34290"/>
                </a:tc>
                <a:tc>
                  <a:txBody>
                    <a:bodyPr/>
                    <a:lstStyle/>
                    <a:p>
                      <a:pPr lvl="0" algn="ctr">
                        <a:buNone/>
                      </a:pPr>
                      <a:r>
                        <a:rPr lang="en-GB" sz="1200" kern="1200">
                          <a:solidFill>
                            <a:schemeClr val="tx1"/>
                          </a:solidFill>
                          <a:latin typeface="Museo Sans 300"/>
                          <a:ea typeface="Verdana"/>
                          <a:cs typeface="+mn-cs"/>
                        </a:rPr>
                        <a:t>1.30</a:t>
                      </a:r>
                    </a:p>
                  </a:txBody>
                  <a:tcPr marL="68580" marR="68580" marT="34290" marB="34290"/>
                </a:tc>
                <a:tc>
                  <a:txBody>
                    <a:bodyPr/>
                    <a:lstStyle/>
                    <a:p>
                      <a:pPr lvl="0" algn="ctr">
                        <a:buNone/>
                      </a:pPr>
                      <a:r>
                        <a:rPr lang="en-GB" sz="1200" kern="1200">
                          <a:solidFill>
                            <a:schemeClr val="tx1"/>
                          </a:solidFill>
                          <a:latin typeface="Museo Sans 300"/>
                          <a:ea typeface="Verdana"/>
                          <a:cs typeface="+mn-cs"/>
                        </a:rPr>
                        <a:t>211,818</a:t>
                      </a:r>
                    </a:p>
                  </a:txBody>
                  <a:tcPr marL="68580" marR="68580" marT="34290" marB="34290"/>
                </a:tc>
                <a:extLst>
                  <a:ext uri="{0D108BD9-81ED-4DB2-BD59-A6C34878D82A}">
                    <a16:rowId xmlns:a16="http://schemas.microsoft.com/office/drawing/2014/main" val="2838618800"/>
                  </a:ext>
                </a:extLst>
              </a:tr>
              <a:tr h="250173">
                <a:tc>
                  <a:txBody>
                    <a:bodyPr/>
                    <a:lstStyle/>
                    <a:p>
                      <a:pPr lvl="0" algn="ctr">
                        <a:buNone/>
                      </a:pPr>
                      <a:r>
                        <a:rPr lang="en-GB" sz="1100">
                          <a:latin typeface="Museo Sans 300"/>
                          <a:ea typeface="Verdana"/>
                          <a:cs typeface="Verdana" panose="020B0604030504040204" pitchFamily="34" charset="0"/>
                        </a:rPr>
                        <a:t>Regulator</a:t>
                      </a:r>
                    </a:p>
                  </a:txBody>
                  <a:tcPr marL="68580" marR="68580" marT="34290" marB="34290"/>
                </a:tc>
                <a:tc>
                  <a:txBody>
                    <a:bodyPr/>
                    <a:lstStyle/>
                    <a:p>
                      <a:pPr lvl="0" algn="ctr">
                        <a:buNone/>
                      </a:pPr>
                      <a:r>
                        <a:rPr lang="en-GB" sz="1200" kern="1200">
                          <a:solidFill>
                            <a:schemeClr val="tx1"/>
                          </a:solidFill>
                          <a:latin typeface="Museo Sans 300"/>
                          <a:ea typeface="Verdana"/>
                          <a:cs typeface="+mn-cs"/>
                        </a:rPr>
                        <a:t>5.12</a:t>
                      </a:r>
                      <a:endParaRPr lang="en-US"/>
                    </a:p>
                  </a:txBody>
                  <a:tcPr marL="68580" marR="68580" marT="34290" marB="34290"/>
                </a:tc>
                <a:tc>
                  <a:txBody>
                    <a:bodyPr/>
                    <a:lstStyle/>
                    <a:p>
                      <a:pPr lvl="0" algn="ctr">
                        <a:buNone/>
                      </a:pPr>
                      <a:r>
                        <a:rPr lang="en-GB" sz="1200" kern="1200">
                          <a:solidFill>
                            <a:schemeClr val="tx1"/>
                          </a:solidFill>
                          <a:latin typeface="Museo Sans 300"/>
                          <a:ea typeface="Verdana"/>
                          <a:cs typeface="+mn-cs"/>
                        </a:rPr>
                        <a:t>1,213,509</a:t>
                      </a:r>
                    </a:p>
                  </a:txBody>
                  <a:tcPr marL="68580" marR="68580" marT="34290" marB="34290"/>
                </a:tc>
                <a:extLst>
                  <a:ext uri="{0D108BD9-81ED-4DB2-BD59-A6C34878D82A}">
                    <a16:rowId xmlns:a16="http://schemas.microsoft.com/office/drawing/2014/main" val="1305014165"/>
                  </a:ext>
                </a:extLst>
              </a:tr>
              <a:tr h="250173">
                <a:tc>
                  <a:txBody>
                    <a:bodyPr/>
                    <a:lstStyle/>
                    <a:p>
                      <a:pPr lvl="0" algn="ctr">
                        <a:buNone/>
                      </a:pPr>
                      <a:r>
                        <a:rPr lang="en-GB" sz="1100">
                          <a:latin typeface="Museo Sans 300"/>
                          <a:ea typeface="Verdana"/>
                          <a:cs typeface="Verdana" panose="020B0604030504040204" pitchFamily="34" charset="0"/>
                        </a:rPr>
                        <a:t>Malaysia Assets</a:t>
                      </a:r>
                    </a:p>
                  </a:txBody>
                  <a:tcPr marL="68580" marR="68580" marT="34290" marB="34290"/>
                </a:tc>
                <a:tc>
                  <a:txBody>
                    <a:bodyPr/>
                    <a:lstStyle/>
                    <a:p>
                      <a:pPr lvl="0" algn="ctr">
                        <a:buNone/>
                      </a:pPr>
                      <a:r>
                        <a:rPr lang="en-GB" sz="1200" kern="1200">
                          <a:solidFill>
                            <a:schemeClr val="tx1"/>
                          </a:solidFill>
                          <a:latin typeface="Museo Sans 300"/>
                          <a:ea typeface="Verdana"/>
                          <a:cs typeface="+mn-cs"/>
                        </a:rPr>
                        <a:t>1.61</a:t>
                      </a:r>
                    </a:p>
                  </a:txBody>
                  <a:tcPr marL="68580" marR="68580" marT="34290" marB="34290"/>
                </a:tc>
                <a:tc>
                  <a:txBody>
                    <a:bodyPr/>
                    <a:lstStyle/>
                    <a:p>
                      <a:pPr lvl="0" algn="ctr">
                        <a:buNone/>
                      </a:pPr>
                      <a:r>
                        <a:rPr lang="en-GB" sz="1200" kern="1200">
                          <a:solidFill>
                            <a:schemeClr val="tx1"/>
                          </a:solidFill>
                          <a:latin typeface="Museo Sans 300"/>
                          <a:ea typeface="Verdana"/>
                          <a:cs typeface="+mn-cs"/>
                        </a:rPr>
                        <a:t>424,230</a:t>
                      </a:r>
                    </a:p>
                  </a:txBody>
                  <a:tcPr marL="68580" marR="68580" marT="34290" marB="34290"/>
                </a:tc>
                <a:extLst>
                  <a:ext uri="{0D108BD9-81ED-4DB2-BD59-A6C34878D82A}">
                    <a16:rowId xmlns:a16="http://schemas.microsoft.com/office/drawing/2014/main" val="862166525"/>
                  </a:ext>
                </a:extLst>
              </a:tr>
              <a:tr h="250173">
                <a:tc>
                  <a:txBody>
                    <a:bodyPr/>
                    <a:lstStyle/>
                    <a:p>
                      <a:pPr lvl="0" algn="ctr">
                        <a:buNone/>
                      </a:pPr>
                      <a:r>
                        <a:rPr lang="en-GB" sz="1100">
                          <a:latin typeface="Museo Sans 300"/>
                          <a:ea typeface="Verdana"/>
                          <a:cs typeface="Verdana" panose="020B0604030504040204" pitchFamily="34" charset="0"/>
                        </a:rPr>
                        <a:t>Cybersecurity</a:t>
                      </a:r>
                    </a:p>
                  </a:txBody>
                  <a:tcPr marL="68580" marR="68580" marT="34290" marB="34290"/>
                </a:tc>
                <a:tc>
                  <a:txBody>
                    <a:bodyPr/>
                    <a:lstStyle/>
                    <a:p>
                      <a:pPr lvl="0" algn="ctr">
                        <a:buNone/>
                      </a:pPr>
                      <a:r>
                        <a:rPr lang="en-GB" sz="1200" kern="1200">
                          <a:solidFill>
                            <a:schemeClr val="tx1"/>
                          </a:solidFill>
                          <a:latin typeface="Museo Sans 300"/>
                          <a:ea typeface="Verdana"/>
                          <a:cs typeface="+mn-cs"/>
                        </a:rPr>
                        <a:t>0.33</a:t>
                      </a:r>
                    </a:p>
                  </a:txBody>
                  <a:tcPr marL="68580" marR="68580" marT="34290" marB="34290"/>
                </a:tc>
                <a:tc>
                  <a:txBody>
                    <a:bodyPr/>
                    <a:lstStyle/>
                    <a:p>
                      <a:pPr lvl="0" algn="ctr">
                        <a:buNone/>
                      </a:pPr>
                      <a:r>
                        <a:rPr lang="en-GB" sz="1200" kern="1200">
                          <a:solidFill>
                            <a:schemeClr val="tx1"/>
                          </a:solidFill>
                          <a:latin typeface="Museo Sans 300"/>
                          <a:ea typeface="Verdana"/>
                          <a:cs typeface="+mn-cs"/>
                        </a:rPr>
                        <a:t>94,380</a:t>
                      </a:r>
                    </a:p>
                  </a:txBody>
                  <a:tcPr marL="68580" marR="68580" marT="34290" marB="34290"/>
                </a:tc>
                <a:extLst>
                  <a:ext uri="{0D108BD9-81ED-4DB2-BD59-A6C34878D82A}">
                    <a16:rowId xmlns:a16="http://schemas.microsoft.com/office/drawing/2014/main" val="2529261614"/>
                  </a:ext>
                </a:extLst>
              </a:tr>
              <a:tr h="250173">
                <a:tc>
                  <a:txBody>
                    <a:bodyPr/>
                    <a:lstStyle/>
                    <a:p>
                      <a:pPr lvl="0" algn="r">
                        <a:lnSpc>
                          <a:spcPct val="100000"/>
                        </a:lnSpc>
                        <a:spcBef>
                          <a:spcPts val="0"/>
                        </a:spcBef>
                        <a:spcAft>
                          <a:spcPts val="0"/>
                        </a:spcAft>
                        <a:buNone/>
                      </a:pPr>
                      <a:r>
                        <a:rPr lang="en-GB" sz="1100" b="1" i="0" u="none" strike="noStrike" noProof="0">
                          <a:solidFill>
                            <a:srgbClr val="000000"/>
                          </a:solidFill>
                          <a:latin typeface="Museo Sans 300"/>
                        </a:rPr>
                        <a:t>Total</a:t>
                      </a:r>
                      <a:endParaRPr lang="en-GB" sz="1100" b="0" i="0" u="none" strike="noStrike" noProof="0">
                        <a:solidFill>
                          <a:srgbClr val="000000"/>
                        </a:solidFill>
                        <a:latin typeface="Museo Sans 300"/>
                      </a:endParaRPr>
                    </a:p>
                  </a:txBody>
                  <a:tcPr marL="68580" marR="68580" marT="34290" marB="34290">
                    <a:solidFill>
                      <a:schemeClr val="bg2">
                        <a:lumMod val="90000"/>
                      </a:schemeClr>
                    </a:solidFill>
                  </a:tcPr>
                </a:tc>
                <a:tc>
                  <a:txBody>
                    <a:bodyPr/>
                    <a:lstStyle/>
                    <a:p>
                      <a:pPr lvl="0" algn="ctr">
                        <a:buNone/>
                      </a:pPr>
                      <a:r>
                        <a:rPr lang="en-GB" sz="1200" kern="1200">
                          <a:solidFill>
                            <a:schemeClr val="tx1"/>
                          </a:solidFill>
                          <a:latin typeface="Museo Sans 300"/>
                          <a:ea typeface="Verdana"/>
                          <a:cs typeface="+mn-cs"/>
                        </a:rPr>
                        <a:t>10.61</a:t>
                      </a:r>
                    </a:p>
                  </a:txBody>
                  <a:tcPr marL="68580" marR="68580" marT="34290" marB="34290"/>
                </a:tc>
                <a:tc>
                  <a:txBody>
                    <a:bodyPr/>
                    <a:lstStyle/>
                    <a:p>
                      <a:pPr lvl="0" algn="ctr">
                        <a:lnSpc>
                          <a:spcPct val="100000"/>
                        </a:lnSpc>
                        <a:spcBef>
                          <a:spcPts val="0"/>
                        </a:spcBef>
                        <a:spcAft>
                          <a:spcPts val="0"/>
                        </a:spcAft>
                        <a:buNone/>
                      </a:pPr>
                      <a:r>
                        <a:rPr lang="en-GB" sz="1200" b="0" i="0" u="none" strike="noStrike" kern="1200" noProof="0">
                          <a:solidFill>
                            <a:schemeClr val="tx1"/>
                          </a:solidFill>
                          <a:latin typeface="Museo Sans 300"/>
                        </a:rPr>
                        <a:t>2,477,768</a:t>
                      </a:r>
                    </a:p>
                  </a:txBody>
                  <a:tcPr marL="68580" marR="68580" marT="34290" marB="34290"/>
                </a:tc>
                <a:extLst>
                  <a:ext uri="{0D108BD9-81ED-4DB2-BD59-A6C34878D82A}">
                    <a16:rowId xmlns:a16="http://schemas.microsoft.com/office/drawing/2014/main" val="821261329"/>
                  </a:ext>
                </a:extLst>
              </a:tr>
            </a:tbl>
          </a:graphicData>
        </a:graphic>
      </p:graphicFrame>
      <p:sp>
        <p:nvSpPr>
          <p:cNvPr id="277" name="Title 1">
            <a:extLst>
              <a:ext uri="{FF2B5EF4-FFF2-40B4-BE49-F238E27FC236}">
                <a16:creationId xmlns:a16="http://schemas.microsoft.com/office/drawing/2014/main" id="{15365EDD-C82F-4FB1-4A6F-DA0D1DB546D0}"/>
              </a:ext>
            </a:extLst>
          </p:cNvPr>
          <p:cNvSpPr>
            <a:spLocks noGrp="1"/>
          </p:cNvSpPr>
          <p:nvPr>
            <p:ph type="title"/>
          </p:nvPr>
        </p:nvSpPr>
        <p:spPr>
          <a:xfrm>
            <a:off x="378666" y="389799"/>
            <a:ext cx="8213244" cy="548117"/>
          </a:xfrm>
        </p:spPr>
        <p:txBody>
          <a:bodyPr/>
          <a:lstStyle/>
          <a:p>
            <a:r>
              <a:rPr lang="en-US">
                <a:solidFill>
                  <a:schemeClr val="tx2"/>
                </a:solidFill>
                <a:latin typeface="Museo Sans 900"/>
                <a:ea typeface="Verdana"/>
                <a:cs typeface="Arial"/>
              </a:rPr>
              <a:t>Details Budget Breakdown</a:t>
            </a:r>
            <a:endParaRPr lang="en-US" b="1">
              <a:solidFill>
                <a:schemeClr val="tx2"/>
              </a:solidFill>
              <a:latin typeface="Museo Sans 900"/>
              <a:ea typeface="Verdana"/>
              <a:cs typeface="Arial"/>
            </a:endParaRPr>
          </a:p>
        </p:txBody>
      </p:sp>
      <p:sp>
        <p:nvSpPr>
          <p:cNvPr id="8" name="BJPseudoFooter">
            <a:extLst>
              <a:ext uri="{FF2B5EF4-FFF2-40B4-BE49-F238E27FC236}">
                <a16:creationId xmlns:a16="http://schemas.microsoft.com/office/drawing/2014/main" id="{2CA4AA82-6743-B13F-2A44-B7BC2108A40E}"/>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1631976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C906F-1B4F-679A-FA09-C24FEA6560E9}"/>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1E51BFFC-AEF2-AEC8-54FD-39A4DA6B93E7}"/>
              </a:ext>
            </a:extLst>
          </p:cNvPr>
          <p:cNvGraphicFramePr>
            <a:graphicFrameLocks noGrp="1"/>
          </p:cNvGraphicFramePr>
          <p:nvPr>
            <p:extLst>
              <p:ext uri="{D42A27DB-BD31-4B8C-83A1-F6EECF244321}">
                <p14:modId xmlns:p14="http://schemas.microsoft.com/office/powerpoint/2010/main" val="4069873855"/>
              </p:ext>
            </p:extLst>
          </p:nvPr>
        </p:nvGraphicFramePr>
        <p:xfrm>
          <a:off x="468770" y="942439"/>
          <a:ext cx="8378642" cy="1572306"/>
        </p:xfrm>
        <a:graphic>
          <a:graphicData uri="http://schemas.openxmlformats.org/drawingml/2006/table">
            <a:tbl>
              <a:tblPr firstRow="1" bandRow="1">
                <a:tableStyleId>{5940675A-B579-460E-94D1-54222C63F5DA}</a:tableStyleId>
              </a:tblPr>
              <a:tblGrid>
                <a:gridCol w="2802682">
                  <a:extLst>
                    <a:ext uri="{9D8B030D-6E8A-4147-A177-3AD203B41FA5}">
                      <a16:colId xmlns:a16="http://schemas.microsoft.com/office/drawing/2014/main" val="20000"/>
                    </a:ext>
                  </a:extLst>
                </a:gridCol>
                <a:gridCol w="1469571">
                  <a:extLst>
                    <a:ext uri="{9D8B030D-6E8A-4147-A177-3AD203B41FA5}">
                      <a16:colId xmlns:a16="http://schemas.microsoft.com/office/drawing/2014/main" val="2900886020"/>
                    </a:ext>
                  </a:extLst>
                </a:gridCol>
                <a:gridCol w="1280618">
                  <a:extLst>
                    <a:ext uri="{9D8B030D-6E8A-4147-A177-3AD203B41FA5}">
                      <a16:colId xmlns:a16="http://schemas.microsoft.com/office/drawing/2014/main" val="20002"/>
                    </a:ext>
                  </a:extLst>
                </a:gridCol>
                <a:gridCol w="2825771">
                  <a:extLst>
                    <a:ext uri="{9D8B030D-6E8A-4147-A177-3AD203B41FA5}">
                      <a16:colId xmlns:a16="http://schemas.microsoft.com/office/drawing/2014/main" val="4162140628"/>
                    </a:ext>
                  </a:extLst>
                </a:gridCol>
              </a:tblGrid>
              <a:tr h="817926">
                <a:tc>
                  <a:txBody>
                    <a:bodyPr/>
                    <a:lstStyle/>
                    <a:p>
                      <a:pPr algn="ctr"/>
                      <a:r>
                        <a:rPr lang="en-GB" sz="1200" b="1" baseline="0">
                          <a:solidFill>
                            <a:schemeClr val="bg1"/>
                          </a:solidFill>
                          <a:latin typeface="Museo Sans 300"/>
                          <a:ea typeface="Verdana"/>
                          <a:cs typeface="Verdana" panose="020B0604030504040204" pitchFamily="34" charset="0"/>
                        </a:rPr>
                        <a:t>Tribe</a:t>
                      </a:r>
                      <a:endParaRPr lang="en-GB"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tc>
                  <a:txBody>
                    <a:bodyPr/>
                    <a:lstStyle/>
                    <a:p>
                      <a:pPr lvl="0" algn="ctr">
                        <a:buNone/>
                      </a:pPr>
                      <a:r>
                        <a:rPr lang="en-GB" sz="1200" b="1">
                          <a:solidFill>
                            <a:schemeClr val="bg1"/>
                          </a:solidFill>
                          <a:latin typeface="Museo Sans 300"/>
                          <a:ea typeface="Verdana"/>
                          <a:cs typeface="Verdana" panose="020B0604030504040204" pitchFamily="34" charset="0"/>
                        </a:rPr>
                        <a:t>Pax</a:t>
                      </a:r>
                    </a:p>
                  </a:txBody>
                  <a:tcPr marL="68580" marR="68580" marT="34290" marB="34290" anchor="ctr">
                    <a:solidFill>
                      <a:srgbClr val="00B1A9"/>
                    </a:solidFill>
                  </a:tcPr>
                </a:tc>
                <a:tc>
                  <a:txBody>
                    <a:bodyPr/>
                    <a:lstStyle/>
                    <a:p>
                      <a:pPr lvl="0" algn="ctr">
                        <a:buNone/>
                      </a:pPr>
                      <a:r>
                        <a:rPr lang="en-US" sz="1200" b="1" err="1">
                          <a:solidFill>
                            <a:schemeClr val="bg1"/>
                          </a:solidFill>
                          <a:latin typeface="Museo Sans 300"/>
                          <a:ea typeface="Verdana"/>
                        </a:rPr>
                        <a:t>Mandays</a:t>
                      </a:r>
                    </a:p>
                  </a:txBody>
                  <a:tcPr marL="68580" marR="68580" marT="34290" marB="34290" anchor="ctr">
                    <a:solidFill>
                      <a:srgbClr val="00B1A9"/>
                    </a:solidFill>
                  </a:tcPr>
                </a:tc>
                <a:tc>
                  <a:txBody>
                    <a:bodyPr/>
                    <a:lstStyle/>
                    <a:p>
                      <a:pPr lvl="0" algn="ctr">
                        <a:buNone/>
                      </a:pPr>
                      <a:r>
                        <a:rPr lang="en-US" sz="1200" b="1">
                          <a:solidFill>
                            <a:schemeClr val="bg1"/>
                          </a:solidFill>
                          <a:latin typeface="Museo Sans 300"/>
                          <a:ea typeface="Verdana"/>
                        </a:rPr>
                        <a:t>Amount (RM)</a:t>
                      </a:r>
                    </a:p>
                  </a:txBody>
                  <a:tcPr marL="68580" marR="68580" marT="34290" marB="34290" anchor="ctr">
                    <a:solidFill>
                      <a:srgbClr val="00B1A9"/>
                    </a:solidFill>
                  </a:tcPr>
                </a:tc>
                <a:extLst>
                  <a:ext uri="{0D108BD9-81ED-4DB2-BD59-A6C34878D82A}">
                    <a16:rowId xmlns:a16="http://schemas.microsoft.com/office/drawing/2014/main" val="10000"/>
                  </a:ext>
                </a:extLst>
              </a:tr>
              <a:tr h="250173">
                <a:tc>
                  <a:txBody>
                    <a:bodyPr/>
                    <a:lstStyle/>
                    <a:p>
                      <a:pPr algn="ctr"/>
                      <a:r>
                        <a:rPr lang="en-GB" sz="1100">
                          <a:latin typeface="Museo Sans 300"/>
                          <a:ea typeface="Verdana"/>
                          <a:cs typeface="Verdana" panose="020B0604030504040204" pitchFamily="34" charset="0"/>
                        </a:rPr>
                        <a:t>Manager</a:t>
                      </a:r>
                    </a:p>
                  </a:txBody>
                  <a:tcPr marL="68580" marR="68580" marT="34290" marB="34290"/>
                </a:tc>
                <a:tc>
                  <a:txBody>
                    <a:bodyPr/>
                    <a:lstStyle/>
                    <a:p>
                      <a:pPr lvl="0" algn="ctr">
                        <a:buNone/>
                      </a:pPr>
                      <a:r>
                        <a:rPr lang="en-GB" sz="1200" kern="1200">
                          <a:solidFill>
                            <a:schemeClr val="tx1"/>
                          </a:solidFill>
                          <a:latin typeface="Museo Sans 300"/>
                          <a:ea typeface="Verdana"/>
                          <a:cs typeface="+mn-cs"/>
                        </a:rPr>
                        <a:t>9</a:t>
                      </a:r>
                    </a:p>
                  </a:txBody>
                  <a:tcPr marL="68580" marR="68580" marT="34290" marB="34290"/>
                </a:tc>
                <a:tc>
                  <a:txBody>
                    <a:bodyPr/>
                    <a:lstStyle/>
                    <a:p>
                      <a:pPr algn="ctr"/>
                      <a:r>
                        <a:rPr lang="en-GB" sz="1200" kern="1200">
                          <a:solidFill>
                            <a:schemeClr val="tx1"/>
                          </a:solidFill>
                          <a:latin typeface="Museo Sans 300"/>
                          <a:ea typeface="Verdana"/>
                          <a:cs typeface="+mn-cs"/>
                        </a:rPr>
                        <a:t>264</a:t>
                      </a:r>
                    </a:p>
                  </a:txBody>
                  <a:tcPr marL="68580" marR="68580" marT="34290" marB="34290"/>
                </a:tc>
                <a:tc>
                  <a:txBody>
                    <a:bodyPr/>
                    <a:lstStyle/>
                    <a:p>
                      <a:pPr lvl="0" algn="ctr">
                        <a:buNone/>
                      </a:pPr>
                      <a:r>
                        <a:rPr lang="en-GB" sz="1200" kern="1200">
                          <a:solidFill>
                            <a:schemeClr val="tx1"/>
                          </a:solidFill>
                          <a:latin typeface="Museo Sans 300"/>
                          <a:ea typeface="Verdana"/>
                          <a:cs typeface="+mn-cs"/>
                        </a:rPr>
                        <a:t>1,007,786</a:t>
                      </a:r>
                    </a:p>
                  </a:txBody>
                  <a:tcPr marL="68580" marR="68580" marT="34290" marB="34290"/>
                </a:tc>
                <a:extLst>
                  <a:ext uri="{0D108BD9-81ED-4DB2-BD59-A6C34878D82A}">
                    <a16:rowId xmlns:a16="http://schemas.microsoft.com/office/drawing/2014/main" val="10001"/>
                  </a:ext>
                </a:extLst>
              </a:tr>
              <a:tr h="250173">
                <a:tc>
                  <a:txBody>
                    <a:bodyPr/>
                    <a:lstStyle/>
                    <a:p>
                      <a:pPr lvl="0" algn="ctr">
                        <a:buNone/>
                      </a:pPr>
                      <a:r>
                        <a:rPr lang="en-GB" sz="1100">
                          <a:latin typeface="Museo Sans 300"/>
                          <a:ea typeface="Verdana"/>
                          <a:cs typeface="Verdana" panose="020B0604030504040204" pitchFamily="34" charset="0"/>
                        </a:rPr>
                        <a:t>Executive</a:t>
                      </a:r>
                    </a:p>
                  </a:txBody>
                  <a:tcPr marL="68580" marR="68580" marT="34290" marB="34290"/>
                </a:tc>
                <a:tc>
                  <a:txBody>
                    <a:bodyPr/>
                    <a:lstStyle/>
                    <a:p>
                      <a:pPr lvl="0" algn="ctr">
                        <a:buNone/>
                      </a:pPr>
                      <a:r>
                        <a:rPr lang="en-GB" sz="1200" kern="1200">
                          <a:solidFill>
                            <a:schemeClr val="tx1"/>
                          </a:solidFill>
                          <a:latin typeface="Museo Sans 300"/>
                          <a:ea typeface="Verdana"/>
                          <a:cs typeface="+mn-cs"/>
                        </a:rPr>
                        <a:t>17</a:t>
                      </a:r>
                    </a:p>
                  </a:txBody>
                  <a:tcPr marL="68580" marR="68580" marT="34290" marB="34290"/>
                </a:tc>
                <a:tc>
                  <a:txBody>
                    <a:bodyPr/>
                    <a:lstStyle/>
                    <a:p>
                      <a:pPr lvl="0" algn="ctr">
                        <a:buNone/>
                      </a:pPr>
                      <a:r>
                        <a:rPr lang="en-GB" sz="1200" kern="1200">
                          <a:solidFill>
                            <a:schemeClr val="tx1"/>
                          </a:solidFill>
                          <a:latin typeface="Museo Sans 300"/>
                          <a:ea typeface="Verdana"/>
                          <a:cs typeface="+mn-cs"/>
                        </a:rPr>
                        <a:t>264</a:t>
                      </a:r>
                    </a:p>
                  </a:txBody>
                  <a:tcPr marL="68580" marR="68580" marT="34290" marB="34290"/>
                </a:tc>
                <a:tc>
                  <a:txBody>
                    <a:bodyPr/>
                    <a:lstStyle/>
                    <a:p>
                      <a:pPr lvl="0" algn="ctr">
                        <a:buNone/>
                      </a:pPr>
                      <a:r>
                        <a:rPr lang="en-GB" sz="1200" kern="1200">
                          <a:solidFill>
                            <a:schemeClr val="tx1"/>
                          </a:solidFill>
                          <a:latin typeface="Museo Sans 300"/>
                          <a:ea typeface="Verdana"/>
                          <a:cs typeface="+mn-cs"/>
                        </a:rPr>
                        <a:t>1,469,982</a:t>
                      </a:r>
                    </a:p>
                  </a:txBody>
                  <a:tcPr marL="68580" marR="68580" marT="34290" marB="34290"/>
                </a:tc>
                <a:extLst>
                  <a:ext uri="{0D108BD9-81ED-4DB2-BD59-A6C34878D82A}">
                    <a16:rowId xmlns:a16="http://schemas.microsoft.com/office/drawing/2014/main" val="3341086535"/>
                  </a:ext>
                </a:extLst>
              </a:tr>
              <a:tr h="250173">
                <a:tc>
                  <a:txBody>
                    <a:bodyPr/>
                    <a:lstStyle/>
                    <a:p>
                      <a:pPr lvl="0" algn="r">
                        <a:lnSpc>
                          <a:spcPct val="100000"/>
                        </a:lnSpc>
                        <a:spcBef>
                          <a:spcPts val="0"/>
                        </a:spcBef>
                        <a:spcAft>
                          <a:spcPts val="0"/>
                        </a:spcAft>
                        <a:buNone/>
                      </a:pPr>
                      <a:r>
                        <a:rPr lang="en-GB" sz="1100" b="1" i="0" u="none" strike="noStrike" noProof="0">
                          <a:solidFill>
                            <a:srgbClr val="000000"/>
                          </a:solidFill>
                          <a:latin typeface="Museo Sans 300"/>
                        </a:rPr>
                        <a:t>Total</a:t>
                      </a:r>
                      <a:endParaRPr lang="en-GB" sz="1100" b="0" i="0" u="none" strike="noStrike" noProof="0">
                        <a:solidFill>
                          <a:srgbClr val="000000"/>
                        </a:solidFill>
                        <a:latin typeface="Museo Sans 300"/>
                      </a:endParaRPr>
                    </a:p>
                  </a:txBody>
                  <a:tcPr marL="68580" marR="68580" marT="34290" marB="34290">
                    <a:solidFill>
                      <a:schemeClr val="bg2">
                        <a:lumMod val="90000"/>
                      </a:schemeClr>
                    </a:solidFill>
                  </a:tcPr>
                </a:tc>
                <a:tc>
                  <a:txBody>
                    <a:bodyPr/>
                    <a:lstStyle/>
                    <a:p>
                      <a:pPr lvl="0" algn="ctr">
                        <a:buNone/>
                      </a:pPr>
                      <a:r>
                        <a:rPr lang="en-GB" sz="1200" kern="1200">
                          <a:solidFill>
                            <a:schemeClr val="tx1"/>
                          </a:solidFill>
                          <a:latin typeface="Museo Sans 300"/>
                          <a:ea typeface="Verdana"/>
                          <a:cs typeface="+mn-cs"/>
                        </a:rPr>
                        <a:t>26</a:t>
                      </a:r>
                    </a:p>
                  </a:txBody>
                  <a:tcPr marL="68580" marR="68580" marT="34290" marB="34290"/>
                </a:tc>
                <a:tc>
                  <a:txBody>
                    <a:bodyPr/>
                    <a:lstStyle/>
                    <a:p>
                      <a:pPr lvl="0" algn="ctr">
                        <a:buNone/>
                      </a:pPr>
                      <a:endParaRPr lang="en-GB" sz="1200" kern="1200">
                        <a:solidFill>
                          <a:schemeClr val="tx1"/>
                        </a:solidFill>
                        <a:latin typeface="Museo Sans 300"/>
                        <a:ea typeface="Verdana"/>
                        <a:cs typeface="+mn-cs"/>
                      </a:endParaRPr>
                    </a:p>
                  </a:txBody>
                  <a:tcPr marL="68580" marR="68580" marT="34290" marB="34290">
                    <a:solidFill>
                      <a:schemeClr val="bg2">
                        <a:lumMod val="90000"/>
                      </a:schemeClr>
                    </a:solidFill>
                  </a:tcPr>
                </a:tc>
                <a:tc>
                  <a:txBody>
                    <a:bodyPr/>
                    <a:lstStyle/>
                    <a:p>
                      <a:pPr lvl="0" algn="ctr">
                        <a:buNone/>
                      </a:pPr>
                      <a:r>
                        <a:rPr lang="en-GB" sz="1200" kern="1200">
                          <a:solidFill>
                            <a:schemeClr val="tx1"/>
                          </a:solidFill>
                          <a:latin typeface="Museo Sans 300"/>
                          <a:ea typeface="Verdana"/>
                          <a:cs typeface="+mn-cs"/>
                        </a:rPr>
                        <a:t>2,477,768</a:t>
                      </a:r>
                    </a:p>
                  </a:txBody>
                  <a:tcPr marL="68580" marR="68580" marT="34290" marB="34290"/>
                </a:tc>
                <a:extLst>
                  <a:ext uri="{0D108BD9-81ED-4DB2-BD59-A6C34878D82A}">
                    <a16:rowId xmlns:a16="http://schemas.microsoft.com/office/drawing/2014/main" val="821261329"/>
                  </a:ext>
                </a:extLst>
              </a:tr>
            </a:tbl>
          </a:graphicData>
        </a:graphic>
      </p:graphicFrame>
      <p:sp>
        <p:nvSpPr>
          <p:cNvPr id="277" name="Title 1">
            <a:extLst>
              <a:ext uri="{FF2B5EF4-FFF2-40B4-BE49-F238E27FC236}">
                <a16:creationId xmlns:a16="http://schemas.microsoft.com/office/drawing/2014/main" id="{D2B083ED-5EBC-F4C2-DF2A-EF09D6241738}"/>
              </a:ext>
            </a:extLst>
          </p:cNvPr>
          <p:cNvSpPr>
            <a:spLocks noGrp="1"/>
          </p:cNvSpPr>
          <p:nvPr>
            <p:ph type="title"/>
          </p:nvPr>
        </p:nvSpPr>
        <p:spPr>
          <a:xfrm>
            <a:off x="378666" y="389799"/>
            <a:ext cx="8213244" cy="548117"/>
          </a:xfrm>
        </p:spPr>
        <p:txBody>
          <a:bodyPr/>
          <a:lstStyle/>
          <a:p>
            <a:r>
              <a:rPr lang="en-US">
                <a:solidFill>
                  <a:schemeClr val="tx2"/>
                </a:solidFill>
                <a:latin typeface="Museo Sans 900"/>
                <a:ea typeface="Verdana"/>
                <a:cs typeface="Arial"/>
              </a:rPr>
              <a:t>Details Budget Breakdown</a:t>
            </a:r>
            <a:endParaRPr lang="en-US" b="1">
              <a:solidFill>
                <a:schemeClr val="tx2"/>
              </a:solidFill>
              <a:latin typeface="Museo Sans 900"/>
              <a:ea typeface="Verdana"/>
              <a:cs typeface="Arial"/>
            </a:endParaRPr>
          </a:p>
        </p:txBody>
      </p:sp>
      <p:sp>
        <p:nvSpPr>
          <p:cNvPr id="8" name="BJPseudoFooter">
            <a:extLst>
              <a:ext uri="{FF2B5EF4-FFF2-40B4-BE49-F238E27FC236}">
                <a16:creationId xmlns:a16="http://schemas.microsoft.com/office/drawing/2014/main" id="{09CCECD9-F79F-5F47-6EFF-ADAA427F951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4091062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75263" y="6383510"/>
            <a:ext cx="9651789" cy="474490"/>
            <a:chOff x="-381000" y="5996747"/>
            <a:chExt cx="12869052" cy="632653"/>
          </a:xfrm>
        </p:grpSpPr>
        <p:sp>
          <p:nvSpPr>
            <p:cNvPr id="6" name="Rectangle 5"/>
            <p:cNvSpPr/>
            <p:nvPr/>
          </p:nvSpPr>
          <p:spPr>
            <a:xfrm>
              <a:off x="-381000" y="5996747"/>
              <a:ext cx="12869052" cy="632653"/>
            </a:xfrm>
            <a:prstGeom prst="rect">
              <a:avLst/>
            </a:prstGeom>
            <a:solidFill>
              <a:schemeClr val="bg1">
                <a:lumMod val="8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3350"/>
              <a:endParaRPr lang="en-US" sz="525" b="1">
                <a:solidFill>
                  <a:srgbClr val="333333"/>
                </a:solidFill>
                <a:latin typeface="Museo Sans 300" panose="02000000000000000000" pitchFamily="50" charset="0"/>
                <a:ea typeface="Verdana" panose="020B0604030504040204" pitchFamily="34" charset="0"/>
                <a:cs typeface="Verdana" panose="020B0604030504040204" pitchFamily="34" charset="0"/>
              </a:endParaRPr>
            </a:p>
          </p:txBody>
        </p:sp>
        <p:sp>
          <p:nvSpPr>
            <p:cNvPr id="7" name="Rectangle 6"/>
            <p:cNvSpPr/>
            <p:nvPr/>
          </p:nvSpPr>
          <p:spPr>
            <a:xfrm>
              <a:off x="1195380" y="5996747"/>
              <a:ext cx="10387019" cy="632653"/>
            </a:xfrm>
            <a:prstGeom prst="rect">
              <a:avLst/>
            </a:prstGeom>
          </p:spPr>
          <p:txBody>
            <a:bodyPr wrap="square" anchor="ctr">
              <a:noAutofit/>
            </a:bodyPr>
            <a:lstStyle/>
            <a:p>
              <a:pPr fontAlgn="ctr">
                <a:defRPr/>
              </a:pPr>
              <a:r>
                <a:rPr lang="en-US" sz="900">
                  <a:solidFill>
                    <a:srgbClr val="0000FF"/>
                  </a:solidFill>
                  <a:latin typeface="Museo Sans 300" panose="02000000000000000000" pitchFamily="50" charset="0"/>
                  <a:ea typeface="Verdana" panose="020B0604030504040204" pitchFamily="34" charset="0"/>
                  <a:cs typeface="Verdana" panose="020B0604030504040204" pitchFamily="34" charset="0"/>
                </a:rPr>
                <a:t>[This slide Not to be removed.]</a:t>
              </a:r>
            </a:p>
          </p:txBody>
        </p:sp>
        <p:sp>
          <p:nvSpPr>
            <p:cNvPr id="77" name="Rectangular Callout 76"/>
            <p:cNvSpPr/>
            <p:nvPr/>
          </p:nvSpPr>
          <p:spPr>
            <a:xfrm>
              <a:off x="-11353" y="5996747"/>
              <a:ext cx="1206734" cy="630161"/>
            </a:xfrm>
            <a:prstGeom prst="wedgeRectCallout">
              <a:avLst>
                <a:gd name="adj1" fmla="val 59622"/>
                <a:gd name="adj2" fmla="val 23093"/>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333333"/>
                </a:buClr>
                <a:buSzPct val="100000"/>
                <a:buFont typeface="Wingdings" pitchFamily="2" charset="2"/>
                <a:buNone/>
                <a:defRPr/>
              </a:pPr>
              <a:r>
                <a:rPr lang="en-US" sz="825" kern="0">
                  <a:solidFill>
                    <a:srgbClr val="FFFFFF"/>
                  </a:solidFill>
                  <a:latin typeface="Museo Sans 300" panose="02000000000000000000" pitchFamily="50" charset="0"/>
                  <a:ea typeface="Verdana" panose="020B0604030504040204" pitchFamily="34" charset="0"/>
                  <a:cs typeface="Verdana" panose="020B0604030504040204" pitchFamily="34" charset="0"/>
                </a:rPr>
                <a:t>Guideline Only. Please delete after use</a:t>
              </a:r>
            </a:p>
          </p:txBody>
        </p:sp>
      </p:grpSp>
      <p:graphicFrame>
        <p:nvGraphicFramePr>
          <p:cNvPr id="16" name="Table 15"/>
          <p:cNvGraphicFramePr>
            <a:graphicFrameLocks noGrp="1"/>
          </p:cNvGraphicFramePr>
          <p:nvPr>
            <p:extLst>
              <p:ext uri="{D42A27DB-BD31-4B8C-83A1-F6EECF244321}">
                <p14:modId xmlns:p14="http://schemas.microsoft.com/office/powerpoint/2010/main" val="3766665492"/>
              </p:ext>
            </p:extLst>
          </p:nvPr>
        </p:nvGraphicFramePr>
        <p:xfrm>
          <a:off x="514348" y="1092661"/>
          <a:ext cx="8374471" cy="3575037"/>
        </p:xfrm>
        <a:graphic>
          <a:graphicData uri="http://schemas.openxmlformats.org/drawingml/2006/table">
            <a:tbl>
              <a:tblPr firstRow="1" bandRow="1">
                <a:tableStyleId>{5940675A-B579-460E-94D1-54222C63F5DA}</a:tableStyleId>
              </a:tblPr>
              <a:tblGrid>
                <a:gridCol w="2452354">
                  <a:extLst>
                    <a:ext uri="{9D8B030D-6E8A-4147-A177-3AD203B41FA5}">
                      <a16:colId xmlns:a16="http://schemas.microsoft.com/office/drawing/2014/main" val="20000"/>
                    </a:ext>
                  </a:extLst>
                </a:gridCol>
                <a:gridCol w="5922117">
                  <a:extLst>
                    <a:ext uri="{9D8B030D-6E8A-4147-A177-3AD203B41FA5}">
                      <a16:colId xmlns:a16="http://schemas.microsoft.com/office/drawing/2014/main" val="20001"/>
                    </a:ext>
                  </a:extLst>
                </a:gridCol>
              </a:tblGrid>
              <a:tr h="403452">
                <a:tc>
                  <a:txBody>
                    <a:bodyPr/>
                    <a:lstStyle/>
                    <a:p>
                      <a:pPr algn="ctr"/>
                      <a:endParaRPr lang="en-US" sz="1200" b="1">
                        <a:solidFill>
                          <a:schemeClr val="bg1"/>
                        </a:solidFill>
                        <a:latin typeface="Museo Sans 300" panose="02000000000000000000" pitchFamily="50" charset="0"/>
                        <a:ea typeface="Verdana" panose="020B0604030504040204" pitchFamily="34" charset="0"/>
                        <a:cs typeface="Verdana" panose="020B0604030504040204" pitchFamily="34" charset="0"/>
                      </a:endParaRPr>
                    </a:p>
                  </a:txBody>
                  <a:tcPr marL="68580" marR="68580" marT="34290" marB="34290" anchor="ctr">
                    <a:solidFill>
                      <a:srgbClr val="00B1A9"/>
                    </a:solidFill>
                  </a:tcPr>
                </a:tc>
                <a:tc>
                  <a:txBody>
                    <a:bodyPr/>
                    <a:lstStyle/>
                    <a:p>
                      <a:pPr algn="ctr"/>
                      <a:r>
                        <a:rPr lang="en-US" sz="1200" b="1">
                          <a:solidFill>
                            <a:schemeClr val="bg1"/>
                          </a:solidFill>
                          <a:latin typeface="Museo Sans 300"/>
                          <a:ea typeface="Verdana"/>
                          <a:cs typeface="Verdana" panose="020B0604030504040204" pitchFamily="34" charset="0"/>
                        </a:rPr>
                        <a:t>Direct</a:t>
                      </a:r>
                      <a:r>
                        <a:rPr lang="en-US" sz="1200" b="1" baseline="0">
                          <a:solidFill>
                            <a:schemeClr val="bg1"/>
                          </a:solidFill>
                          <a:latin typeface="Museo Sans 300"/>
                          <a:ea typeface="Verdana"/>
                          <a:cs typeface="Verdana" panose="020B0604030504040204" pitchFamily="34" charset="0"/>
                        </a:rPr>
                        <a:t> Billing / Business Specific Charges</a:t>
                      </a:r>
                      <a:endParaRPr lang="en-US" sz="1200" b="1">
                        <a:solidFill>
                          <a:schemeClr val="bg1"/>
                        </a:solidFill>
                        <a:latin typeface="Museo Sans 300"/>
                        <a:ea typeface="Verdana"/>
                        <a:cs typeface="Verdana" panose="020B0604030504040204" pitchFamily="34" charset="0"/>
                      </a:endParaRPr>
                    </a:p>
                  </a:txBody>
                  <a:tcPr marL="68580" marR="68580" marT="34290" marB="34290" anchor="ctr">
                    <a:solidFill>
                      <a:srgbClr val="00B1A9"/>
                    </a:solidFill>
                  </a:tcPr>
                </a:tc>
                <a:extLst>
                  <a:ext uri="{0D108BD9-81ED-4DB2-BD59-A6C34878D82A}">
                    <a16:rowId xmlns:a16="http://schemas.microsoft.com/office/drawing/2014/main" val="10000"/>
                  </a:ext>
                </a:extLst>
              </a:tr>
              <a:tr h="1110384">
                <a:tc>
                  <a:txBody>
                    <a:bodyPr/>
                    <a:lstStyle/>
                    <a:p>
                      <a:pPr>
                        <a:spcBef>
                          <a:spcPts val="600"/>
                        </a:spcBef>
                        <a:spcAft>
                          <a:spcPts val="600"/>
                        </a:spcAft>
                      </a:pPr>
                      <a:r>
                        <a:rPr lang="en-US" sz="1200" b="1">
                          <a:latin typeface="Museo Sans 300"/>
                          <a:ea typeface="Verdana"/>
                          <a:cs typeface="Verdana" panose="020B0604030504040204" pitchFamily="34" charset="0"/>
                        </a:rPr>
                        <a:t>Billing Approach</a:t>
                      </a:r>
                    </a:p>
                  </a:txBody>
                  <a:tcPr marL="68580" marR="68580" marT="34290" marB="34290" anchor="ctr"/>
                </a:tc>
                <a:tc>
                  <a:txBody>
                    <a:bodyPr/>
                    <a:lstStyle/>
                    <a:p>
                      <a:pPr marL="285750" indent="-285750" algn="l">
                        <a:lnSpc>
                          <a:spcPct val="100000"/>
                        </a:lnSpc>
                        <a:spcBef>
                          <a:spcPts val="0"/>
                        </a:spcBef>
                        <a:spcAft>
                          <a:spcPts val="600"/>
                        </a:spcAft>
                        <a:buFont typeface="Arial" panose="020B0604020202020204" pitchFamily="34" charset="0"/>
                        <a:buChar char="•"/>
                      </a:pPr>
                      <a:r>
                        <a:rPr lang="en-US" sz="1200">
                          <a:latin typeface="Museo Sans 300"/>
                          <a:ea typeface="Verdana"/>
                          <a:cs typeface="Verdana" panose="020B0604030504040204" pitchFamily="34" charset="0"/>
                        </a:rPr>
                        <a:t>Invoiced by PETRONAS Digital to Business:</a:t>
                      </a:r>
                    </a:p>
                    <a:p>
                      <a:pPr marL="857250" lvl="1" indent="-400050">
                        <a:lnSpc>
                          <a:spcPct val="100000"/>
                        </a:lnSpc>
                        <a:spcBef>
                          <a:spcPts val="0"/>
                        </a:spcBef>
                        <a:spcAft>
                          <a:spcPts val="600"/>
                        </a:spcAft>
                        <a:buFont typeface="+mj-lt"/>
                        <a:buAutoNum type="romanLcPeriod"/>
                      </a:pPr>
                      <a:r>
                        <a:rPr lang="en-US" sz="1200">
                          <a:latin typeface="Museo Sans 300"/>
                          <a:ea typeface="Verdana"/>
                          <a:cs typeface="Verdana" panose="020B0604030504040204" pitchFamily="34" charset="0"/>
                        </a:rPr>
                        <a:t>Monthly</a:t>
                      </a:r>
                      <a:r>
                        <a:rPr lang="en-US" sz="1200" baseline="0">
                          <a:latin typeface="Museo Sans 300"/>
                          <a:ea typeface="Verdana"/>
                          <a:cs typeface="Verdana" panose="020B0604030504040204" pitchFamily="34" charset="0"/>
                        </a:rPr>
                        <a:t> </a:t>
                      </a:r>
                      <a:r>
                        <a:rPr lang="en-US" sz="1200">
                          <a:latin typeface="Museo Sans 300"/>
                          <a:ea typeface="Verdana"/>
                          <a:cs typeface="Verdana" panose="020B0604030504040204" pitchFamily="34" charset="0"/>
                        </a:rPr>
                        <a:t>for time &amp; material basis.</a:t>
                      </a:r>
                    </a:p>
                    <a:p>
                      <a:pPr marL="857250" lvl="1" indent="-400050">
                        <a:lnSpc>
                          <a:spcPct val="100000"/>
                        </a:lnSpc>
                        <a:spcBef>
                          <a:spcPts val="0"/>
                        </a:spcBef>
                        <a:spcAft>
                          <a:spcPts val="600"/>
                        </a:spcAft>
                        <a:buFont typeface="+mj-lt"/>
                        <a:buAutoNum type="romanLcPeriod"/>
                      </a:pPr>
                      <a:r>
                        <a:rPr lang="en-US" sz="1200">
                          <a:latin typeface="Museo Sans 300"/>
                          <a:ea typeface="Verdana"/>
                          <a:cs typeface="Verdana" panose="020B0604030504040204" pitchFamily="34" charset="0"/>
                        </a:rPr>
                        <a:t>Billing Schedule for fixed price basis.</a:t>
                      </a:r>
                    </a:p>
                  </a:txBody>
                  <a:tcPr marL="68580" marR="68580" marT="34290" marB="34290" anchor="ctr"/>
                </a:tc>
                <a:extLst>
                  <a:ext uri="{0D108BD9-81ED-4DB2-BD59-A6C34878D82A}">
                    <a16:rowId xmlns:a16="http://schemas.microsoft.com/office/drawing/2014/main" val="10001"/>
                  </a:ext>
                </a:extLst>
              </a:tr>
              <a:tr h="832155">
                <a:tc>
                  <a:txBody>
                    <a:bodyPr/>
                    <a:lstStyle/>
                    <a:p>
                      <a:pPr>
                        <a:spcBef>
                          <a:spcPts val="600"/>
                        </a:spcBef>
                        <a:spcAft>
                          <a:spcPts val="600"/>
                        </a:spcAft>
                      </a:pPr>
                      <a:r>
                        <a:rPr lang="en-US" sz="1200" b="1">
                          <a:latin typeface="Museo Sans 300"/>
                          <a:ea typeface="Verdana"/>
                          <a:cs typeface="Verdana" panose="020B0604030504040204" pitchFamily="34" charset="0"/>
                        </a:rPr>
                        <a:t>Payment</a:t>
                      </a:r>
                    </a:p>
                  </a:txBody>
                  <a:tcPr marL="68580" marR="68580" marT="34290" marB="34290" anchor="ctr"/>
                </a:tc>
                <a:tc>
                  <a:txBody>
                    <a:bodyPr/>
                    <a:lstStyle/>
                    <a:p>
                      <a:pPr marL="285750" indent="-285750">
                        <a:spcBef>
                          <a:spcPts val="600"/>
                        </a:spcBef>
                        <a:spcAft>
                          <a:spcPts val="600"/>
                        </a:spcAft>
                        <a:buFont typeface="Arial" panose="020B0604020202020204" pitchFamily="34" charset="0"/>
                        <a:buChar char="•"/>
                      </a:pPr>
                      <a:r>
                        <a:rPr lang="en-US" sz="1200">
                          <a:latin typeface="Museo Sans 300"/>
                          <a:ea typeface="Verdana"/>
                          <a:cs typeface="Verdana" panose="020B0604030504040204" pitchFamily="34" charset="0"/>
                        </a:rPr>
                        <a:t>Paid by Business to PETRONAS Digital.</a:t>
                      </a:r>
                    </a:p>
                  </a:txBody>
                  <a:tcPr marL="68580" marR="68580" marT="34290" marB="34290" anchor="ctr"/>
                </a:tc>
                <a:extLst>
                  <a:ext uri="{0D108BD9-81ED-4DB2-BD59-A6C34878D82A}">
                    <a16:rowId xmlns:a16="http://schemas.microsoft.com/office/drawing/2014/main" val="10002"/>
                  </a:ext>
                </a:extLst>
              </a:tr>
              <a:tr h="1229046">
                <a:tc>
                  <a:txBody>
                    <a:bodyPr/>
                    <a:lstStyle/>
                    <a:p>
                      <a:pPr>
                        <a:spcBef>
                          <a:spcPts val="600"/>
                        </a:spcBef>
                        <a:spcAft>
                          <a:spcPts val="600"/>
                        </a:spcAft>
                      </a:pPr>
                      <a:r>
                        <a:rPr lang="en-US" sz="1200" b="1">
                          <a:latin typeface="Museo Sans 300"/>
                          <a:ea typeface="Verdana"/>
                          <a:cs typeface="Verdana" panose="020B0604030504040204" pitchFamily="34" charset="0"/>
                        </a:rPr>
                        <a:t>Estimated Billing Commencement</a:t>
                      </a:r>
                    </a:p>
                  </a:txBody>
                  <a:tcPr marL="68580" marR="68580" marT="34290" marB="34290" anchor="ctr"/>
                </a:tc>
                <a:tc>
                  <a:txBody>
                    <a:bodyPr/>
                    <a:lstStyle/>
                    <a:p>
                      <a:pPr marL="285750" indent="-285750">
                        <a:lnSpc>
                          <a:spcPct val="100000"/>
                        </a:lnSpc>
                        <a:spcBef>
                          <a:spcPts val="0"/>
                        </a:spcBef>
                        <a:spcAft>
                          <a:spcPts val="600"/>
                        </a:spcAft>
                        <a:buFont typeface="Arial" panose="020B0604020202020204" pitchFamily="34" charset="0"/>
                        <a:buChar char="•"/>
                      </a:pPr>
                      <a:r>
                        <a:rPr lang="en-US" sz="1200">
                          <a:latin typeface="Museo Sans 300"/>
                          <a:ea typeface="Verdana"/>
                          <a:cs typeface="Verdana" panose="020B0604030504040204" pitchFamily="34" charset="0"/>
                        </a:rPr>
                        <a:t>One month upon signing of SP and commencement of work on</a:t>
                      </a:r>
                      <a:r>
                        <a:rPr lang="en-US" sz="1200" baseline="0">
                          <a:latin typeface="Museo Sans 300"/>
                          <a:ea typeface="Verdana"/>
                          <a:cs typeface="Verdana" panose="020B0604030504040204" pitchFamily="34" charset="0"/>
                        </a:rPr>
                        <a:t> time &amp; material basis.</a:t>
                      </a:r>
                    </a:p>
                    <a:p>
                      <a:pPr marL="285750" indent="-285750">
                        <a:lnSpc>
                          <a:spcPct val="100000"/>
                        </a:lnSpc>
                        <a:spcBef>
                          <a:spcPts val="0"/>
                        </a:spcBef>
                        <a:spcAft>
                          <a:spcPts val="600"/>
                        </a:spcAft>
                        <a:buFont typeface="Arial" panose="020B0604020202020204" pitchFamily="34" charset="0"/>
                        <a:buChar char="•"/>
                      </a:pPr>
                      <a:r>
                        <a:rPr lang="en-US" sz="1200" baseline="0">
                          <a:latin typeface="Museo Sans 300"/>
                          <a:ea typeface="Verdana"/>
                          <a:cs typeface="Verdana" panose="020B0604030504040204" pitchFamily="34" charset="0"/>
                        </a:rPr>
                        <a:t>Upon first Billing Schedule signoff for fixed price basis.</a:t>
                      </a:r>
                      <a:endParaRPr lang="en-US" sz="1200">
                        <a:latin typeface="Museo Sans 300"/>
                        <a:ea typeface="Verdana"/>
                        <a:cs typeface="Verdana" panose="020B0604030504040204" pitchFamily="34" charset="0"/>
                      </a:endParaRPr>
                    </a:p>
                  </a:txBody>
                  <a:tcPr marL="68580" marR="68580" marT="34290" marB="34290" anchor="ctr"/>
                </a:tc>
                <a:extLst>
                  <a:ext uri="{0D108BD9-81ED-4DB2-BD59-A6C34878D82A}">
                    <a16:rowId xmlns:a16="http://schemas.microsoft.com/office/drawing/2014/main" val="10003"/>
                  </a:ext>
                </a:extLst>
              </a:tr>
            </a:tbl>
          </a:graphicData>
        </a:graphic>
      </p:graphicFrame>
      <p:sp>
        <p:nvSpPr>
          <p:cNvPr id="276" name="Title 1"/>
          <p:cNvSpPr>
            <a:spLocks noGrp="1"/>
          </p:cNvSpPr>
          <p:nvPr>
            <p:ph type="title"/>
          </p:nvPr>
        </p:nvSpPr>
        <p:spPr>
          <a:xfrm>
            <a:off x="464982" y="392206"/>
            <a:ext cx="8213244" cy="548117"/>
          </a:xfrm>
        </p:spPr>
        <p:txBody>
          <a:bodyPr/>
          <a:lstStyle/>
          <a:p>
            <a:r>
              <a:rPr lang="en-US" b="1">
                <a:latin typeface="Museo Sans 900" panose="02000000000000000000" pitchFamily="50" charset="0"/>
                <a:ea typeface="Verdana" panose="020B0604030504040204" pitchFamily="34" charset="0"/>
                <a:cs typeface="Verdana" panose="020B0604030504040204" pitchFamily="34" charset="0"/>
              </a:rPr>
              <a:t>Billing Information</a:t>
            </a:r>
          </a:p>
        </p:txBody>
      </p:sp>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6525185" y="0"/>
            <a:ext cx="2578418" cy="666750"/>
          </a:xfrm>
          <a:prstGeom prst="rect">
            <a:avLst/>
          </a:prstGeom>
          <a:noFill/>
        </p:spPr>
      </p:pic>
      <p:sp>
        <p:nvSpPr>
          <p:cNvPr id="2" name="BJPseudoFooter">
            <a:extLst>
              <a:ext uri="{FF2B5EF4-FFF2-40B4-BE49-F238E27FC236}">
                <a16:creationId xmlns:a16="http://schemas.microsoft.com/office/drawing/2014/main" id="{9F6B5DEA-DDA6-45DC-8668-06E7239C1D6C}"/>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3182817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9BC6-F0B0-6243-B305-C7A784A2DD1F}"/>
              </a:ext>
            </a:extLst>
          </p:cNvPr>
          <p:cNvSpPr>
            <a:spLocks noGrp="1"/>
          </p:cNvSpPr>
          <p:nvPr>
            <p:ph type="ctrTitle"/>
          </p:nvPr>
        </p:nvSpPr>
        <p:spPr/>
        <p:txBody>
          <a:bodyPr/>
          <a:lstStyle/>
          <a:p>
            <a:r>
              <a:rPr lang="en-US">
                <a:latin typeface="Museo Sans 300" panose="02000000000000000000" pitchFamily="50" charset="0"/>
              </a:rPr>
              <a:t>Thank you for your passion!</a:t>
            </a:r>
          </a:p>
        </p:txBody>
      </p:sp>
      <p:sp>
        <p:nvSpPr>
          <p:cNvPr id="4" name="BJPseudoFooter">
            <a:extLst>
              <a:ext uri="{FF2B5EF4-FFF2-40B4-BE49-F238E27FC236}">
                <a16:creationId xmlns:a16="http://schemas.microsoft.com/office/drawing/2014/main" id="{8B6AC1B9-8801-42D8-909C-BF60575F2C80}"/>
              </a:ext>
            </a:extLst>
          </p:cNvPr>
          <p:cNvSpPr txBox="1"/>
          <p:nvPr>
            <p:custDataLst>
              <p:tags r:id="rId1"/>
            </p:custDataLst>
          </p:nvPr>
        </p:nvSpPr>
        <p:spPr>
          <a:xfrm>
            <a:off x="127000" y="6673334"/>
            <a:ext cx="489236" cy="184666"/>
          </a:xfrm>
          <a:prstGeom prst="rect">
            <a:avLst/>
          </a:prstGeom>
          <a:noFill/>
        </p:spPr>
        <p:txBody>
          <a:bodyPr vert="horz" wrap="none" rtlCol="0">
            <a:spAutoFit/>
          </a:bodyPr>
          <a:lstStyle/>
          <a:p>
            <a:r>
              <a:rPr lang="en-MY" sz="600">
                <a:solidFill>
                  <a:srgbClr val="000000"/>
                </a:solidFill>
                <a:latin typeface="Verdana" panose="020B0604030504040204" pitchFamily="34" charset="0"/>
              </a:rPr>
              <a:t>Internal</a:t>
            </a:r>
          </a:p>
        </p:txBody>
      </p:sp>
    </p:spTree>
    <p:extLst>
      <p:ext uri="{BB962C8B-B14F-4D97-AF65-F5344CB8AC3E}">
        <p14:creationId xmlns:p14="http://schemas.microsoft.com/office/powerpoint/2010/main" val="7368331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jK21JNeR8kqcIj125MTDzQ"/>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5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heme/theme1.xml><?xml version="1.0" encoding="utf-8"?>
<a:theme xmlns:a="http://schemas.openxmlformats.org/drawingml/2006/main" name="PETRONAS">
  <a:themeElements>
    <a:clrScheme name="PETRONAS">
      <a:dk1>
        <a:srgbClr val="000000"/>
      </a:dk1>
      <a:lt1>
        <a:srgbClr val="FFFFFF"/>
      </a:lt1>
      <a:dk2>
        <a:srgbClr val="00B1A9"/>
      </a:dk2>
      <a:lt2>
        <a:srgbClr val="DFDEDE"/>
      </a:lt2>
      <a:accent1>
        <a:srgbClr val="20419A"/>
      </a:accent1>
      <a:accent2>
        <a:srgbClr val="763F98"/>
      </a:accent2>
      <a:accent3>
        <a:srgbClr val="FDB924"/>
      </a:accent3>
      <a:accent4>
        <a:srgbClr val="BFD730"/>
      </a:accent4>
      <a:accent5>
        <a:srgbClr val="20419A"/>
      </a:accent5>
      <a:accent6>
        <a:srgbClr val="763F98"/>
      </a:accent6>
      <a:hlink>
        <a:srgbClr val="20419A"/>
      </a:hlink>
      <a:folHlink>
        <a:srgbClr val="3C383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821_PETRO_PPT_4by3 [Read-Only]" id="{30E64985-7FB2-40C7-B7CE-AD3AAD29D932}" vid="{E23FA934-56B3-466D-BF1A-B75DACADD8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27FF2BC6807A642A62685975BD77D25" ma:contentTypeVersion="15" ma:contentTypeDescription="Create a new document." ma:contentTypeScope="" ma:versionID="565ff6aaa39dd5bdffc84a9e69e089ca">
  <xsd:schema xmlns:xsd="http://www.w3.org/2001/XMLSchema" xmlns:xs="http://www.w3.org/2001/XMLSchema" xmlns:p="http://schemas.microsoft.com/office/2006/metadata/properties" xmlns:ns2="892ba2e2-09a1-4ef5-9dde-ec6a2bc6cd2d" xmlns:ns3="38053f0c-a2b2-4b3e-9b21-6e26a8e91ef1" targetNamespace="http://schemas.microsoft.com/office/2006/metadata/properties" ma:root="true" ma:fieldsID="c3aca50052519fa6beca024cd0c6035c" ns2:_="" ns3:_="">
    <xsd:import namespace="892ba2e2-09a1-4ef5-9dde-ec6a2bc6cd2d"/>
    <xsd:import namespace="38053f0c-a2b2-4b3e-9b21-6e26a8e91ef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2ba2e2-09a1-4ef5-9dde-ec6a2bc6cd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2d644bd-1b20-4c9a-b23a-d9a92b89ba7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053f0c-a2b2-4b3e-9b21-6e26a8e91ef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92ba2e2-09a1-4ef5-9dde-ec6a2bc6cd2d">
      <Terms xmlns="http://schemas.microsoft.com/office/infopath/2007/PartnerControls"/>
    </lcf76f155ced4ddcb4097134ff3c332f>
  </documentManagement>
</p:properties>
</file>

<file path=customXml/item3.xml><?xml version="1.0" encoding="utf-8"?>
<sisl xmlns:xsd="http://www.w3.org/2001/XMLSchema" xmlns:xsi="http://www.w3.org/2001/XMLSchema-instance" xmlns="http://www.boldonjames.com/2008/01/sie/internal/label" sislVersion="0" policy="a894df29-9e07-45ae-95a6-4e7eb881815a" origin="userSelected">
  <element uid="fc6b8280-ed85-41e2-bcb5-17f2674e7dc3" value=""/>
  <element uid="63fe904a-5fdc-4578-a9e9-8bed5f54c116" value=""/>
  <element uid="156167bd-046a-459b-9d5a-a42ee179a501" value=""/>
</sisl>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95D9C8-76DF-4142-AE00-FCCB1982A671}">
  <ds:schemaRefs>
    <ds:schemaRef ds:uri="38053f0c-a2b2-4b3e-9b21-6e26a8e91ef1"/>
    <ds:schemaRef ds:uri="892ba2e2-09a1-4ef5-9dde-ec6a2bc6cd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24793C8-15AE-4812-858C-DBF378E1E32B}">
  <ds:schemaRefs>
    <ds:schemaRef ds:uri="http://schemas.microsoft.com/office/2006/documentManagement/types"/>
    <ds:schemaRef ds:uri="http://schemas.microsoft.com/office/2006/metadata/properties"/>
    <ds:schemaRef ds:uri="892ba2e2-09a1-4ef5-9dde-ec6a2bc6cd2d"/>
    <ds:schemaRef ds:uri="http://www.w3.org/XML/1998/namespace"/>
    <ds:schemaRef ds:uri="http://purl.org/dc/dcmitype/"/>
    <ds:schemaRef ds:uri="http://purl.org/dc/terms/"/>
    <ds:schemaRef ds:uri="http://purl.org/dc/elements/1.1/"/>
    <ds:schemaRef ds:uri="http://schemas.microsoft.com/office/infopath/2007/PartnerControls"/>
    <ds:schemaRef ds:uri="http://schemas.openxmlformats.org/package/2006/metadata/core-properties"/>
    <ds:schemaRef ds:uri="38053f0c-a2b2-4b3e-9b21-6e26a8e91ef1"/>
  </ds:schemaRefs>
</ds:datastoreItem>
</file>

<file path=customXml/itemProps3.xml><?xml version="1.0" encoding="utf-8"?>
<ds:datastoreItem xmlns:ds="http://schemas.openxmlformats.org/officeDocument/2006/customXml" ds:itemID="{376F1F8E-F798-4771-B716-305985456FB0}">
  <ds:schemaRefs>
    <ds:schemaRef ds:uri="http://www.boldonjames.com/2008/01/sie/internal/label"/>
    <ds:schemaRef ds:uri="http://www.w3.org/2001/XMLSchema"/>
  </ds:schemaRefs>
</ds:datastoreItem>
</file>

<file path=customXml/itemProps4.xml><?xml version="1.0" encoding="utf-8"?>
<ds:datastoreItem xmlns:ds="http://schemas.openxmlformats.org/officeDocument/2006/customXml" ds:itemID="{9DDF365B-EC25-4626-93B8-17EE0384E855}">
  <ds:schemaRefs>
    <ds:schemaRef ds:uri="http://schemas.microsoft.com/sharepoint/v3/contenttype/forms"/>
  </ds:schemaRefs>
</ds:datastoreItem>
</file>

<file path=docMetadata/LabelInfo.xml><?xml version="1.0" encoding="utf-8"?>
<clbl:labelList xmlns:clbl="http://schemas.microsoft.com/office/2020/mipLabelMetadata">
  <clbl:label id="{c03ad7b2-93d4-41e9-a098-b1febc82f3d0}" enabled="1" method="Privileged" siteId="{3b2e8941-7948-4131-978a-b2dfc7295091}" removed="0"/>
</clbl:labelList>
</file>

<file path=docProps/app.xml><?xml version="1.0" encoding="utf-8"?>
<Properties xmlns="http://schemas.openxmlformats.org/officeDocument/2006/extended-properties" xmlns:vt="http://schemas.openxmlformats.org/officeDocument/2006/docPropsVTypes">
  <Template>blank</Template>
  <TotalTime>0</TotalTime>
  <Words>3953</Words>
  <Application>Microsoft Office PowerPoint</Application>
  <PresentationFormat>On-screen Show (4:3)</PresentationFormat>
  <Paragraphs>862</Paragraphs>
  <Slides>40</Slides>
  <Notes>29</Notes>
  <HiddenSlides>6</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40</vt:i4>
      </vt:variant>
    </vt:vector>
  </HeadingPairs>
  <TitlesOfParts>
    <vt:vector size="53" baseType="lpstr">
      <vt:lpstr>Aptos</vt:lpstr>
      <vt:lpstr>Aptos Display</vt:lpstr>
      <vt:lpstr>Arial</vt:lpstr>
      <vt:lpstr>Arial Black</vt:lpstr>
      <vt:lpstr>Arial,Sans-Serif</vt:lpstr>
      <vt:lpstr>Calibri</vt:lpstr>
      <vt:lpstr>Museo Sans 300</vt:lpstr>
      <vt:lpstr>Museo Sans 700</vt:lpstr>
      <vt:lpstr>Museo Sans 900</vt:lpstr>
      <vt:lpstr>Verdana</vt:lpstr>
      <vt:lpstr>Wingdings</vt:lpstr>
      <vt:lpstr>PETRONAS</vt:lpstr>
      <vt:lpstr>Office Theme</vt:lpstr>
      <vt:lpstr>Service Proposal for SS &amp; PS only</vt:lpstr>
      <vt:lpstr>PowerPoint Presentation</vt:lpstr>
      <vt:lpstr>1.1 Glossary (1/2)</vt:lpstr>
      <vt:lpstr>1.1 Glossary (2/2)</vt:lpstr>
      <vt:lpstr>PowerPoint Presentation</vt:lpstr>
      <vt:lpstr>PowerPoint Presentation</vt:lpstr>
      <vt:lpstr>1.3 Out of Scope </vt:lpstr>
      <vt:lpstr>PowerPoint Presentation</vt:lpstr>
      <vt:lpstr>PowerPoint Presentation</vt:lpstr>
      <vt:lpstr>Upstream 2026 Managed Service Cost</vt:lpstr>
      <vt:lpstr>PowerPoint Presentation</vt:lpstr>
      <vt:lpstr>PowerPoint Presentation</vt:lpstr>
      <vt:lpstr>PowerPoint Presentation</vt:lpstr>
      <vt:lpstr>2.5 Team Structure</vt:lpstr>
      <vt:lpstr>Upstream Flagship initiatives</vt:lpstr>
      <vt:lpstr>Upstream Non - Flagship initiatives</vt:lpstr>
      <vt:lpstr>PowerPoint Presentation</vt:lpstr>
      <vt:lpstr>PowerPoint Presentation</vt:lpstr>
      <vt:lpstr>Upstream 2027 Managed Service Cost</vt:lpstr>
      <vt:lpstr>Planned New Demands (2027)</vt:lpstr>
      <vt:lpstr>Planned TEV request</vt:lpstr>
      <vt:lpstr>PowerPoint Presentation</vt:lpstr>
      <vt:lpstr>2.2 Services &amp; Deliverables – Product &amp; Services Subscription                                                        </vt:lpstr>
      <vt:lpstr>2.2 Services &amp; Deliverables – Product &amp; Services Subscription                                                        </vt:lpstr>
      <vt:lpstr>2.3 Assumptions</vt:lpstr>
      <vt:lpstr>2.4 Risk and Mitigation</vt:lpstr>
      <vt:lpstr>2.5 Team Structure</vt:lpstr>
      <vt:lpstr>2.6 Roles and Responsibilities  (PETRONAS Digital)</vt:lpstr>
      <vt:lpstr>2.6 Roles and Responsibilities  (PETRONAS Digital)</vt:lpstr>
      <vt:lpstr>2.6 Roles and Responsibilities  (PETRONAS Digital)</vt:lpstr>
      <vt:lpstr>2.6 Roles and Responsibilities  (PETRONAS Digital)</vt:lpstr>
      <vt:lpstr>2.6 Roles and Responsibilities  (PETRONAS Digital)</vt:lpstr>
      <vt:lpstr>2.7 Roles and Responsibilities (Business)</vt:lpstr>
      <vt:lpstr>3.1 Budget</vt:lpstr>
      <vt:lpstr>4.1 Service Proposal Approval</vt:lpstr>
      <vt:lpstr> Appendices</vt:lpstr>
      <vt:lpstr>Details Budget Breakdown</vt:lpstr>
      <vt:lpstr>Details Budget Breakdown</vt:lpstr>
      <vt:lpstr>Billing Information</vt:lpstr>
      <vt:lpstr>Thank you for your passion!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Proposal</dc:title>
  <dc:creator>Loh Chee Heok (DE-PM/DIGITAL)</dc:creator>
  <cp:keywords>P37r0n45DCS_InternalInternal</cp:keywords>
  <cp:lastModifiedBy>M Agos Abul Hasan Ashari</cp:lastModifiedBy>
  <cp:revision>2</cp:revision>
  <dcterms:created xsi:type="dcterms:W3CDTF">2020-11-17T01:51:21Z</dcterms:created>
  <dcterms:modified xsi:type="dcterms:W3CDTF">2026-07-21T02:13:21Z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41995484-0920-4501-a373-8e8d79b647e9</vt:lpwstr>
  </property>
  <property fmtid="{D5CDD505-2E9C-101B-9397-08002B2CF9AE}" pid="3" name="bjSaver">
    <vt:lpwstr>VUnp34st/TebEMZ7h5wd7ithQCskIkr6</vt:lpwstr>
  </property>
  <property fmtid="{D5CDD505-2E9C-101B-9397-08002B2CF9AE}" pid="4" name="ContentTypeId">
    <vt:lpwstr>0x010100527FF2BC6807A642A62685975BD77D25</vt:lpwstr>
  </property>
  <property fmtid="{D5CDD505-2E9C-101B-9397-08002B2CF9AE}" pid="5" name="bjDocumentSecurityLabel">
    <vt:lpwstr>[Internal] </vt:lpwstr>
  </property>
  <property fmtid="{D5CDD505-2E9C-101B-9397-08002B2CF9AE}" pid="6" name="DCSMetadata">
    <vt:lpwstr>P37r0n45DCS_InternalInternal</vt:lpwstr>
  </property>
  <property fmtid="{D5CDD505-2E9C-101B-9397-08002B2CF9AE}" pid="7" name="bjDocumentLabelXML">
    <vt:lpwstr>&lt;?xml version="1.0" encoding="us-ascii"?&gt;&lt;sisl xmlns:xsd="http://www.w3.org/2001/XMLSchema" xmlns:xsi="http://www.w3.org/2001/XMLSchema-instance" sislVersion="0" policy="a894df29-9e07-45ae-95a6-4e7eb881815a" origin="userSelected" xmlns="http://www.boldonj</vt:lpwstr>
  </property>
  <property fmtid="{D5CDD505-2E9C-101B-9397-08002B2CF9AE}" pid="8" name="bjDocumentLabelXML-0">
    <vt:lpwstr>ames.com/2008/01/sie/internal/label"&gt;&lt;element uid="fc6b8280-ed85-41e2-bcb5-17f2674e7dc3" value="" /&gt;&lt;element uid="63fe904a-5fdc-4578-a9e9-8bed5f54c116" value="" /&gt;&lt;element uid="156167bd-046a-459b-9d5a-a42ee179a501" value="" /&gt;&lt;/sisl&gt;</vt:lpwstr>
  </property>
  <property fmtid="{D5CDD505-2E9C-101B-9397-08002B2CF9AE}" pid="9" name="MediaServiceImageTags">
    <vt:lpwstr/>
  </property>
  <property fmtid="{D5CDD505-2E9C-101B-9397-08002B2CF9AE}" pid="10" name="MSIP_Label_4978d09f-c8de-446a-ad17-731bb8b4c23e_Enabled">
    <vt:lpwstr>true</vt:lpwstr>
  </property>
  <property fmtid="{D5CDD505-2E9C-101B-9397-08002B2CF9AE}" pid="11" name="MSIP_Label_4978d09f-c8de-446a-ad17-731bb8b4c23e_SetDate">
    <vt:lpwstr>2024-01-08T01:56:23Z</vt:lpwstr>
  </property>
  <property fmtid="{D5CDD505-2E9C-101B-9397-08002B2CF9AE}" pid="12" name="MSIP_Label_4978d09f-c8de-446a-ad17-731bb8b4c23e_Method">
    <vt:lpwstr>Standard</vt:lpwstr>
  </property>
  <property fmtid="{D5CDD505-2E9C-101B-9397-08002B2CF9AE}" pid="13" name="MSIP_Label_4978d09f-c8de-446a-ad17-731bb8b4c23e_Name">
    <vt:lpwstr>For Internal Distribution Only</vt:lpwstr>
  </property>
  <property fmtid="{D5CDD505-2E9C-101B-9397-08002B2CF9AE}" pid="14" name="MSIP_Label_4978d09f-c8de-446a-ad17-731bb8b4c23e_SiteId">
    <vt:lpwstr>3b2e8941-7948-4131-978a-b2dfc7295091</vt:lpwstr>
  </property>
  <property fmtid="{D5CDD505-2E9C-101B-9397-08002B2CF9AE}" pid="15" name="MSIP_Label_4978d09f-c8de-446a-ad17-731bb8b4c23e_ActionId">
    <vt:lpwstr>dfa5451b-a92c-401f-ac49-e1e0f2b8810d</vt:lpwstr>
  </property>
  <property fmtid="{D5CDD505-2E9C-101B-9397-08002B2CF9AE}" pid="16" name="MSIP_Label_4978d09f-c8de-446a-ad17-731bb8b4c23e_ContentBits">
    <vt:lpwstr>1</vt:lpwstr>
  </property>
  <property fmtid="{D5CDD505-2E9C-101B-9397-08002B2CF9AE}" pid="17" name="ClassificationContentMarkingHeaderLocations">
    <vt:lpwstr>PETRONAS:6\Office Theme:8</vt:lpwstr>
  </property>
  <property fmtid="{D5CDD505-2E9C-101B-9397-08002B2CF9AE}" pid="18" name="ClassificationContentMarkingHeaderText">
    <vt:lpwstr>[Open]</vt:lpwstr>
  </property>
</Properties>
</file>